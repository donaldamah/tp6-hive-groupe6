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6" r:id="rId27"/>
    <p:sldId id="259" r:id="rId5"/>
    <p:sldId id="260" r:id="rId6"/>
    <p:sldId id="261" r:id="rId7"/>
    <p:sldId id="262" r:id="rId8"/>
    <p:sldId id="277" r:id="rId28"/>
    <p:sldId id="263" r:id="rId9"/>
    <p:sldId id="264" r:id="rId10"/>
    <p:sldId id="265" r:id="rId11"/>
    <p:sldId id="266" r:id="rId12"/>
    <p:sldId id="267" r:id="rId13"/>
    <p:sldId id="275" r:id="rId26"/>
    <p:sldId id="268" r:id="rId14"/>
    <p:sldId id="269" r:id="rId15"/>
    <p:sldId id="270" r:id="rId16"/>
    <p:sldId id="271" r:id="rId17"/>
    <p:sldId id="278" r:id="rId29"/>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3092383a-3738-baa0-6f04-2905b9d9a4cb}">
          <p14:sldIdLst>
            <p14:sldId id="256"/>
            <p14:sldId id="257"/>
            <p14:sldId id="258"/>
          </p14:sldIdLst>
        </p14:section>
        <p14:section name="Mise en place" id="{24deb9dd-26f3-c8db-c2a8-f474cd14c85d}">
          <p14:sldIdLst>
            <p14:sldId id="259"/>
            <p14:sldId id="260"/>
            <p14:sldId id="261"/>
            <p14:sldId id="262"/>
          </p14:sldIdLst>
        </p14:section>
        <p14:section name="Le travail" id="{e259dffa-6713-c112-a129-1334175b0e47}">
          <p14:sldIdLst>
            <p14:sldId id="263"/>
            <p14:sldId id="264"/>
            <p14:sldId id="265"/>
            <p14:sldId id="266"/>
            <p14:sldId id="267"/>
          </p14:sldIdLst>
        </p14:section>
        <p14:section name="Les preuves" id="{885502c2-303a-dd52-1ba2-d5ba4a00efc1}">
          <p14:sldIdLst>
            <p14:sldId id="268"/>
            <p14:sldId id="269"/>
            <p14:sldId id="270"/>
            <p14:sldId id="271"/>
          </p14:sldIdLst>
        </p14:section>
        <p14:section name="Clôture" id="{4447c87d-dce7-81c4-619a-d9e578561f5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l'exposé 6, consacré à Hive. Notre rôle dans le projet : transformer des fichiers posés dans HDFS en un entrepôt interrogeable en SQL. Annoncer le plan : où nous sommes dans la chaîne, ce que nous avons construit, ce que nous avons mesuré, et ce que nous transmettons au groupe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mot cumulatif : ce ne sont pas huit TP indépendants mais une seule chaîne. Nous sommes la sixième étape. Et lire la règle du bas : elle explique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à présenter de façon factuelle. Le Groupe 5 a livré : nous avons vérifié son livrable au lieu de le reprendre, comme l'énoncé l'exige. Dire que leur travail n'a pas encore été présenté au jury : nous parlons de concordance, pas de validation. Et préciser que les empreintes MD5 prouvent que les deux chaînes ont travaillé sur des fichiers identiques — sinon la concordance des totaux ne voudrait rien dire.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volumes du même jeu, pour observer le comportement à différentes échelles. Le medium est notre jeu de travail. Mentionner que le montant est recalculé et vérifié — c'est le premier contrôle qualité.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premiers services sont HDFS, les trois suivants Hive. Insister : le metastore ne stocke pas les données, seulement leur description. S'il est perdu, les fichiers restent mais plus aucune table n'existe. Le NOSASL est un point que le prof peut relever — avoir la réponse prête.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séparation en couches n'est pas décorative : raw reste intacte, processed reçoit nos transformations, results porte ce que le Groupe 7 ira chercher. Si on écrivait nos résultats ailleurs, le groupe suivant ne les trouverait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question que le prof pose le plus souvent. Hive ne stocke rien : il décrit des fichiers qui existent déjà. Le schema on read est l'idée centrale — créer une table ne déplace aucun octet.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phrase du bas est celle à faire retenir : créer une table ne lit ni ne copie aucune donnée. Si on a compris ça, on a compris Hive. Toutes nos tables sont EXTERNAL parce que les données sont le bien commun des huit groupes.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contrôle des montants recalcule quantité × prix × (1 − remise) sur les 500 000 lignes : l'écart maximal est de 7 × 10 puissance moins 12, c'est-à-dire l'arrondi machine. Les mêmes contrôles sont rejoués hors de Hive et donnent les mêmes nombres.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valeur de la partition n'est pas stockée dans les fichiers : elle est portée par le nom du dossier. C'est pour ça que l'opération est gratuite en espace. Et personne n'a écrit les 24 noms : Hive les a déduits des dates, c'est le partitionnement dynamique.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critères dans l'ordre : usage, équilibre, nombre. Si le prof insiste, ajouter que le partitionnement par ville aurait en plus été inutile puisque aucune requête du TP ne filtre sur une ville seule.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gain de stockage est le bénéfice le plus sûr d'ORC : il ne dépend d'aucune requête. Garder la nuance pour la diapositive du benchmark — ne pas dire ici qu'ORC est plus rapide.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 nous ne prouvons pas par le chronomètre, qui pourrait refléter un cache, mais par le plan d'exécution que Hive produit avec EXPLAIN. Le plan annonce ce qu'il compte lire avant de le 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distingue un groupe qui a mesuré d'un groupe qui récite. Assumer le résultat : non, ORC n'accélère pas tout. Dire pourquoi : 24 fichiers à ouvrir. Et enchaîner sur le gzip, qui justifie à lui seul la conversion en ORC.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les quatre chiffres clés puis commenter les deux graphiques. Ne pas s'attarder : la diapositive suivante est celle qui compte, car elle explique pourquoi ces résultats ne veulent pas dire ce qu'on croit.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la plus importante de l'exposé. Elle montre qu'on n'a pas seulement exécuté des requêtes : on a vérifié ce que les résultats peuvent dire. Si on ne devait garder qu'une slide en plus du pruning, c'est celle-ci.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chemins indépendants vers les mêmes nombres : Hive, DuckDB, notre référence MapReduce, et la chaîne du Groupe 5 réellement exécutée sous YARN. Les trois premiers sont internes, le quatrième est externe : c'est lui qui a le plus de valeur. Préciser que l'écart est nul, pas seulement sous la tolérance de 0,01 FCFA.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nous ne transmettons pas seulement des fichiers mais un schéma nommé et typé. Et une mise en garde à leur passer : les villes sont sans accents dans les données, tout filtre accentué renverrait zéro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sur les trois enseignements, puis énoncer les limites sans attendre qu'on nous les oppose. La troisième limite a changé : ce n'est plus l'absence de livraison amont, c'est que le travail du Groupe 5 n'a pas encore été validé par le jury. Prolongements si on les demande : ajouter des DataNodes, essayer le bucketing, rejouer la comparaison après la soutenance du Groupe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94360" y="2103120"/>
            <a:ext cx="10972800" cy="1463040"/>
          </a:xfrm>
          <a:prstGeom prst="rect">
            <a:avLst/>
          </a:prstGeom>
          <a:noFill/>
          <a:ln/>
        </p:spPr>
        <p:txBody>
          <a:bodyPr wrap="square" lIns="0" tIns="0" rIns="0" bIns="0" rtlCol="0" anchor="b"/>
          <a:lstStyle/>
          <a:p>
            <a:pPr indent="0" marL="0">
              <a:buNone/>
            </a:pPr>
            <a:endParaRPr lang="en-US" sz="4000" dirty="0"/>
          </a:p>
        </p:txBody>
      </p:sp>
      <p:sp>
        <p:nvSpPr>
          <p:cNvPr id="3" name="Text 1"/>
          <p:cNvSpPr/>
          <p:nvPr/>
        </p:nvSpPr>
        <p:spPr>
          <a:xfrm>
            <a:off x="594360" y="3657600"/>
            <a:ext cx="10972800" cy="2194560"/>
          </a:xfrm>
          <a:prstGeom prst="rect">
            <a:avLst/>
          </a:prstGeom>
          <a:noFill/>
          <a:ln/>
        </p:spPr>
        <p:txBody>
          <a:bodyPr wrap="square" lIns="0" tIns="0" rIns="0" bIns="0" rtlCol="0" anchor="t"/>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94360" y="2743200"/>
            <a:ext cx="10972800" cy="914400"/>
          </a:xfrm>
          <a:prstGeom prst="rect">
            <a:avLst/>
          </a:prstGeom>
          <a:noFill/>
          <a:ln/>
        </p:spPr>
        <p:txBody>
          <a:bodyPr wrap="square" lIns="0" tIns="0" rIns="0" bIns="0" rtlCol="0" anchor="ctr"/>
          <a:lstStyle/>
          <a:p>
            <a:pPr indent="0" marL="0">
              <a:buNone/>
            </a:pPr>
            <a:endParaRPr lang="en-US" sz="3400" dirty="0"/>
          </a:p>
        </p:txBody>
      </p:sp>
      <p:sp>
        <p:nvSpPr>
          <p:cNvPr id="3" name="Text 1"/>
          <p:cNvSpPr/>
          <p:nvPr/>
        </p:nvSpPr>
        <p:spPr>
          <a:xfrm>
            <a:off x="594360" y="3657600"/>
            <a:ext cx="10972800" cy="822960"/>
          </a:xfrm>
          <a:prstGeom prst="rect">
            <a:avLst/>
          </a:prstGeom>
          <a:noFill/>
          <a:ln/>
        </p:spPr>
        <p:txBody>
          <a:bodyPr wrap="square" lIns="0" tIns="0" rIns="0" bIns="0" rtlCol="0" anchor="t"/>
          <a:lstStyle/>
          <a:p>
            <a:pPr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EFF2F7"/>
        </a:solidFill>
      </p:bgPr>
    </p:bg>
    <p:spTree>
      <p:nvGrpSpPr>
        <p:cNvPr id="1" name=""/>
        <p:cNvGrpSpPr/>
        <p:nvPr/>
      </p:nvGrpSpPr>
      <p:grpSpPr>
        <a:xfrm>
          <a:off x="0" y="0"/>
          <a:ext cx="0" cy="0"/>
          <a:chOff x="0" y="0"/>
          <a:chExt cx="0" cy="0"/>
        </a:xfrm>
      </p:grpSpPr>
      <p:sp>
        <p:nvSpPr>
          <p:cNvPr id="2" name="Text 0"/>
          <p:cNvSpPr/>
          <p:nvPr/>
        </p:nvSpPr>
        <p:spPr>
          <a:xfrm>
            <a:off x="594360" y="411480"/>
            <a:ext cx="10972800" cy="731520"/>
          </a:xfrm>
          <a:prstGeom prst="rect">
            <a:avLst/>
          </a:prstGeom>
          <a:noFill/>
          <a:ln/>
        </p:spPr>
        <p:txBody>
          <a:bodyPr wrap="square" lIns="0" tIns="0" rIns="0" bIns="0" rtlCol="0" anchor="ctr"/>
          <a:lstStyle/>
          <a:p>
            <a:pPr algn="l" indent="0" marL="0">
              <a:buNone/>
            </a:pPr>
            <a:endParaRPr lang="en-US" sz="2800" dirty="0"/>
          </a:p>
        </p:txBody>
      </p:sp>
      <p:sp>
        <p:nvSpPr>
          <p:cNvPr id="3" name="Text 1"/>
          <p:cNvSpPr txBox="1"/>
          <p:nvPr/>
        </p:nvSpPr>
        <p:spPr>
          <a:xfrm>
            <a:off x="594360" y="6446520"/>
            <a:ext cx="6400800" cy="274320"/>
          </a:xfrm>
          <a:prstGeom prst="rect">
            <a:avLst/>
          </a:prstGeom>
          <a:noFill/>
          <a:ln/>
        </p:spPr>
        <p:txBody>
          <a:bodyPr wrap="square" lIns="0" tIns="0" rIns="0" bIns="0" rtlCol="0" anchor="ctr"/>
          <a:lstStyle/>
          <a:p>
            <a:pPr algn="l" indent="0" marL="0">
              <a:buNone/>
            </a:pPr>
            <a:r>
              <a:rPr lang="en-US" sz="1000" dirty="0">
                <a:solidFill>
                  <a:srgbClr val="52514E"/>
                </a:solidFill>
              </a:rPr>
              <a:t>Groupe 6 — Hive et Data Warehouse distribué</a:t>
            </a:r>
            <a:endParaRPr lang="en-US" sz="1000" dirty="0"/>
          </a:p>
        </p:txBody>
      </p:sp>
      <p:sp>
        <p:nvSpPr>
          <p:cNvPr id="4" name="Text 2"/>
          <p:cNvSpPr txBox="1"/>
          <p:nvPr/>
        </p:nvSpPr>
        <p:spPr>
          <a:xfrm>
            <a:off x="6995160" y="6446520"/>
            <a:ext cx="4572000" cy="274320"/>
          </a:xfrm>
          <a:prstGeom prst="rect">
            <a:avLst/>
          </a:prstGeom>
          <a:noFill/>
          <a:ln/>
        </p:spPr>
        <p:txBody>
          <a:bodyPr wrap="square" lIns="0" tIns="0" rIns="0" bIns="0" rtlCol="0" anchor="ctr"/>
          <a:lstStyle/>
          <a:p>
            <a:pPr algn="r" indent="0" marL="0">
              <a:buNone/>
            </a:pPr>
            <a:r>
              <a:rPr lang="en-US" sz="1000" dirty="0">
                <a:solidFill>
                  <a:srgbClr val="52514E"/>
                </a:solidFill>
              </a:rPr>
              <a:t>UCAO-UUT · M1 Big Data · 2025-2026</a:t>
            </a:r>
            <a:endParaRPr lang="en-US" sz="10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NAL">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94360" y="548640"/>
            <a:ext cx="10972800" cy="82296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1600200"/>
            <a:ext cx="3657600" cy="365760"/>
          </a:xfrm>
          <a:prstGeom prst="rect">
            <a:avLst/>
          </a:prstGeom>
          <a:noFill/>
          <a:ln/>
        </p:spPr>
        <p:txBody>
          <a:bodyPr wrap="square" lIns="0" tIns="0" rIns="0" bIns="0" rtlCol="0" anchor="ctr"/>
          <a:lstStyle/>
          <a:p>
            <a:pPr indent="0" marL="0">
              <a:buNone/>
            </a:pPr>
            <a:r>
              <a:rPr lang="en-US" sz="1600" b="1" spc="200" kern="0" dirty="0">
                <a:solidFill>
                  <a:srgbClr val="CADCFC"/>
                </a:solidFill>
              </a:rPr>
              <a:t>Exposé 6</a:t>
            </a:r>
            <a:endParaRPr lang="en-US" sz="1600" dirty="0"/>
          </a:p>
        </p:txBody>
      </p:sp>
      <p:sp>
        <p:nvSpPr>
          <p:cNvPr id="3" name="Text 1"/>
          <p:cNvSpPr/>
          <p:nvPr>
            <p:ph hasCustomPrompt="1"/>
          </p:nvPr>
        </p:nvSpPr>
        <p:spPr>
          <a:xfrm>
            <a:off x="594360" y="2103120"/>
            <a:ext cx="10972800" cy="146304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Hive et Data Warehouse distribué</a:t>
            </a:r>
            <a:endParaRPr lang="en-US" sz="4000" dirty="0"/>
          </a:p>
        </p:txBody>
      </p:sp>
      <p:sp>
        <p:nvSpPr>
          <p:cNvPr id="4" name="Text 2"/>
          <p:cNvSpPr/>
          <p:nvPr>
            <p:ph hasCustomPrompt="1"/>
          </p:nvPr>
        </p:nvSpPr>
        <p:spPr>
          <a:xfrm>
            <a:off x="594360" y="3657600"/>
            <a:ext cx="10972800" cy="2194560"/>
          </a:xfrm>
          <a:prstGeom prst="rect">
            <a:avLst/>
          </a:prstGeom>
          <a:noFill/>
          <a:ln/>
        </p:spPr>
        <p:txBody>
          <a:bodyPr wrap="square" lIns="0" tIns="0" rIns="0" bIns="0" rtlCol="0" anchor="t"/>
          <a:lstStyle/>
          <a:p>
            <a:pPr indent="0" marL="0">
              <a:buNone/>
            </a:pPr>
            <a:r>
              <a:rPr lang="en-US" sz="1700" dirty="0">
                <a:solidFill>
                  <a:srgbClr val="FFFFFF"/>
                </a:solidFill>
              </a:rPr>
              <a:t>Construction d'une couche analytique SQL au-dessus d'un Data Lake HDFS</a:t>
            </a:r>
            <a:endParaRPr lang="en-US" sz="1600" dirty="0"/>
          </a:p>
          <a:p>
            <a:pPr indent="0" marL="0">
              <a:buNone/>
            </a:pPr>
            <a:endParaRPr lang="en-US" sz="1600" dirty="0"/>
          </a:p>
          <a:p>
            <a:pPr indent="0" marL="0">
              <a:buNone/>
            </a:pPr>
            <a:r>
              <a:rPr lang="en-US" sz="1600" dirty="0">
                <a:solidFill>
                  <a:srgbClr val="CADCFC"/>
                </a:solidFill>
              </a:rPr>
              <a:t>AMAH-TCHOUTCHOUI Ékué Donald · FIOKLOU Donia · MINGANE Gracia · MOUN-RE Maxime</a:t>
            </a:r>
            <a:endParaRPr lang="en-US" sz="1600" dirty="0"/>
          </a:p>
          <a:p>
            <a:pPr indent="0" marL="0">
              <a:buNone/>
            </a:pPr>
            <a:r>
              <a:rPr lang="en-US" sz="1600" dirty="0">
                <a:solidFill>
                  <a:srgbClr val="CADCFC"/>
                </a:solidFill>
              </a:rPr>
              <a:t>Sous la direction du Dr. Sena APEKE</a:t>
            </a:r>
            <a:endParaRPr lang="en-US" sz="1600" dirty="0"/>
          </a:p>
          <a:p>
            <a:pPr indent="0" marL="0">
              <a:buNone/>
            </a:pPr>
            <a:r>
              <a:rPr lang="en-US" sz="1600" dirty="0">
                <a:solidFill>
                  <a:srgbClr val="CADCFC"/>
                </a:solidFill>
              </a:rPr>
              <a:t>M1 Big Data · UCAO-UUT · 2025-2026</a:t>
            </a:r>
            <a:endParaRPr lang="en-US" sz="160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Un seul projet, huit étapes</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Le travail est cumulatif : chaque groupe reprend le livrable du précédent.</a:t>
            </a:r>
            <a:endParaRPr lang="en-US" sz="1500" dirty="0"/>
          </a:p>
        </p:txBody>
      </p:sp>
      <p:sp>
        <p:nvSpPr>
          <p:cNvPr id="4" name="carte-1"/>
          <p:cNvSpPr/>
          <p:nvPr/>
        </p:nvSpPr>
        <p:spPr>
          <a:xfrm>
            <a:off x="594360" y="1783080"/>
            <a:ext cx="1261872" cy="1417320"/>
          </a:xfrm>
          <a:prstGeom prst="roundRect">
            <a:avLst>
              <a:gd name="adj" fmla="val 7246"/>
            </a:avLst>
          </a:prstGeom>
          <a:solidFill>
            <a:srgbClr val="FFFFFF"/>
          </a:solidFill>
          <a:ln w="12700">
            <a:solidFill>
              <a:srgbClr val="E2E5EA"/>
            </a:solidFill>
            <a:prstDash val="solid"/>
          </a:ln>
        </p:spPr>
      </p:sp>
      <p:sp>
        <p:nvSpPr>
          <p:cNvPr id="5" name="n-2"/>
          <p:cNvSpPr txBox="1"/>
          <p:nvPr/>
        </p:nvSpPr>
        <p:spPr>
          <a:xfrm>
            <a:off x="594360"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1</a:t>
            </a:r>
            <a:endParaRPr lang="en-US" sz="1400" dirty="0"/>
          </a:p>
        </p:txBody>
      </p:sp>
      <p:sp>
        <p:nvSpPr>
          <p:cNvPr id="6" name="t-3"/>
          <p:cNvSpPr txBox="1"/>
          <p:nvPr/>
        </p:nvSpPr>
        <p:spPr>
          <a:xfrm>
            <a:off x="649224"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Fondamentaux</a:t>
            </a:r>
            <a:endParaRPr lang="en-US" sz="1350" dirty="0"/>
          </a:p>
        </p:txBody>
      </p:sp>
      <p:sp>
        <p:nvSpPr>
          <p:cNvPr id="7" name="s-4"/>
          <p:cNvSpPr txBox="1"/>
          <p:nvPr/>
        </p:nvSpPr>
        <p:spPr>
          <a:xfrm>
            <a:off x="649224"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Python, Pandas</a:t>
            </a:r>
            <a:endParaRPr lang="en-US" sz="1150" dirty="0"/>
          </a:p>
        </p:txBody>
      </p:sp>
      <p:sp>
        <p:nvSpPr>
          <p:cNvPr id="8" name="fl-5"/>
          <p:cNvSpPr txBox="1"/>
          <p:nvPr/>
        </p:nvSpPr>
        <p:spPr>
          <a:xfrm>
            <a:off x="1856232"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9" name="carte-6"/>
          <p:cNvSpPr/>
          <p:nvPr/>
        </p:nvSpPr>
        <p:spPr>
          <a:xfrm>
            <a:off x="1981635" y="1783080"/>
            <a:ext cx="1261872" cy="1417320"/>
          </a:xfrm>
          <a:prstGeom prst="roundRect">
            <a:avLst>
              <a:gd name="adj" fmla="val 7246"/>
            </a:avLst>
          </a:prstGeom>
          <a:solidFill>
            <a:srgbClr val="FFFFFF"/>
          </a:solidFill>
          <a:ln w="12700">
            <a:solidFill>
              <a:srgbClr val="E2E5EA"/>
            </a:solidFill>
            <a:prstDash val="solid"/>
          </a:ln>
        </p:spPr>
      </p:sp>
      <p:sp>
        <p:nvSpPr>
          <p:cNvPr id="10" name="n-7"/>
          <p:cNvSpPr txBox="1"/>
          <p:nvPr/>
        </p:nvSpPr>
        <p:spPr>
          <a:xfrm>
            <a:off x="1981635"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2</a:t>
            </a:r>
            <a:endParaRPr lang="en-US" sz="1400" dirty="0"/>
          </a:p>
        </p:txBody>
      </p:sp>
      <p:sp>
        <p:nvSpPr>
          <p:cNvPr id="11" name="t-8"/>
          <p:cNvSpPr txBox="1"/>
          <p:nvPr/>
        </p:nvSpPr>
        <p:spPr>
          <a:xfrm>
            <a:off x="2036499"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HDFS</a:t>
            </a:r>
            <a:endParaRPr lang="en-US" sz="1350" dirty="0"/>
          </a:p>
        </p:txBody>
      </p:sp>
      <p:sp>
        <p:nvSpPr>
          <p:cNvPr id="12" name="s-9"/>
          <p:cNvSpPr txBox="1"/>
          <p:nvPr/>
        </p:nvSpPr>
        <p:spPr>
          <a:xfrm>
            <a:off x="2036499"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Data Lake</a:t>
            </a:r>
            <a:endParaRPr lang="en-US" sz="1150" dirty="0"/>
          </a:p>
        </p:txBody>
      </p:sp>
      <p:sp>
        <p:nvSpPr>
          <p:cNvPr id="13" name="fl-10"/>
          <p:cNvSpPr txBox="1"/>
          <p:nvPr/>
        </p:nvSpPr>
        <p:spPr>
          <a:xfrm>
            <a:off x="3243507"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14" name="carte-11"/>
          <p:cNvSpPr/>
          <p:nvPr/>
        </p:nvSpPr>
        <p:spPr>
          <a:xfrm>
            <a:off x="3368911" y="1783080"/>
            <a:ext cx="1261872" cy="1417320"/>
          </a:xfrm>
          <a:prstGeom prst="roundRect">
            <a:avLst>
              <a:gd name="adj" fmla="val 7246"/>
            </a:avLst>
          </a:prstGeom>
          <a:solidFill>
            <a:srgbClr val="FFFFFF"/>
          </a:solidFill>
          <a:ln w="12700">
            <a:solidFill>
              <a:srgbClr val="E2E5EA"/>
            </a:solidFill>
            <a:prstDash val="solid"/>
          </a:ln>
        </p:spPr>
      </p:sp>
      <p:sp>
        <p:nvSpPr>
          <p:cNvPr id="15" name="n-12"/>
          <p:cNvSpPr txBox="1"/>
          <p:nvPr/>
        </p:nvSpPr>
        <p:spPr>
          <a:xfrm>
            <a:off x="3368911"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3</a:t>
            </a:r>
            <a:endParaRPr lang="en-US" sz="1400" dirty="0"/>
          </a:p>
        </p:txBody>
      </p:sp>
      <p:sp>
        <p:nvSpPr>
          <p:cNvPr id="16" name="t-13"/>
          <p:cNvSpPr txBox="1"/>
          <p:nvPr/>
        </p:nvSpPr>
        <p:spPr>
          <a:xfrm>
            <a:off x="3423775"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MapReduce</a:t>
            </a:r>
            <a:endParaRPr lang="en-US" sz="1350" dirty="0"/>
          </a:p>
        </p:txBody>
      </p:sp>
      <p:sp>
        <p:nvSpPr>
          <p:cNvPr id="17" name="s-14"/>
          <p:cNvSpPr txBox="1"/>
          <p:nvPr/>
        </p:nvSpPr>
        <p:spPr>
          <a:xfrm>
            <a:off x="3423775"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conception</a:t>
            </a:r>
            <a:endParaRPr lang="en-US" sz="1150" dirty="0"/>
          </a:p>
        </p:txBody>
      </p:sp>
      <p:sp>
        <p:nvSpPr>
          <p:cNvPr id="18" name="fl-15"/>
          <p:cNvSpPr txBox="1"/>
          <p:nvPr/>
        </p:nvSpPr>
        <p:spPr>
          <a:xfrm>
            <a:off x="4630783"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19" name="carte-16"/>
          <p:cNvSpPr/>
          <p:nvPr/>
        </p:nvSpPr>
        <p:spPr>
          <a:xfrm>
            <a:off x="4756186" y="1783080"/>
            <a:ext cx="1261872" cy="1417320"/>
          </a:xfrm>
          <a:prstGeom prst="roundRect">
            <a:avLst>
              <a:gd name="adj" fmla="val 7246"/>
            </a:avLst>
          </a:prstGeom>
          <a:solidFill>
            <a:srgbClr val="FFFFFF"/>
          </a:solidFill>
          <a:ln w="12700">
            <a:solidFill>
              <a:srgbClr val="E2E5EA"/>
            </a:solidFill>
            <a:prstDash val="solid"/>
          </a:ln>
        </p:spPr>
      </p:sp>
      <p:sp>
        <p:nvSpPr>
          <p:cNvPr id="20" name="n-17"/>
          <p:cNvSpPr txBox="1"/>
          <p:nvPr/>
        </p:nvSpPr>
        <p:spPr>
          <a:xfrm>
            <a:off x="4756186"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4</a:t>
            </a:r>
            <a:endParaRPr lang="en-US" sz="1400" dirty="0"/>
          </a:p>
        </p:txBody>
      </p:sp>
      <p:sp>
        <p:nvSpPr>
          <p:cNvPr id="21" name="t-18"/>
          <p:cNvSpPr txBox="1"/>
          <p:nvPr/>
        </p:nvSpPr>
        <p:spPr>
          <a:xfrm>
            <a:off x="4811050"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Streaming</a:t>
            </a:r>
            <a:endParaRPr lang="en-US" sz="1350" dirty="0"/>
          </a:p>
        </p:txBody>
      </p:sp>
      <p:sp>
        <p:nvSpPr>
          <p:cNvPr id="22" name="s-19"/>
          <p:cNvSpPr txBox="1"/>
          <p:nvPr/>
        </p:nvSpPr>
        <p:spPr>
          <a:xfrm>
            <a:off x="4811050"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mapper, reducer</a:t>
            </a:r>
            <a:endParaRPr lang="en-US" sz="1150" dirty="0"/>
          </a:p>
        </p:txBody>
      </p:sp>
      <p:sp>
        <p:nvSpPr>
          <p:cNvPr id="23" name="fl-20"/>
          <p:cNvSpPr txBox="1"/>
          <p:nvPr/>
        </p:nvSpPr>
        <p:spPr>
          <a:xfrm>
            <a:off x="6018058"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24" name="carte-21"/>
          <p:cNvSpPr/>
          <p:nvPr/>
        </p:nvSpPr>
        <p:spPr>
          <a:xfrm>
            <a:off x="6143462" y="1783080"/>
            <a:ext cx="1261872" cy="1417320"/>
          </a:xfrm>
          <a:prstGeom prst="roundRect">
            <a:avLst>
              <a:gd name="adj" fmla="val 7246"/>
            </a:avLst>
          </a:prstGeom>
          <a:solidFill>
            <a:srgbClr val="FFFFFF"/>
          </a:solidFill>
          <a:ln w="12700">
            <a:solidFill>
              <a:srgbClr val="E2E5EA"/>
            </a:solidFill>
            <a:prstDash val="solid"/>
          </a:ln>
        </p:spPr>
      </p:sp>
      <p:sp>
        <p:nvSpPr>
          <p:cNvPr id="25" name="n-22"/>
          <p:cNvSpPr txBox="1"/>
          <p:nvPr/>
        </p:nvSpPr>
        <p:spPr>
          <a:xfrm>
            <a:off x="6143462"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5</a:t>
            </a:r>
            <a:endParaRPr lang="en-US" sz="1400" dirty="0"/>
          </a:p>
        </p:txBody>
      </p:sp>
      <p:sp>
        <p:nvSpPr>
          <p:cNvPr id="26" name="t-23"/>
          <p:cNvSpPr txBox="1"/>
          <p:nvPr/>
        </p:nvSpPr>
        <p:spPr>
          <a:xfrm>
            <a:off x="6198326"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YARN</a:t>
            </a:r>
            <a:endParaRPr lang="en-US" sz="1350" dirty="0"/>
          </a:p>
        </p:txBody>
      </p:sp>
      <p:sp>
        <p:nvSpPr>
          <p:cNvPr id="27" name="s-24"/>
          <p:cNvSpPr txBox="1"/>
          <p:nvPr/>
        </p:nvSpPr>
        <p:spPr>
          <a:xfrm>
            <a:off x="6198326"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performances</a:t>
            </a:r>
            <a:endParaRPr lang="en-US" sz="1150" dirty="0"/>
          </a:p>
        </p:txBody>
      </p:sp>
      <p:sp>
        <p:nvSpPr>
          <p:cNvPr id="28" name="fl-25"/>
          <p:cNvSpPr txBox="1"/>
          <p:nvPr/>
        </p:nvSpPr>
        <p:spPr>
          <a:xfrm>
            <a:off x="7405334"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29" name="carte-26"/>
          <p:cNvSpPr/>
          <p:nvPr/>
        </p:nvSpPr>
        <p:spPr>
          <a:xfrm>
            <a:off x="7530737" y="1783080"/>
            <a:ext cx="1261872" cy="1417320"/>
          </a:xfrm>
          <a:prstGeom prst="roundRect">
            <a:avLst>
              <a:gd name="adj" fmla="val 7246"/>
            </a:avLst>
          </a:prstGeom>
          <a:solidFill>
            <a:srgbClr val="2A78D6"/>
          </a:solidFill>
          <a:ln w="12700">
            <a:solidFill>
              <a:srgbClr val="2A78D6"/>
            </a:solidFill>
            <a:prstDash val="solid"/>
          </a:ln>
        </p:spPr>
      </p:sp>
      <p:sp>
        <p:nvSpPr>
          <p:cNvPr id="30" name="n-27"/>
          <p:cNvSpPr txBox="1"/>
          <p:nvPr/>
        </p:nvSpPr>
        <p:spPr>
          <a:xfrm>
            <a:off x="7530737" y="1901952"/>
            <a:ext cx="1261872" cy="32004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28"/>
          <p:cNvSpPr txBox="1"/>
          <p:nvPr/>
        </p:nvSpPr>
        <p:spPr>
          <a:xfrm>
            <a:off x="7585601" y="2240280"/>
            <a:ext cx="1152144" cy="502920"/>
          </a:xfrm>
          <a:prstGeom prst="rect">
            <a:avLst/>
          </a:prstGeom>
          <a:noFill/>
          <a:ln/>
        </p:spPr>
        <p:txBody>
          <a:bodyPr wrap="square" lIns="0" tIns="0" rIns="0" bIns="0" rtlCol="0" anchor="t"/>
          <a:lstStyle/>
          <a:p>
            <a:pPr algn="ctr" indent="0" marL="0">
              <a:buNone/>
            </a:pPr>
            <a:r>
              <a:rPr lang="en-US" sz="1350" b="1" dirty="0">
                <a:solidFill>
                  <a:srgbClr val="FFFFFF"/>
                </a:solidFill>
              </a:rPr>
              <a:t>Hive</a:t>
            </a:r>
            <a:endParaRPr lang="en-US" sz="1350" dirty="0"/>
          </a:p>
        </p:txBody>
      </p:sp>
      <p:sp>
        <p:nvSpPr>
          <p:cNvPr id="32" name="s-29"/>
          <p:cNvSpPr txBox="1"/>
          <p:nvPr/>
        </p:nvSpPr>
        <p:spPr>
          <a:xfrm>
            <a:off x="7585601" y="2743200"/>
            <a:ext cx="1152144" cy="384048"/>
          </a:xfrm>
          <a:prstGeom prst="rect">
            <a:avLst/>
          </a:prstGeom>
          <a:noFill/>
          <a:ln/>
        </p:spPr>
        <p:txBody>
          <a:bodyPr wrap="square" lIns="0" tIns="0" rIns="0" bIns="0" rtlCol="0" anchor="t"/>
          <a:lstStyle/>
          <a:p>
            <a:pPr algn="ctr" indent="0" marL="0">
              <a:buNone/>
            </a:pPr>
            <a:r>
              <a:rPr lang="en-US" sz="1150" dirty="0">
                <a:solidFill>
                  <a:srgbClr val="FFFFFF"/>
                </a:solidFill>
              </a:rPr>
              <a:t>entrepôt SQL</a:t>
            </a:r>
            <a:endParaRPr lang="en-US" sz="1150" dirty="0"/>
          </a:p>
        </p:txBody>
      </p:sp>
      <p:sp>
        <p:nvSpPr>
          <p:cNvPr id="33" name="fl-30"/>
          <p:cNvSpPr txBox="1"/>
          <p:nvPr/>
        </p:nvSpPr>
        <p:spPr>
          <a:xfrm>
            <a:off x="8792609"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34" name="carte-31"/>
          <p:cNvSpPr/>
          <p:nvPr/>
        </p:nvSpPr>
        <p:spPr>
          <a:xfrm>
            <a:off x="8918013" y="1783080"/>
            <a:ext cx="1261872" cy="1417320"/>
          </a:xfrm>
          <a:prstGeom prst="roundRect">
            <a:avLst>
              <a:gd name="adj" fmla="val 7246"/>
            </a:avLst>
          </a:prstGeom>
          <a:solidFill>
            <a:srgbClr val="FFFFFF"/>
          </a:solidFill>
          <a:ln w="12700">
            <a:solidFill>
              <a:srgbClr val="E2E5EA"/>
            </a:solidFill>
            <a:prstDash val="solid"/>
          </a:ln>
        </p:spPr>
      </p:sp>
      <p:sp>
        <p:nvSpPr>
          <p:cNvPr id="35" name="n-32"/>
          <p:cNvSpPr txBox="1"/>
          <p:nvPr/>
        </p:nvSpPr>
        <p:spPr>
          <a:xfrm>
            <a:off x="8918013"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7</a:t>
            </a:r>
            <a:endParaRPr lang="en-US" sz="1400" dirty="0"/>
          </a:p>
        </p:txBody>
      </p:sp>
      <p:sp>
        <p:nvSpPr>
          <p:cNvPr id="36" name="t-33"/>
          <p:cNvSpPr txBox="1"/>
          <p:nvPr/>
        </p:nvSpPr>
        <p:spPr>
          <a:xfrm>
            <a:off x="8972877"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Spark</a:t>
            </a:r>
            <a:endParaRPr lang="en-US" sz="1350" dirty="0"/>
          </a:p>
        </p:txBody>
      </p:sp>
      <p:sp>
        <p:nvSpPr>
          <p:cNvPr id="37" name="s-34"/>
          <p:cNvSpPr txBox="1"/>
          <p:nvPr/>
        </p:nvSpPr>
        <p:spPr>
          <a:xfrm>
            <a:off x="8972877"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PySpark</a:t>
            </a:r>
            <a:endParaRPr lang="en-US" sz="1150" dirty="0"/>
          </a:p>
        </p:txBody>
      </p:sp>
      <p:sp>
        <p:nvSpPr>
          <p:cNvPr id="38" name="fl-35"/>
          <p:cNvSpPr txBox="1"/>
          <p:nvPr/>
        </p:nvSpPr>
        <p:spPr>
          <a:xfrm>
            <a:off x="10179885" y="2240280"/>
            <a:ext cx="125403" cy="365760"/>
          </a:xfrm>
          <a:prstGeom prst="rect">
            <a:avLst/>
          </a:prstGeom>
          <a:noFill/>
          <a:ln/>
        </p:spPr>
        <p:txBody>
          <a:bodyPr wrap="square" lIns="0" tIns="0" rIns="0" bIns="0" rtlCol="0" anchor="ctr"/>
          <a:lstStyle/>
          <a:p>
            <a:pPr algn="ctr" indent="0" marL="0">
              <a:buNone/>
            </a:pPr>
            <a:r>
              <a:rPr lang="en-US" sz="1800" dirty="0">
                <a:solidFill>
                  <a:srgbClr val="353430"/>
                </a:solidFill>
              </a:rPr>
              <a:t>›</a:t>
            </a:r>
            <a:endParaRPr lang="en-US" sz="1800" dirty="0"/>
          </a:p>
        </p:txBody>
      </p:sp>
      <p:sp>
        <p:nvSpPr>
          <p:cNvPr id="39" name="carte-36"/>
          <p:cNvSpPr/>
          <p:nvPr/>
        </p:nvSpPr>
        <p:spPr>
          <a:xfrm>
            <a:off x="10305288" y="1783080"/>
            <a:ext cx="1261872" cy="1417320"/>
          </a:xfrm>
          <a:prstGeom prst="roundRect">
            <a:avLst>
              <a:gd name="adj" fmla="val 7246"/>
            </a:avLst>
          </a:prstGeom>
          <a:solidFill>
            <a:srgbClr val="FFFFFF"/>
          </a:solidFill>
          <a:ln w="12700">
            <a:solidFill>
              <a:srgbClr val="E2E5EA"/>
            </a:solidFill>
            <a:prstDash val="solid"/>
          </a:ln>
        </p:spPr>
      </p:sp>
      <p:sp>
        <p:nvSpPr>
          <p:cNvPr id="40" name="n-37"/>
          <p:cNvSpPr txBox="1"/>
          <p:nvPr/>
        </p:nvSpPr>
        <p:spPr>
          <a:xfrm>
            <a:off x="10305288" y="1901952"/>
            <a:ext cx="1261872" cy="320040"/>
          </a:xfrm>
          <a:prstGeom prst="rect">
            <a:avLst/>
          </a:prstGeom>
          <a:noFill/>
          <a:ln/>
        </p:spPr>
        <p:txBody>
          <a:bodyPr wrap="square" lIns="0" tIns="0" rIns="0" bIns="0" rtlCol="0" anchor="ctr"/>
          <a:lstStyle/>
          <a:p>
            <a:pPr algn="ctr" indent="0" marL="0">
              <a:buNone/>
            </a:pPr>
            <a:r>
              <a:rPr lang="en-US" sz="1400" b="1" dirty="0">
                <a:solidFill>
                  <a:srgbClr val="353430"/>
                </a:solidFill>
              </a:rPr>
              <a:t>8</a:t>
            </a:r>
            <a:endParaRPr lang="en-US" sz="1400" dirty="0"/>
          </a:p>
        </p:txBody>
      </p:sp>
      <p:sp>
        <p:nvSpPr>
          <p:cNvPr id="41" name="t-38"/>
          <p:cNvSpPr txBox="1"/>
          <p:nvPr/>
        </p:nvSpPr>
        <p:spPr>
          <a:xfrm>
            <a:off x="10360152" y="2240280"/>
            <a:ext cx="1152144" cy="502920"/>
          </a:xfrm>
          <a:prstGeom prst="rect">
            <a:avLst/>
          </a:prstGeom>
          <a:noFill/>
          <a:ln/>
        </p:spPr>
        <p:txBody>
          <a:bodyPr wrap="square" lIns="0" tIns="0" rIns="0" bIns="0" rtlCol="0" anchor="t"/>
          <a:lstStyle/>
          <a:p>
            <a:pPr algn="ctr" indent="0" marL="0">
              <a:buNone/>
            </a:pPr>
            <a:r>
              <a:rPr lang="en-US" sz="1350" b="1" dirty="0">
                <a:solidFill>
                  <a:srgbClr val="1E2761"/>
                </a:solidFill>
              </a:rPr>
              <a:t>Machine Learning</a:t>
            </a:r>
            <a:endParaRPr lang="en-US" sz="1350" dirty="0"/>
          </a:p>
        </p:txBody>
      </p:sp>
      <p:sp>
        <p:nvSpPr>
          <p:cNvPr id="42" name="s-39"/>
          <p:cNvSpPr txBox="1"/>
          <p:nvPr/>
        </p:nvSpPr>
        <p:spPr>
          <a:xfrm>
            <a:off x="10360152" y="2743200"/>
            <a:ext cx="1152144" cy="384048"/>
          </a:xfrm>
          <a:prstGeom prst="rect">
            <a:avLst/>
          </a:prstGeom>
          <a:noFill/>
          <a:ln/>
        </p:spPr>
        <p:txBody>
          <a:bodyPr wrap="square" lIns="0" tIns="0" rIns="0" bIns="0" rtlCol="0" anchor="t"/>
          <a:lstStyle/>
          <a:p>
            <a:pPr algn="ctr" indent="0" marL="0">
              <a:buNone/>
            </a:pPr>
            <a:r>
              <a:rPr lang="en-US" sz="1150" dirty="0">
                <a:solidFill>
                  <a:srgbClr val="353430"/>
                </a:solidFill>
              </a:rPr>
              <a:t>régression</a:t>
            </a:r>
            <a:endParaRPr lang="en-US" sz="1150" dirty="0"/>
          </a:p>
        </p:txBody>
      </p:sp>
      <p:sp>
        <p:nvSpPr>
          <p:cNvPr id="43" name="carte-40"/>
          <p:cNvSpPr/>
          <p:nvPr/>
        </p:nvSpPr>
        <p:spPr>
          <a:xfrm>
            <a:off x="594360" y="3657600"/>
            <a:ext cx="10972800" cy="1371600"/>
          </a:xfrm>
          <a:prstGeom prst="roundRect">
            <a:avLst>
              <a:gd name="adj" fmla="val 6667"/>
            </a:avLst>
          </a:prstGeom>
          <a:solidFill>
            <a:srgbClr val="FFFFFF"/>
          </a:solidFill>
          <a:ln w="12700">
            <a:solidFill>
              <a:srgbClr val="FFFFFF"/>
            </a:solidFill>
            <a:prstDash val="solid"/>
          </a:ln>
        </p:spPr>
      </p:sp>
      <p:sp>
        <p:nvSpPr>
          <p:cNvPr id="44" name="Text 42"/>
          <p:cNvSpPr txBox="1"/>
          <p:nvPr/>
        </p:nvSpPr>
        <p:spPr>
          <a:xfrm>
            <a:off x="868680" y="3840480"/>
            <a:ext cx="10424160" cy="1005840"/>
          </a:xfrm>
          <a:prstGeom prst="rect">
            <a:avLst/>
          </a:prstGeom>
          <a:noFill/>
          <a:ln/>
        </p:spPr>
        <p:txBody>
          <a:bodyPr wrap="square" lIns="0" tIns="0" rIns="0" bIns="0" rtlCol="0" anchor="ctr"/>
          <a:lstStyle/>
          <a:p>
            <a:pPr indent="0" marL="0">
              <a:lnSpc>
                <a:spcPct val="120000"/>
              </a:lnSpc>
              <a:buNone/>
            </a:pPr>
            <a:r>
              <a:rPr lang="en-US" sz="1500" b="1" dirty="0">
                <a:solidFill>
                  <a:srgbClr val="1E2761"/>
                </a:solidFill>
              </a:rPr>
              <a:t>Notre place : </a:t>
            </a:r>
            <a:pPr indent="0" marL="0">
              <a:lnSpc>
                <a:spcPct val="120000"/>
              </a:lnSpc>
              <a:buNone/>
            </a:pPr>
            <a:r>
              <a:rPr lang="en-US" sz="1500" dirty="0">
                <a:solidFill>
                  <a:srgbClr val="1A1A1A"/>
                </a:solidFill>
              </a:rPr>
              <a:t>nous recevons des fichiers déposés dans HDFS et nous rendons un entrepôt interrogeable en SQL.</a:t>
            </a:r>
            <a:endParaRPr lang="en-US" sz="1500" dirty="0"/>
          </a:p>
          <a:p>
            <a:pPr indent="0" marL="0">
              <a:lnSpc>
                <a:spcPct val="120000"/>
              </a:lnSpc>
              <a:buNone/>
            </a:pPr>
            <a:endParaRPr lang="en-US" sz="1500" dirty="0"/>
          </a:p>
          <a:p>
            <a:pPr indent="0" marL="0">
              <a:lnSpc>
                <a:spcPct val="120000"/>
              </a:lnSpc>
              <a:buNone/>
            </a:pPr>
            <a:r>
              <a:rPr lang="en-US" sz="1500" i="1" dirty="0">
                <a:solidFill>
                  <a:srgbClr val="353430"/>
                </a:solidFill>
              </a:rPr>
              <a:t>La règle du projet : chaque groupe doit vérifier les livrables du précédent. Il est interdit de reconstruire silencieusement une sortie manquante.</a:t>
            </a:r>
            <a:endParaRPr lang="en-US" sz="15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2</a:t>
            </a:fld>
            <a:endParaRPr lang="en-US"/>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 livrable du Groupe 5, reçu et vérifié</a:t>
            </a:r>
            <a:endParaRPr lang="en-US" sz="2800" dirty="0"/>
          </a:p>
        </p:txBody>
      </p:sp>
      <p:sp>
        <p:nvSpPr>
          <p:cNvPr id="3" name="carte-41"/>
          <p:cNvSpPr/>
          <p:nvPr/>
        </p:nvSpPr>
        <p:spPr>
          <a:xfrm>
            <a:off x="594360" y="1371600"/>
            <a:ext cx="3474720" cy="3291840"/>
          </a:xfrm>
          <a:prstGeom prst="roundRect">
            <a:avLst>
              <a:gd name="adj" fmla="val 2778"/>
            </a:avLst>
          </a:prstGeom>
          <a:solidFill>
            <a:srgbClr val="FFFFFF"/>
          </a:solidFill>
          <a:ln w="12700">
            <a:solidFill>
              <a:srgbClr val="E2E5EA"/>
            </a:solidFill>
            <a:prstDash val="solid"/>
          </a:ln>
        </p:spPr>
      </p:sp>
      <p:sp>
        <p:nvSpPr>
          <p:cNvPr id="4" name="tiret-42"/>
          <p:cNvSpPr/>
          <p:nvPr/>
        </p:nvSpPr>
        <p:spPr>
          <a:xfrm>
            <a:off x="822960" y="1600200"/>
            <a:ext cx="320040" cy="91440"/>
          </a:xfrm>
          <a:prstGeom prst="roundRect">
            <a:avLst>
              <a:gd name="adj" fmla="val 50000"/>
            </a:avLst>
          </a:prstGeom>
          <a:solidFill>
            <a:srgbClr val="353430"/>
          </a:solidFill>
          <a:ln w="12700">
            <a:solidFill>
              <a:srgbClr val="353430"/>
            </a:solidFill>
            <a:prstDash val="solid"/>
          </a:ln>
        </p:spPr>
      </p:sp>
      <p:sp>
        <p:nvSpPr>
          <p:cNvPr id="5" name="ct-43"/>
          <p:cNvSpPr txBox="1"/>
          <p:nvPr/>
        </p:nvSpPr>
        <p:spPr>
          <a:xfrm>
            <a:off x="822960" y="1783080"/>
            <a:ext cx="3017520" cy="548640"/>
          </a:xfrm>
          <a:prstGeom prst="rect">
            <a:avLst/>
          </a:prstGeom>
          <a:noFill/>
          <a:ln/>
        </p:spPr>
        <p:txBody>
          <a:bodyPr wrap="square" lIns="0" tIns="0" rIns="0" bIns="0" rtlCol="0" anchor="t"/>
          <a:lstStyle/>
          <a:p>
            <a:pPr indent="0" marL="0">
              <a:buNone/>
            </a:pPr>
            <a:r>
              <a:rPr lang="en-US" sz="1600" b="1" dirty="0">
                <a:solidFill>
                  <a:srgbClr val="1E2761"/>
                </a:solidFill>
              </a:rPr>
              <a:t>Reçu du Groupe 5</a:t>
            </a:r>
            <a:endParaRPr lang="en-US" sz="1600" dirty="0"/>
          </a:p>
        </p:txBody>
      </p:sp>
      <p:sp>
        <p:nvSpPr>
          <p:cNvPr id="6" name="cl-44"/>
          <p:cNvSpPr txBox="1"/>
          <p:nvPr/>
        </p:nvSpPr>
        <p:spPr>
          <a:xfrm>
            <a:off x="822960" y="237744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A1A"/>
                </a:solidFill>
              </a:rPr>
              <a:t>Les références MapReduce des Groupes 3 et 4</a:t>
            </a:r>
            <a:endParaRPr lang="en-US" sz="1400" dirty="0"/>
          </a:p>
          <a:p>
            <a:pPr marL="342900" indent="-342900">
              <a:spcAft>
                <a:spcPts val="800"/>
              </a:spcAft>
              <a:buSzPct val="100000"/>
              <a:buChar char="•"/>
            </a:pPr>
            <a:r>
              <a:rPr lang="en-US" sz="1400" dirty="0">
                <a:solidFill>
                  <a:srgbClr val="1A1A1A"/>
                </a:solidFill>
              </a:rPr>
              <a:t>Exécutées sous YARN sur les trois volumes</a:t>
            </a:r>
            <a:endParaRPr lang="en-US" sz="1400" dirty="0"/>
          </a:p>
          <a:p>
            <a:pPr marL="342900" indent="-342900">
              <a:spcAft>
                <a:spcPts val="800"/>
              </a:spcAft>
              <a:buSzPct val="100000"/>
              <a:buChar char="•"/>
            </a:pPr>
            <a:r>
              <a:rPr lang="en-US" sz="1400" dirty="0">
                <a:solidFill>
                  <a:srgbClr val="1A1A1A"/>
                </a:solidFill>
              </a:rPr>
              <a:t>Les empreintes MD5 des jeux de données</a:t>
            </a:r>
            <a:endParaRPr lang="en-US" sz="1400" dirty="0"/>
          </a:p>
          <a:p>
            <a:pPr marL="342900" indent="-342900">
              <a:spcAft>
                <a:spcPts val="800"/>
              </a:spcAft>
              <a:buSzPct val="100000"/>
              <a:buChar char="•"/>
            </a:pPr>
            <a:r>
              <a:rPr lang="en-US" sz="1400" dirty="0">
                <a:solidFill>
                  <a:srgbClr val="1A1A1A"/>
                </a:solidFill>
              </a:rPr>
              <a:t>Le benchmark de ressources YARN</a:t>
            </a:r>
            <a:endParaRPr lang="en-US" sz="1400" dirty="0"/>
          </a:p>
        </p:txBody>
      </p:sp>
      <p:sp>
        <p:nvSpPr>
          <p:cNvPr id="7" name="carte-45"/>
          <p:cNvSpPr/>
          <p:nvPr/>
        </p:nvSpPr>
        <p:spPr>
          <a:xfrm>
            <a:off x="4343400" y="1371600"/>
            <a:ext cx="3474720" cy="3291840"/>
          </a:xfrm>
          <a:prstGeom prst="roundRect">
            <a:avLst>
              <a:gd name="adj" fmla="val 2778"/>
            </a:avLst>
          </a:prstGeom>
          <a:solidFill>
            <a:srgbClr val="FFFFFF"/>
          </a:solidFill>
          <a:ln w="12700">
            <a:solidFill>
              <a:srgbClr val="E2E5EA"/>
            </a:solidFill>
            <a:prstDash val="solid"/>
          </a:ln>
        </p:spPr>
      </p:sp>
      <p:sp>
        <p:nvSpPr>
          <p:cNvPr id="8" name="tiret-46"/>
          <p:cNvSpPr/>
          <p:nvPr/>
        </p:nvSpPr>
        <p:spPr>
          <a:xfrm>
            <a:off x="4572000" y="1600200"/>
            <a:ext cx="320040" cy="91440"/>
          </a:xfrm>
          <a:prstGeom prst="roundRect">
            <a:avLst>
              <a:gd name="adj" fmla="val 50000"/>
            </a:avLst>
          </a:prstGeom>
          <a:solidFill>
            <a:srgbClr val="EB6834"/>
          </a:solidFill>
          <a:ln w="12700">
            <a:solidFill>
              <a:srgbClr val="EB6834"/>
            </a:solidFill>
            <a:prstDash val="solid"/>
          </a:ln>
        </p:spPr>
      </p:sp>
      <p:sp>
        <p:nvSpPr>
          <p:cNvPr id="9" name="ct-47"/>
          <p:cNvSpPr txBox="1"/>
          <p:nvPr/>
        </p:nvSpPr>
        <p:spPr>
          <a:xfrm>
            <a:off x="4572000" y="1783080"/>
            <a:ext cx="3017520" cy="548640"/>
          </a:xfrm>
          <a:prstGeom prst="rect">
            <a:avLst/>
          </a:prstGeom>
          <a:noFill/>
          <a:ln/>
        </p:spPr>
        <p:txBody>
          <a:bodyPr wrap="square" lIns="0" tIns="0" rIns="0" bIns="0" rtlCol="0" anchor="t"/>
          <a:lstStyle/>
          <a:p>
            <a:pPr indent="0" marL="0">
              <a:buNone/>
            </a:pPr>
            <a:r>
              <a:rPr lang="en-US" sz="1600" b="1" dirty="0">
                <a:solidFill>
                  <a:srgbClr val="1E2761"/>
                </a:solidFill>
              </a:rPr>
              <a:t>Ce que nous en avons fait</a:t>
            </a:r>
            <a:endParaRPr lang="en-US" sz="1600" dirty="0"/>
          </a:p>
        </p:txBody>
      </p:sp>
      <p:sp>
        <p:nvSpPr>
          <p:cNvPr id="10" name="cl-48"/>
          <p:cNvSpPr txBox="1"/>
          <p:nvPr/>
        </p:nvSpPr>
        <p:spPr>
          <a:xfrm>
            <a:off x="4572000" y="237744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A1A"/>
                </a:solidFill>
              </a:rPr>
              <a:t>Vérifié, pas repris.</a:t>
            </a:r>
            <a:endParaRPr lang="en-US" sz="1400" dirty="0"/>
          </a:p>
          <a:p>
            <a:pPr marL="342900" indent="-342900">
              <a:spcAft>
                <a:spcPts val="800"/>
              </a:spcAft>
              <a:buSzPct val="100000"/>
              <a:buChar char="•"/>
            </a:pPr>
            <a:r>
              <a:rPr lang="en-US" sz="1400" dirty="0">
                <a:solidFill>
                  <a:srgbClr val="1A1A1A"/>
                </a:solidFill>
              </a:rPr>
              <a:t>Un script compare leurs sorties aux nôtres : python/comparer_groupe5.py</a:t>
            </a:r>
            <a:endParaRPr lang="en-US" sz="1400" dirty="0"/>
          </a:p>
        </p:txBody>
      </p:sp>
      <p:sp>
        <p:nvSpPr>
          <p:cNvPr id="11" name="carte-49"/>
          <p:cNvSpPr/>
          <p:nvPr/>
        </p:nvSpPr>
        <p:spPr>
          <a:xfrm>
            <a:off x="8092440" y="1371600"/>
            <a:ext cx="3474720" cy="3291840"/>
          </a:xfrm>
          <a:prstGeom prst="roundRect">
            <a:avLst>
              <a:gd name="adj" fmla="val 2778"/>
            </a:avLst>
          </a:prstGeom>
          <a:solidFill>
            <a:srgbClr val="FFFFFF"/>
          </a:solidFill>
          <a:ln w="12700">
            <a:solidFill>
              <a:srgbClr val="E2E5EA"/>
            </a:solidFill>
            <a:prstDash val="solid"/>
          </a:ln>
        </p:spPr>
      </p:sp>
      <p:sp>
        <p:nvSpPr>
          <p:cNvPr id="12" name="tiret-50"/>
          <p:cNvSpPr/>
          <p:nvPr/>
        </p:nvSpPr>
        <p:spPr>
          <a:xfrm>
            <a:off x="8321040" y="1600200"/>
            <a:ext cx="320040" cy="91440"/>
          </a:xfrm>
          <a:prstGeom prst="roundRect">
            <a:avLst>
              <a:gd name="adj" fmla="val 50000"/>
            </a:avLst>
          </a:prstGeom>
          <a:solidFill>
            <a:srgbClr val="1BAF7A"/>
          </a:solidFill>
          <a:ln w="12700">
            <a:solidFill>
              <a:srgbClr val="1BAF7A"/>
            </a:solidFill>
            <a:prstDash val="solid"/>
          </a:ln>
        </p:spPr>
      </p:sp>
      <p:sp>
        <p:nvSpPr>
          <p:cNvPr id="13" name="ct-51"/>
          <p:cNvSpPr txBox="1"/>
          <p:nvPr/>
        </p:nvSpPr>
        <p:spPr>
          <a:xfrm>
            <a:off x="8321040" y="1783080"/>
            <a:ext cx="3017520" cy="548640"/>
          </a:xfrm>
          <a:prstGeom prst="rect">
            <a:avLst/>
          </a:prstGeom>
          <a:noFill/>
          <a:ln/>
        </p:spPr>
        <p:txBody>
          <a:bodyPr wrap="square" lIns="0" tIns="0" rIns="0" bIns="0" rtlCol="0" anchor="t"/>
          <a:lstStyle/>
          <a:p>
            <a:pPr indent="0" marL="0">
              <a:buNone/>
            </a:pPr>
            <a:r>
              <a:rPr lang="en-US" sz="1600" b="1" dirty="0">
                <a:solidFill>
                  <a:srgbClr val="1E2761"/>
                </a:solidFill>
              </a:rPr>
              <a:t>Le résultat</a:t>
            </a:r>
            <a:endParaRPr lang="en-US" sz="1600" dirty="0"/>
          </a:p>
        </p:txBody>
      </p:sp>
      <p:sp>
        <p:nvSpPr>
          <p:cNvPr id="14" name="cl-52"/>
          <p:cNvSpPr txBox="1"/>
          <p:nvPr/>
        </p:nvSpPr>
        <p:spPr>
          <a:xfrm>
            <a:off x="8321040" y="237744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A1A"/>
                </a:solidFill>
              </a:rPr>
              <a:t>15 comparaisons sur small, medium et big</a:t>
            </a:r>
            <a:endParaRPr lang="en-US" sz="1400" dirty="0"/>
          </a:p>
          <a:p>
            <a:pPr marL="342900" indent="-342900">
              <a:spcAft>
                <a:spcPts val="800"/>
              </a:spcAft>
              <a:buSzPct val="100000"/>
              <a:buChar char="•"/>
            </a:pPr>
            <a:r>
              <a:rPr lang="en-US" sz="1400" dirty="0">
                <a:solidFill>
                  <a:srgbClr val="1A1A1A"/>
                </a:solidFill>
              </a:rPr>
              <a:t>Écart maximal : 0</a:t>
            </a:r>
            <a:endParaRPr lang="en-US" sz="1400" dirty="0"/>
          </a:p>
          <a:p>
            <a:pPr marL="342900" indent="-342900">
              <a:spcAft>
                <a:spcPts val="800"/>
              </a:spcAft>
              <a:buSzPct val="100000"/>
              <a:buChar char="•"/>
            </a:pPr>
            <a:r>
              <a:rPr lang="en-US" sz="1400" dirty="0">
                <a:solidFill>
                  <a:srgbClr val="1A1A1A"/>
                </a:solidFill>
              </a:rPr>
              <a:t>MD5 des trois jeux : identiques bit à bit</a:t>
            </a:r>
            <a:endParaRPr lang="en-US" sz="1400" dirty="0"/>
          </a:p>
          <a:p>
            <a:pPr marL="342900" indent="-342900">
              <a:spcAft>
                <a:spcPts val="800"/>
              </a:spcAft>
              <a:buSzPct val="100000"/>
              <a:buChar char="•"/>
            </a:pPr>
            <a:r>
              <a:rPr lang="en-US" sz="1400" dirty="0">
                <a:solidFill>
                  <a:srgbClr val="1A1A1A"/>
                </a:solidFill>
              </a:rPr>
              <a:t>Deux chaînes techniques, les mêmes nombres</a:t>
            </a:r>
            <a:endParaRPr lang="en-US" sz="1400" dirty="0"/>
          </a:p>
        </p:txBody>
      </p:sp>
      <p:sp>
        <p:nvSpPr>
          <p:cNvPr id="15" name="Text 13"/>
          <p:cNvSpPr txBox="1"/>
          <p:nvPr/>
        </p:nvSpPr>
        <p:spPr>
          <a:xfrm>
            <a:off x="594360" y="4892040"/>
            <a:ext cx="10972800" cy="457200"/>
          </a:xfrm>
          <a:prstGeom prst="rect">
            <a:avLst/>
          </a:prstGeom>
          <a:noFill/>
          <a:ln/>
        </p:spPr>
        <p:txBody>
          <a:bodyPr wrap="square" lIns="0" tIns="0" rIns="0" bIns="0" rtlCol="0" anchor="ctr"/>
          <a:lstStyle/>
          <a:p>
            <a:pPr indent="0" marL="0">
              <a:buNone/>
            </a:pPr>
            <a:r>
              <a:rPr lang="en-US" sz="1400" i="1" dirty="0">
                <a:solidFill>
                  <a:srgbClr val="353430"/>
                </a:solidFill>
              </a:rPr>
              <a:t>Le Groupe 5 n'a pas encore présenté : son travail n'est pas validé. Nos chiffres concordent avec les siens — c'est une vérification croisée, pas un label.</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3</a:t>
            </a:fld>
            <a:endParaRPr lang="en-US"/>
          </a:p>
        </p:txBody>
      </p:sp>
    </p:spTree>
  </p:cSld>
  <p:clrMapOvr>
    <a:masterClrMapping/>
  </p:clrMapOvr>
  <p:transition spd="med"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 jeu de données</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Des transactions commerciales dans huit villes du Togo, sur deux ans, en trois volumes.</a:t>
            </a:r>
            <a:endParaRPr lang="en-US" sz="1500" dirty="0"/>
          </a:p>
        </p:txBody>
      </p:sp>
      <p:sp>
        <p:nvSpPr>
          <p:cNvPr id="4" name="carte-53"/>
          <p:cNvSpPr/>
          <p:nvPr/>
        </p:nvSpPr>
        <p:spPr>
          <a:xfrm>
            <a:off x="594360" y="1691640"/>
            <a:ext cx="3429000" cy="1737360"/>
          </a:xfrm>
          <a:prstGeom prst="roundRect">
            <a:avLst>
              <a:gd name="adj" fmla="val 5263"/>
            </a:avLst>
          </a:prstGeom>
          <a:solidFill>
            <a:srgbClr val="FFFFFF"/>
          </a:solidFill>
          <a:ln w="12700">
            <a:solidFill>
              <a:srgbClr val="E2E5EA"/>
            </a:solidFill>
            <a:prstDash val="solid"/>
          </a:ln>
        </p:spPr>
      </p:sp>
      <p:sp>
        <p:nvSpPr>
          <p:cNvPr id="5" name="v-54"/>
          <p:cNvSpPr txBox="1"/>
          <p:nvPr/>
        </p:nvSpPr>
        <p:spPr>
          <a:xfrm>
            <a:off x="822960" y="1828800"/>
            <a:ext cx="2971800" cy="365760"/>
          </a:xfrm>
          <a:prstGeom prst="rect">
            <a:avLst/>
          </a:prstGeom>
          <a:noFill/>
          <a:ln/>
        </p:spPr>
        <p:txBody>
          <a:bodyPr wrap="square" lIns="0" tIns="0" rIns="0" bIns="0" rtlCol="0" anchor="ctr"/>
          <a:lstStyle/>
          <a:p>
            <a:pPr indent="0" marL="0">
              <a:buNone/>
            </a:pPr>
            <a:r>
              <a:rPr lang="en-US" sz="1400" b="1" dirty="0">
                <a:solidFill>
                  <a:srgbClr val="2A78D6"/>
                </a:solidFill>
              </a:rPr>
              <a:t>small</a:t>
            </a:r>
            <a:endParaRPr lang="en-US" sz="1400" dirty="0"/>
          </a:p>
        </p:txBody>
      </p:sp>
      <p:sp>
        <p:nvSpPr>
          <p:cNvPr id="6" name="vl-55"/>
          <p:cNvSpPr txBox="1"/>
          <p:nvPr/>
        </p:nvSpPr>
        <p:spPr>
          <a:xfrm>
            <a:off x="822960" y="2176272"/>
            <a:ext cx="2971800" cy="548640"/>
          </a:xfrm>
          <a:prstGeom prst="rect">
            <a:avLst/>
          </a:prstGeom>
          <a:noFill/>
          <a:ln/>
        </p:spPr>
        <p:txBody>
          <a:bodyPr wrap="square" lIns="0" tIns="0" rIns="0" bIns="0" rtlCol="0" anchor="ctr"/>
          <a:lstStyle/>
          <a:p>
            <a:pPr indent="0" marL="0">
              <a:buNone/>
            </a:pPr>
            <a:r>
              <a:rPr lang="en-US" sz="2800" b="1" dirty="0">
                <a:solidFill>
                  <a:srgbClr val="1E2761"/>
                </a:solidFill>
              </a:rPr>
              <a:t>10 000</a:t>
            </a:r>
            <a:endParaRPr lang="en-US" sz="2800" dirty="0"/>
          </a:p>
        </p:txBody>
      </p:sp>
      <p:sp>
        <p:nvSpPr>
          <p:cNvPr id="7" name="vu-56"/>
          <p:cNvSpPr txBox="1"/>
          <p:nvPr/>
        </p:nvSpPr>
        <p:spPr>
          <a:xfrm>
            <a:off x="822960" y="2761488"/>
            <a:ext cx="2971800" cy="457200"/>
          </a:xfrm>
          <a:prstGeom prst="rect">
            <a:avLst/>
          </a:prstGeom>
          <a:noFill/>
          <a:ln/>
        </p:spPr>
        <p:txBody>
          <a:bodyPr wrap="square" lIns="0" tIns="0" rIns="0" bIns="0" rtlCol="0" anchor="t"/>
          <a:lstStyle/>
          <a:p>
            <a:pPr indent="0" marL="0">
              <a:buNone/>
            </a:pPr>
            <a:r>
              <a:rPr lang="en-US" sz="1250" dirty="0">
                <a:solidFill>
                  <a:srgbClr val="353430"/>
                </a:solidFill>
              </a:rPr>
              <a:t>1,3 Mo · tests rapides</a:t>
            </a:r>
            <a:endParaRPr lang="en-US" sz="1250" dirty="0"/>
          </a:p>
        </p:txBody>
      </p:sp>
      <p:sp>
        <p:nvSpPr>
          <p:cNvPr id="8" name="carte-57"/>
          <p:cNvSpPr/>
          <p:nvPr/>
        </p:nvSpPr>
        <p:spPr>
          <a:xfrm>
            <a:off x="4251960" y="1691640"/>
            <a:ext cx="3429000" cy="1737360"/>
          </a:xfrm>
          <a:prstGeom prst="roundRect">
            <a:avLst>
              <a:gd name="adj" fmla="val 5263"/>
            </a:avLst>
          </a:prstGeom>
          <a:solidFill>
            <a:srgbClr val="FFFFFF"/>
          </a:solidFill>
          <a:ln w="12700">
            <a:solidFill>
              <a:srgbClr val="2A78D6"/>
            </a:solidFill>
            <a:prstDash val="solid"/>
          </a:ln>
        </p:spPr>
      </p:sp>
      <p:sp>
        <p:nvSpPr>
          <p:cNvPr id="9" name="v-58"/>
          <p:cNvSpPr txBox="1"/>
          <p:nvPr/>
        </p:nvSpPr>
        <p:spPr>
          <a:xfrm>
            <a:off x="4480560" y="1828800"/>
            <a:ext cx="2971800" cy="365760"/>
          </a:xfrm>
          <a:prstGeom prst="rect">
            <a:avLst/>
          </a:prstGeom>
          <a:noFill/>
          <a:ln/>
        </p:spPr>
        <p:txBody>
          <a:bodyPr wrap="square" lIns="0" tIns="0" rIns="0" bIns="0" rtlCol="0" anchor="ctr"/>
          <a:lstStyle/>
          <a:p>
            <a:pPr indent="0" marL="0">
              <a:buNone/>
            </a:pPr>
            <a:r>
              <a:rPr lang="en-US" sz="1400" b="1" dirty="0">
                <a:solidFill>
                  <a:srgbClr val="2A78D6"/>
                </a:solidFill>
              </a:rPr>
              <a:t>medium</a:t>
            </a:r>
            <a:endParaRPr lang="en-US" sz="1400" dirty="0"/>
          </a:p>
        </p:txBody>
      </p:sp>
      <p:sp>
        <p:nvSpPr>
          <p:cNvPr id="10" name="vl-59"/>
          <p:cNvSpPr txBox="1"/>
          <p:nvPr/>
        </p:nvSpPr>
        <p:spPr>
          <a:xfrm>
            <a:off x="4480560" y="2176272"/>
            <a:ext cx="2971800" cy="548640"/>
          </a:xfrm>
          <a:prstGeom prst="rect">
            <a:avLst/>
          </a:prstGeom>
          <a:noFill/>
          <a:ln/>
        </p:spPr>
        <p:txBody>
          <a:bodyPr wrap="square" lIns="0" tIns="0" rIns="0" bIns="0" rtlCol="0" anchor="ctr"/>
          <a:lstStyle/>
          <a:p>
            <a:pPr indent="0" marL="0">
              <a:buNone/>
            </a:pPr>
            <a:r>
              <a:rPr lang="en-US" sz="2800" b="1" dirty="0">
                <a:solidFill>
                  <a:srgbClr val="1E2761"/>
                </a:solidFill>
              </a:rPr>
              <a:t>500 000</a:t>
            </a:r>
            <a:endParaRPr lang="en-US" sz="2800" dirty="0"/>
          </a:p>
        </p:txBody>
      </p:sp>
      <p:sp>
        <p:nvSpPr>
          <p:cNvPr id="11" name="vu-60"/>
          <p:cNvSpPr txBox="1"/>
          <p:nvPr/>
        </p:nvSpPr>
        <p:spPr>
          <a:xfrm>
            <a:off x="4480560" y="2761488"/>
            <a:ext cx="2971800" cy="457200"/>
          </a:xfrm>
          <a:prstGeom prst="rect">
            <a:avLst/>
          </a:prstGeom>
          <a:noFill/>
          <a:ln/>
        </p:spPr>
        <p:txBody>
          <a:bodyPr wrap="square" lIns="0" tIns="0" rIns="0" bIns="0" rtlCol="0" anchor="t"/>
          <a:lstStyle/>
          <a:p>
            <a:pPr indent="0" marL="0">
              <a:buNone/>
            </a:pPr>
            <a:r>
              <a:rPr lang="en-US" sz="1250" dirty="0">
                <a:solidFill>
                  <a:srgbClr val="353430"/>
                </a:solidFill>
              </a:rPr>
              <a:t>62,9 Mo · développement et validation</a:t>
            </a:r>
            <a:endParaRPr lang="en-US" sz="1250" dirty="0"/>
          </a:p>
        </p:txBody>
      </p:sp>
      <p:sp>
        <p:nvSpPr>
          <p:cNvPr id="12" name="carte-61"/>
          <p:cNvSpPr/>
          <p:nvPr/>
        </p:nvSpPr>
        <p:spPr>
          <a:xfrm>
            <a:off x="7909560" y="1691640"/>
            <a:ext cx="3429000" cy="1737360"/>
          </a:xfrm>
          <a:prstGeom prst="roundRect">
            <a:avLst>
              <a:gd name="adj" fmla="val 5263"/>
            </a:avLst>
          </a:prstGeom>
          <a:solidFill>
            <a:srgbClr val="FFFFFF"/>
          </a:solidFill>
          <a:ln w="12700">
            <a:solidFill>
              <a:srgbClr val="E2E5EA"/>
            </a:solidFill>
            <a:prstDash val="solid"/>
          </a:ln>
        </p:spPr>
      </p:sp>
      <p:sp>
        <p:nvSpPr>
          <p:cNvPr id="13" name="v-62"/>
          <p:cNvSpPr txBox="1"/>
          <p:nvPr/>
        </p:nvSpPr>
        <p:spPr>
          <a:xfrm>
            <a:off x="8138160" y="1828800"/>
            <a:ext cx="2971800" cy="365760"/>
          </a:xfrm>
          <a:prstGeom prst="rect">
            <a:avLst/>
          </a:prstGeom>
          <a:noFill/>
          <a:ln/>
        </p:spPr>
        <p:txBody>
          <a:bodyPr wrap="square" lIns="0" tIns="0" rIns="0" bIns="0" rtlCol="0" anchor="ctr"/>
          <a:lstStyle/>
          <a:p>
            <a:pPr indent="0" marL="0">
              <a:buNone/>
            </a:pPr>
            <a:r>
              <a:rPr lang="en-US" sz="1400" b="1" dirty="0">
                <a:solidFill>
                  <a:srgbClr val="2A78D6"/>
                </a:solidFill>
              </a:rPr>
              <a:t>big</a:t>
            </a:r>
            <a:endParaRPr lang="en-US" sz="1400" dirty="0"/>
          </a:p>
        </p:txBody>
      </p:sp>
      <p:sp>
        <p:nvSpPr>
          <p:cNvPr id="14" name="vl-63"/>
          <p:cNvSpPr txBox="1"/>
          <p:nvPr/>
        </p:nvSpPr>
        <p:spPr>
          <a:xfrm>
            <a:off x="8138160" y="2176272"/>
            <a:ext cx="2971800" cy="548640"/>
          </a:xfrm>
          <a:prstGeom prst="rect">
            <a:avLst/>
          </a:prstGeom>
          <a:noFill/>
          <a:ln/>
        </p:spPr>
        <p:txBody>
          <a:bodyPr wrap="square" lIns="0" tIns="0" rIns="0" bIns="0" rtlCol="0" anchor="ctr"/>
          <a:lstStyle/>
          <a:p>
            <a:pPr indent="0" marL="0">
              <a:buNone/>
            </a:pPr>
            <a:r>
              <a:rPr lang="en-US" sz="2800" b="1" dirty="0">
                <a:solidFill>
                  <a:srgbClr val="1E2761"/>
                </a:solidFill>
              </a:rPr>
              <a:t>5 000 000</a:t>
            </a:r>
            <a:endParaRPr lang="en-US" sz="2800" dirty="0"/>
          </a:p>
        </p:txBody>
      </p:sp>
      <p:sp>
        <p:nvSpPr>
          <p:cNvPr id="15" name="vu-64"/>
          <p:cNvSpPr txBox="1"/>
          <p:nvPr/>
        </p:nvSpPr>
        <p:spPr>
          <a:xfrm>
            <a:off x="8138160" y="2761488"/>
            <a:ext cx="2971800" cy="457200"/>
          </a:xfrm>
          <a:prstGeom prst="rect">
            <a:avLst/>
          </a:prstGeom>
          <a:noFill/>
          <a:ln/>
        </p:spPr>
        <p:txBody>
          <a:bodyPr wrap="square" lIns="0" tIns="0" rIns="0" bIns="0" rtlCol="0" anchor="t"/>
          <a:lstStyle/>
          <a:p>
            <a:pPr indent="0" marL="0">
              <a:buNone/>
            </a:pPr>
            <a:r>
              <a:rPr lang="en-US" sz="1250" dirty="0">
                <a:solidFill>
                  <a:srgbClr val="353430"/>
                </a:solidFill>
              </a:rPr>
              <a:t>138,5 Mo · expérimentation Big Data</a:t>
            </a:r>
            <a:endParaRPr lang="en-US" sz="1250" dirty="0"/>
          </a:p>
        </p:txBody>
      </p:sp>
      <p:sp>
        <p:nvSpPr>
          <p:cNvPr id="16" name="carte-65"/>
          <p:cNvSpPr/>
          <p:nvPr/>
        </p:nvSpPr>
        <p:spPr>
          <a:xfrm>
            <a:off x="594360" y="3657600"/>
            <a:ext cx="10972800" cy="1280160"/>
          </a:xfrm>
          <a:prstGeom prst="roundRect">
            <a:avLst>
              <a:gd name="adj" fmla="val 7143"/>
            </a:avLst>
          </a:prstGeom>
          <a:solidFill>
            <a:srgbClr val="FFFFFF"/>
          </a:solidFill>
          <a:ln w="12700">
            <a:solidFill>
              <a:srgbClr val="FFFFFF"/>
            </a:solidFill>
            <a:prstDash val="solid"/>
          </a:ln>
        </p:spPr>
      </p:sp>
      <p:sp>
        <p:nvSpPr>
          <p:cNvPr id="17" name="Text 15"/>
          <p:cNvSpPr txBox="1"/>
          <p:nvPr/>
        </p:nvSpPr>
        <p:spPr>
          <a:xfrm>
            <a:off x="868680" y="3840480"/>
            <a:ext cx="10424160" cy="914400"/>
          </a:xfrm>
          <a:prstGeom prst="rect">
            <a:avLst/>
          </a:prstGeom>
          <a:noFill/>
          <a:ln/>
        </p:spPr>
        <p:txBody>
          <a:bodyPr wrap="square" lIns="0" tIns="0" rIns="0" bIns="0" rtlCol="0" anchor="ctr"/>
          <a:lstStyle/>
          <a:p>
            <a:pPr indent="0" marL="0">
              <a:lnSpc>
                <a:spcPct val="120000"/>
              </a:lnSpc>
              <a:buNone/>
            </a:pPr>
            <a:r>
              <a:rPr lang="en-US" sz="1400" b="1" dirty="0">
                <a:solidFill>
                  <a:srgbClr val="1E2761"/>
                </a:solidFill>
              </a:rPr>
              <a:t>19 colonnes</a:t>
            </a:r>
            <a:pPr indent="0" marL="0">
              <a:lnSpc>
                <a:spcPct val="120000"/>
              </a:lnSpc>
              <a:buNone/>
            </a:pPr>
            <a:r>
              <a:rPr lang="en-US" sz="1400" dirty="0">
                <a:solidFill>
                  <a:srgbClr val="1A1A1A"/>
                </a:solidFill>
              </a:rPr>
              <a:t> : identifiant, horodatage, client, ville, magasin, catégorie, produit, quantité, prix unitaire, remise, mode de paiement, âge et type de client, stocks, promotion, jour, livraison, montant.</a:t>
            </a:r>
            <a:endParaRPr lang="en-US" sz="1400" dirty="0"/>
          </a:p>
          <a:p>
            <a:pPr indent="0" marL="0">
              <a:lnSpc>
                <a:spcPct val="120000"/>
              </a:lnSpc>
              <a:buNone/>
            </a:pPr>
            <a:endParaRPr lang="en-US" sz="1400" dirty="0"/>
          </a:p>
          <a:p>
            <a:pPr indent="0" marL="0">
              <a:lnSpc>
                <a:spcPct val="120000"/>
              </a:lnSpc>
              <a:buNone/>
            </a:pPr>
            <a:r>
              <a:rPr lang="en-US" sz="1400" b="1" dirty="0">
                <a:solidFill>
                  <a:srgbClr val="2A78D6"/>
                </a:solidFill>
                <a:latin typeface="Courier New" pitchFamily="34" charset="0"/>
                <a:ea typeface="Courier New" pitchFamily="34" charset="-122"/>
                <a:cs typeface="Courier New" pitchFamily="34" charset="-120"/>
              </a:rPr>
              <a:t>montant = quantité × prix_unitaire × (1 − remise)</a:t>
            </a:r>
            <a:pPr indent="0" marL="0">
              <a:lnSpc>
                <a:spcPct val="120000"/>
              </a:lnSpc>
              <a:buNone/>
            </a:pPr>
            <a:r>
              <a:rPr lang="en-US" sz="1400" i="1" dirty="0">
                <a:solidFill>
                  <a:srgbClr val="353430"/>
                </a:solidFill>
              </a:rPr>
              <a:t>  — relation que nous vérifions au lieu de la supposer.</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4</a:t>
            </a:fld>
            <a:endParaRPr lang="en-US"/>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 cluster : cinq services sous Docker</a:t>
            </a:r>
            <a:endParaRPr lang="en-US" sz="2800" dirty="0"/>
          </a:p>
        </p:txBody>
      </p:sp>
      <p:sp>
        <p:nvSpPr>
          <p:cNvPr id="30" name="box-30"/>
          <p:cNvSpPr/>
          <p:nvPr/>
        </p:nvSpPr>
        <p:spPr>
          <a:xfrm>
            <a:off x="594360" y="1700000"/>
            <a:ext cx="2300000" cy="900000"/>
          </a:xfrm>
          <a:prstGeom prst="roundRect">
            <a:avLst/>
          </a:prstGeom>
          <a:solidFill>
            <a:srgbClr val="FFFFFF"/>
          </a:solidFill>
          <a:ln w="12700">
            <a:solidFill>
              <a:srgbClr val="1E2761"/>
            </a:solidFill>
          </a:ln>
        </p:spPr>
        <p:txBody>
          <a:bodyPr lIns="45720" rIns="45720" anchor="ctr"/>
          <a:lstStyle/>
          <a:p>
            <a:pPr algn="ctr">
              <a:buNone/>
            </a:pPr>
            <a:r>
              <a:rPr lang="fr-FR" sz="1500" b="1" dirty="0">
                <a:solidFill>
                  <a:srgbClr val="353430"/>
                </a:solidFill>
              </a:rPr>
              <a:t>beeline / PyHive</a:t>
            </a:r>
          </a:p>
        </p:txBody>
      </p:sp>
      <p:sp>
        <p:nvSpPr>
          <p:cNvPr id="31" name="leg-31"/>
          <p:cNvSpPr txBox="1"/>
          <p:nvPr/>
        </p:nvSpPr>
        <p:spPr>
          <a:xfrm>
            <a:off x="594360" y="2700000"/>
            <a:ext cx="2300000" cy="420000"/>
          </a:xfrm>
          <a:prstGeom prst="rect">
            <a:avLst/>
          </a:prstGeom>
          <a:noFill/>
          <a:ln/>
        </p:spPr>
        <p:txBody>
          <a:bodyPr wrap="square" lIns="0" tIns="0" rIns="0" bIns="0" anchor="t"/>
          <a:lstStyle/>
          <a:p>
            <a:pPr indent="0" marL="0" algn="ctr">
              <a:buNone/>
            </a:pPr>
            <a:r>
              <a:rPr lang="fr-FR" sz="1200" b="0" dirty="0">
                <a:solidFill>
                  <a:srgbClr val="353430"/>
                </a:solidFill>
              </a:rPr>
              <a:t>le client, sur votre poste</a:t>
            </a:r>
          </a:p>
        </p:txBody>
      </p:sp>
      <p:sp>
        <p:nvSpPr>
          <p:cNvPr id="32" name="fl-32"/>
          <p:cNvSpPr/>
          <p:nvPr/>
        </p:nvSpPr>
        <p:spPr>
          <a:xfrm>
            <a:off x="3004360" y="2030000"/>
            <a:ext cx="380000" cy="240000"/>
          </a:xfrm>
          <a:prstGeom prst="rightArrow">
            <a:avLst/>
          </a:prstGeom>
          <a:solidFill>
            <a:srgbClr val="CADCFC"/>
          </a:solidFill>
          <a:ln/>
        </p:spPr>
        <p:txBody>
          <a:bodyPr lIns="45720" rIns="45720" anchor="ctr"/>
          <a:lstStyle/>
          <a:p/>
        </p:txBody>
      </p:sp>
      <p:sp>
        <p:nvSpPr>
          <p:cNvPr id="33" name="box-33"/>
          <p:cNvSpPr/>
          <p:nvPr/>
        </p:nvSpPr>
        <p:spPr>
          <a:xfrm>
            <a:off x="3394360" y="1700000"/>
            <a:ext cx="2300000" cy="900000"/>
          </a:xfrm>
          <a:prstGeom prst="roundRect">
            <a:avLst/>
          </a:prstGeom>
          <a:solidFill>
            <a:srgbClr val="2A78D6"/>
          </a:solidFill>
          <a:ln/>
        </p:spPr>
        <p:txBody>
          <a:bodyPr lIns="45720" rIns="45720" anchor="ctr"/>
          <a:lstStyle/>
          <a:p>
            <a:pPr algn="ctr">
              <a:buNone/>
            </a:pPr>
            <a:r>
              <a:rPr lang="fr-FR" sz="1500" b="1" dirty="0">
                <a:solidFill>
                  <a:srgbClr val="FFFFFF"/>
                </a:solidFill>
              </a:rPr>
              <a:t>hive-server</a:t>
            </a:r>
          </a:p>
        </p:txBody>
      </p:sp>
      <p:sp>
        <p:nvSpPr>
          <p:cNvPr id="34" name="leg-34"/>
          <p:cNvSpPr txBox="1"/>
          <p:nvPr/>
        </p:nvSpPr>
        <p:spPr>
          <a:xfrm>
            <a:off x="3394360" y="2700000"/>
            <a:ext cx="2300000" cy="420000"/>
          </a:xfrm>
          <a:prstGeom prst="rect">
            <a:avLst/>
          </a:prstGeom>
          <a:noFill/>
          <a:ln/>
        </p:spPr>
        <p:txBody>
          <a:bodyPr wrap="square" lIns="0" tIns="0" rIns="0" bIns="0" anchor="t"/>
          <a:lstStyle/>
          <a:p>
            <a:pPr indent="0" marL="0" algn="ctr">
              <a:buNone/>
            </a:pPr>
            <a:r>
              <a:rPr lang="fr-FR" sz="1200" b="0" dirty="0">
                <a:solidFill>
                  <a:srgbClr val="353430"/>
                </a:solidFill>
              </a:rPr>
              <a:t>HiveServer2 : traduit le SQL en jobs</a:t>
            </a:r>
          </a:p>
        </p:txBody>
      </p:sp>
      <p:sp>
        <p:nvSpPr>
          <p:cNvPr id="35" name="fl-35"/>
          <p:cNvSpPr/>
          <p:nvPr/>
        </p:nvSpPr>
        <p:spPr>
          <a:xfrm>
            <a:off x="5804360" y="2030000"/>
            <a:ext cx="380000" cy="240000"/>
          </a:xfrm>
          <a:prstGeom prst="rightArrow">
            <a:avLst/>
          </a:prstGeom>
          <a:solidFill>
            <a:srgbClr val="CADCFC"/>
          </a:solidFill>
          <a:ln/>
        </p:spPr>
        <p:txBody>
          <a:bodyPr lIns="45720" rIns="45720" anchor="ctr"/>
          <a:lstStyle/>
          <a:p/>
        </p:txBody>
      </p:sp>
      <p:sp>
        <p:nvSpPr>
          <p:cNvPr id="36" name="box-36"/>
          <p:cNvSpPr/>
          <p:nvPr/>
        </p:nvSpPr>
        <p:spPr>
          <a:xfrm>
            <a:off x="6194360" y="1700000"/>
            <a:ext cx="2300000" cy="900000"/>
          </a:xfrm>
          <a:prstGeom prst="roundRect">
            <a:avLst/>
          </a:prstGeom>
          <a:solidFill>
            <a:srgbClr val="1E2761"/>
          </a:solidFill>
          <a:ln/>
        </p:spPr>
        <p:txBody>
          <a:bodyPr lIns="45720" rIns="45720" anchor="ctr"/>
          <a:lstStyle/>
          <a:p>
            <a:pPr algn="ctr">
              <a:buNone/>
            </a:pPr>
            <a:r>
              <a:rPr lang="fr-FR" sz="1500" b="1" dirty="0">
                <a:solidFill>
                  <a:srgbClr val="FFFFFF"/>
                </a:solidFill>
              </a:rPr>
              <a:t>namenode</a:t>
            </a:r>
          </a:p>
        </p:txBody>
      </p:sp>
      <p:sp>
        <p:nvSpPr>
          <p:cNvPr id="37" name="leg-37"/>
          <p:cNvSpPr txBox="1"/>
          <p:nvPr/>
        </p:nvSpPr>
        <p:spPr>
          <a:xfrm>
            <a:off x="6194360" y="2700000"/>
            <a:ext cx="2300000" cy="420000"/>
          </a:xfrm>
          <a:prstGeom prst="rect">
            <a:avLst/>
          </a:prstGeom>
          <a:noFill/>
          <a:ln/>
        </p:spPr>
        <p:txBody>
          <a:bodyPr wrap="square" lIns="0" tIns="0" rIns="0" bIns="0" anchor="t"/>
          <a:lstStyle/>
          <a:p>
            <a:pPr indent="0" marL="0" algn="ctr">
              <a:buNone/>
            </a:pPr>
            <a:r>
              <a:rPr lang="fr-FR" sz="1200" b="0" dirty="0">
                <a:solidFill>
                  <a:srgbClr val="353430"/>
                </a:solidFill>
              </a:rPr>
              <a:t>l'annuaire : quel bloc, où</a:t>
            </a:r>
          </a:p>
        </p:txBody>
      </p:sp>
      <p:sp>
        <p:nvSpPr>
          <p:cNvPr id="38" name="fl-38"/>
          <p:cNvSpPr/>
          <p:nvPr/>
        </p:nvSpPr>
        <p:spPr>
          <a:xfrm>
            <a:off x="8604360" y="2030000"/>
            <a:ext cx="380000" cy="240000"/>
          </a:xfrm>
          <a:prstGeom prst="rightArrow">
            <a:avLst/>
          </a:prstGeom>
          <a:solidFill>
            <a:srgbClr val="CADCFC"/>
          </a:solidFill>
          <a:ln/>
        </p:spPr>
        <p:txBody>
          <a:bodyPr lIns="45720" rIns="45720" anchor="ctr"/>
          <a:lstStyle/>
          <a:p/>
        </p:txBody>
      </p:sp>
      <p:sp>
        <p:nvSpPr>
          <p:cNvPr id="39" name="box-39"/>
          <p:cNvSpPr/>
          <p:nvPr/>
        </p:nvSpPr>
        <p:spPr>
          <a:xfrm>
            <a:off x="8994360" y="1700000"/>
            <a:ext cx="2300000" cy="900000"/>
          </a:xfrm>
          <a:prstGeom prst="roundRect">
            <a:avLst/>
          </a:prstGeom>
          <a:solidFill>
            <a:srgbClr val="1E2761"/>
          </a:solidFill>
          <a:ln/>
        </p:spPr>
        <p:txBody>
          <a:bodyPr lIns="45720" rIns="45720" anchor="ctr"/>
          <a:lstStyle/>
          <a:p>
            <a:pPr algn="ctr">
              <a:buNone/>
            </a:pPr>
            <a:r>
              <a:rPr lang="fr-FR" sz="1500" b="1" dirty="0">
                <a:solidFill>
                  <a:srgbClr val="FFFFFF"/>
                </a:solidFill>
              </a:rPr>
              <a:t>datanode</a:t>
            </a:r>
          </a:p>
        </p:txBody>
      </p:sp>
      <p:sp>
        <p:nvSpPr>
          <p:cNvPr id="40" name="leg-40"/>
          <p:cNvSpPr txBox="1"/>
          <p:nvPr/>
        </p:nvSpPr>
        <p:spPr>
          <a:xfrm>
            <a:off x="8994360" y="2700000"/>
            <a:ext cx="2300000" cy="420000"/>
          </a:xfrm>
          <a:prstGeom prst="rect">
            <a:avLst/>
          </a:prstGeom>
          <a:noFill/>
          <a:ln/>
        </p:spPr>
        <p:txBody>
          <a:bodyPr wrap="square" lIns="0" tIns="0" rIns="0" bIns="0" anchor="t"/>
          <a:lstStyle/>
          <a:p>
            <a:pPr indent="0" marL="0" algn="ctr">
              <a:buNone/>
            </a:pPr>
            <a:r>
              <a:rPr lang="fr-FR" sz="1200" b="0" dirty="0">
                <a:solidFill>
                  <a:srgbClr val="353430"/>
                </a:solidFill>
              </a:rPr>
              <a:t>les blocs, sur le disque</a:t>
            </a:r>
          </a:p>
        </p:txBody>
      </p:sp>
      <p:sp>
        <p:nvSpPr>
          <p:cNvPr id="41" name="port"/>
          <p:cNvSpPr txBox="1"/>
          <p:nvPr/>
        </p:nvSpPr>
        <p:spPr>
          <a:xfrm>
            <a:off x="2644360" y="1360000"/>
            <a:ext cx="1100000" cy="300000"/>
          </a:xfrm>
          <a:prstGeom prst="rect">
            <a:avLst/>
          </a:prstGeom>
          <a:noFill/>
          <a:ln/>
        </p:spPr>
        <p:txBody>
          <a:bodyPr wrap="square" lIns="0" tIns="0" rIns="0" bIns="0" anchor="ctr"/>
          <a:lstStyle/>
          <a:p>
            <a:pPr indent="0" marL="0" algn="ctr">
              <a:buNone/>
            </a:pPr>
            <a:r>
              <a:rPr lang="fr-FR" sz="1100" b="0" dirty="0">
                <a:solidFill>
                  <a:srgbClr val="353430"/>
                </a:solidFill>
              </a:rPr>
              <a:t>port 10000</a:t>
            </a:r>
          </a:p>
        </p:txBody>
      </p:sp>
      <p:sp>
        <p:nvSpPr>
          <p:cNvPr id="42" name="fl-bas"/>
          <p:cNvSpPr/>
          <p:nvPr/>
        </p:nvSpPr>
        <p:spPr>
          <a:xfrm>
            <a:off x="4424360" y="3160000"/>
            <a:ext cx="240000" cy="380000"/>
          </a:xfrm>
          <a:prstGeom prst="downArrow">
            <a:avLst/>
          </a:prstGeom>
          <a:solidFill>
            <a:srgbClr val="CADCFC"/>
          </a:solidFill>
          <a:ln/>
        </p:spPr>
        <p:txBody>
          <a:bodyPr lIns="45720" rIns="45720" anchor="ctr"/>
          <a:lstStyle/>
          <a:p/>
        </p:txBody>
      </p:sp>
      <p:sp>
        <p:nvSpPr>
          <p:cNvPr id="43" name="box-43"/>
          <p:cNvSpPr/>
          <p:nvPr/>
        </p:nvSpPr>
        <p:spPr>
          <a:xfrm>
            <a:off x="3394360" y="3580000"/>
            <a:ext cx="2300000" cy="900000"/>
          </a:xfrm>
          <a:prstGeom prst="roundRect">
            <a:avLst/>
          </a:prstGeom>
          <a:solidFill>
            <a:srgbClr val="CADCFC"/>
          </a:solidFill>
          <a:ln/>
        </p:spPr>
        <p:txBody>
          <a:bodyPr lIns="45720" rIns="45720" anchor="ctr"/>
          <a:lstStyle/>
          <a:p>
            <a:pPr algn="ctr">
              <a:buNone/>
            </a:pPr>
            <a:r>
              <a:rPr lang="fr-FR" sz="1500" b="1" dirty="0">
                <a:solidFill>
                  <a:srgbClr val="1E2761"/>
                </a:solidFill>
              </a:rPr>
              <a:t>hive-metastore</a:t>
            </a:r>
          </a:p>
        </p:txBody>
      </p:sp>
      <p:sp>
        <p:nvSpPr>
          <p:cNvPr id="44" name="leg-44"/>
          <p:cNvSpPr txBox="1"/>
          <p:nvPr/>
        </p:nvSpPr>
        <p:spPr>
          <a:xfrm>
            <a:off x="3394360" y="4580000"/>
            <a:ext cx="2300000" cy="420000"/>
          </a:xfrm>
          <a:prstGeom prst="rect">
            <a:avLst/>
          </a:prstGeom>
          <a:noFill/>
          <a:ln/>
        </p:spPr>
        <p:txBody>
          <a:bodyPr wrap="square" lIns="0" tIns="0" rIns="0" bIns="0" anchor="t"/>
          <a:lstStyle/>
          <a:p>
            <a:pPr indent="0" marL="0" algn="ctr">
              <a:buNone/>
            </a:pPr>
            <a:r>
              <a:rPr lang="fr-FR" sz="1200" b="0" dirty="0">
                <a:solidFill>
                  <a:srgbClr val="353430"/>
                </a:solidFill>
              </a:rPr>
              <a:t>le dictionnaire : tables, colonnes, partitions</a:t>
            </a:r>
          </a:p>
        </p:txBody>
      </p:sp>
      <p:sp>
        <p:nvSpPr>
          <p:cNvPr id="45" name="fl-45"/>
          <p:cNvSpPr/>
          <p:nvPr/>
        </p:nvSpPr>
        <p:spPr>
          <a:xfrm>
            <a:off x="5804360" y="3910000"/>
            <a:ext cx="380000" cy="240000"/>
          </a:xfrm>
          <a:prstGeom prst="rightArrow">
            <a:avLst/>
          </a:prstGeom>
          <a:solidFill>
            <a:srgbClr val="CADCFC"/>
          </a:solidFill>
          <a:ln/>
        </p:spPr>
        <p:txBody>
          <a:bodyPr lIns="45720" rIns="45720" anchor="ctr"/>
          <a:lstStyle/>
          <a:p/>
        </p:txBody>
      </p:sp>
      <p:sp>
        <p:nvSpPr>
          <p:cNvPr id="46" name="box-46"/>
          <p:cNvSpPr/>
          <p:nvPr/>
        </p:nvSpPr>
        <p:spPr>
          <a:xfrm>
            <a:off x="6194360" y="3580000"/>
            <a:ext cx="2300000" cy="900000"/>
          </a:xfrm>
          <a:prstGeom prst="roundRect">
            <a:avLst/>
          </a:prstGeom>
          <a:solidFill>
            <a:srgbClr val="FFFFFF"/>
          </a:solidFill>
          <a:ln w="12700">
            <a:solidFill>
              <a:srgbClr val="353430"/>
            </a:solidFill>
          </a:ln>
        </p:spPr>
        <p:txBody>
          <a:bodyPr lIns="45720" rIns="45720" anchor="ctr"/>
          <a:lstStyle/>
          <a:p>
            <a:pPr algn="ctr">
              <a:buNone/>
            </a:pPr>
            <a:r>
              <a:rPr lang="fr-FR" sz="1500" b="1" dirty="0">
                <a:solidFill>
                  <a:srgbClr val="1E2761"/>
                </a:solidFill>
              </a:rPr>
              <a:t>postgresql</a:t>
            </a:r>
          </a:p>
        </p:txBody>
      </p:sp>
      <p:sp>
        <p:nvSpPr>
          <p:cNvPr id="47" name="leg-47"/>
          <p:cNvSpPr txBox="1"/>
          <p:nvPr/>
        </p:nvSpPr>
        <p:spPr>
          <a:xfrm>
            <a:off x="6194360" y="4580000"/>
            <a:ext cx="2300000" cy="420000"/>
          </a:xfrm>
          <a:prstGeom prst="rect">
            <a:avLst/>
          </a:prstGeom>
          <a:noFill/>
          <a:ln/>
        </p:spPr>
        <p:txBody>
          <a:bodyPr wrap="square" lIns="0" tIns="0" rIns="0" bIns="0" anchor="t"/>
          <a:lstStyle/>
          <a:p>
            <a:pPr indent="0" marL="0" algn="ctr">
              <a:buNone/>
            </a:pPr>
            <a:r>
              <a:rPr lang="fr-FR" sz="1200" b="0" dirty="0">
                <a:solidFill>
                  <a:srgbClr val="353430"/>
                </a:solidFill>
              </a:rPr>
              <a:t>la base qui stocke ce dictionnaire</a:t>
            </a:r>
          </a:p>
        </p:txBody>
      </p:sp>
      <p:sp>
        <p:nvSpPr>
          <p:cNvPr id="48" name="bande"/>
          <p:cNvSpPr/>
          <p:nvPr/>
        </p:nvSpPr>
        <p:spPr>
          <a:xfrm>
            <a:off x="594360" y="5120000"/>
            <a:ext cx="11003280" cy="800000"/>
          </a:xfrm>
          <a:prstGeom prst="roundRect">
            <a:avLst/>
          </a:prstGeom>
          <a:solidFill>
            <a:srgbClr val="FFFFFF"/>
          </a:solidFill>
          <a:ln/>
        </p:spPr>
        <p:txBody>
          <a:bodyPr lIns="45720" rIns="45720" anchor="ctr"/>
          <a:lstStyle/>
          <a:p/>
        </p:txBody>
      </p:sp>
      <p:sp>
        <p:nvSpPr>
          <p:cNvPr id="49" name="bande-txt"/>
          <p:cNvSpPr txBox="1"/>
          <p:nvPr/>
        </p:nvSpPr>
        <p:spPr>
          <a:xfrm>
            <a:off x="868680" y="5230000"/>
            <a:ext cx="10454640" cy="580000"/>
          </a:xfrm>
          <a:prstGeom prst="rect">
            <a:avLst/>
          </a:prstGeom>
          <a:noFill/>
          <a:ln/>
        </p:spPr>
        <p:txBody>
          <a:bodyPr wrap="square" lIns="0" tIns="0" rIns="0" bIns="0" anchor="ctr"/>
          <a:lstStyle/>
          <a:p>
            <a:pPr indent="0" marL="0" algn="l">
              <a:buNone/>
            </a:pPr>
            <a:r>
              <a:rPr lang="fr-FR" sz="1350" b="0" dirty="0">
                <a:solidFill>
                  <a:srgbClr val="1A1A1A"/>
                </a:solidFill>
              </a:rPr>
              <a:t>Cinq conteneurs Docker sur une seule machine : le même environnement pour tout le groupe. Un seul DataNode, donc réplication à 1 — nous démontrons le fonctionnement, pas la tolérance aux pannes.</a:t>
            </a:r>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5</a:t>
            </a:fld>
            <a:endParaRPr lang="en-US"/>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 Data Lake : trois couches, trois rôles</a:t>
            </a:r>
            <a:endParaRPr lang="en-US" sz="2800" dirty="0"/>
          </a:p>
        </p:txBody>
      </p:sp>
      <p:sp>
        <p:nvSpPr>
          <p:cNvPr id="3" name="carte-87"/>
          <p:cNvSpPr/>
          <p:nvPr/>
        </p:nvSpPr>
        <p:spPr>
          <a:xfrm>
            <a:off x="594360" y="1463040"/>
            <a:ext cx="10972800" cy="1005840"/>
          </a:xfrm>
          <a:prstGeom prst="roundRect">
            <a:avLst>
              <a:gd name="adj" fmla="val 9091"/>
            </a:avLst>
          </a:prstGeom>
          <a:solidFill>
            <a:srgbClr val="FFFFFF"/>
          </a:solidFill>
          <a:ln w="12700">
            <a:solidFill>
              <a:srgbClr val="E2E5EA"/>
            </a:solidFill>
            <a:prstDash val="solid"/>
          </a:ln>
        </p:spPr>
      </p:sp>
      <p:sp>
        <p:nvSpPr>
          <p:cNvPr id="4" name="cb-88"/>
          <p:cNvSpPr/>
          <p:nvPr/>
        </p:nvSpPr>
        <p:spPr>
          <a:xfrm>
            <a:off x="822960" y="1691640"/>
            <a:ext cx="1371600" cy="548640"/>
          </a:xfrm>
          <a:prstGeom prst="roundRect">
            <a:avLst>
              <a:gd name="adj" fmla="val 13333"/>
            </a:avLst>
          </a:prstGeom>
          <a:solidFill>
            <a:srgbClr val="353430"/>
          </a:solidFill>
          <a:ln w="12700">
            <a:solidFill>
              <a:srgbClr val="353430"/>
            </a:solidFill>
            <a:prstDash val="solid"/>
          </a:ln>
        </p:spPr>
      </p:sp>
      <p:sp>
        <p:nvSpPr>
          <p:cNvPr id="5" name="cn-89"/>
          <p:cNvSpPr txBox="1"/>
          <p:nvPr/>
        </p:nvSpPr>
        <p:spPr>
          <a:xfrm>
            <a:off x="822960" y="1691640"/>
            <a:ext cx="1371600" cy="548640"/>
          </a:xfrm>
          <a:prstGeom prst="rect">
            <a:avLst/>
          </a:prstGeom>
          <a:noFill/>
          <a:ln/>
        </p:spPr>
        <p:txBody>
          <a:bodyPr wrap="square" lIns="0" tIns="0" rIns="0" bIns="0" rtlCol="0" anchor="ctr"/>
          <a:lstStyle/>
          <a:p>
            <a:pPr algn="ctr" indent="0" marL="0">
              <a:buNone/>
            </a:pPr>
            <a:r>
              <a:rPr lang="en-US" sz="1500" b="1" dirty="0">
                <a:solidFill>
                  <a:srgbClr val="FFFFFF"/>
                </a:solidFill>
              </a:rPr>
              <a:t>raw</a:t>
            </a:r>
            <a:endParaRPr lang="en-US" sz="1500" dirty="0"/>
          </a:p>
        </p:txBody>
      </p:sp>
      <p:sp>
        <p:nvSpPr>
          <p:cNvPr id="6" name="cc-90"/>
          <p:cNvSpPr txBox="1"/>
          <p:nvPr/>
        </p:nvSpPr>
        <p:spPr>
          <a:xfrm>
            <a:off x="2423160" y="1645920"/>
            <a:ext cx="3657600" cy="320040"/>
          </a:xfrm>
          <a:prstGeom prst="rect">
            <a:avLst/>
          </a:prstGeom>
          <a:noFill/>
          <a:ln/>
        </p:spPr>
        <p:txBody>
          <a:bodyPr wrap="square" lIns="0" tIns="0" rIns="0" bIns="0" rtlCol="0" anchor="ctr"/>
          <a:lstStyle/>
          <a:p>
            <a:pPr indent="0" marL="0">
              <a:buNone/>
            </a:pPr>
            <a:r>
              <a:rPr lang="en-US" sz="1350" dirty="0">
                <a:solidFill>
                  <a:srgbClr val="1E2761"/>
                </a:solidFill>
                <a:latin typeface="Courier New" pitchFamily="34" charset="0"/>
                <a:ea typeface="Courier New" pitchFamily="34" charset="-122"/>
                <a:cs typeface="Courier New" pitchFamily="34" charset="-120"/>
              </a:rPr>
              <a:t>/datalake/raw/transactions/</a:t>
            </a:r>
            <a:endParaRPr lang="en-US" sz="1350" dirty="0"/>
          </a:p>
        </p:txBody>
      </p:sp>
      <p:sp>
        <p:nvSpPr>
          <p:cNvPr id="7" name="cd-91"/>
          <p:cNvSpPr txBox="1"/>
          <p:nvPr/>
        </p:nvSpPr>
        <p:spPr>
          <a:xfrm>
            <a:off x="2423160" y="1965960"/>
            <a:ext cx="8778240" cy="365760"/>
          </a:xfrm>
          <a:prstGeom prst="rect">
            <a:avLst/>
          </a:prstGeom>
          <a:noFill/>
          <a:ln/>
        </p:spPr>
        <p:txBody>
          <a:bodyPr wrap="square" lIns="0" tIns="0" rIns="0" bIns="0" rtlCol="0" anchor="t"/>
          <a:lstStyle/>
          <a:p>
            <a:pPr indent="0" marL="0">
              <a:buNone/>
            </a:pPr>
            <a:r>
              <a:rPr lang="en-US" sz="1400" dirty="0">
                <a:solidFill>
                  <a:srgbClr val="353430"/>
                </a:solidFill>
              </a:rPr>
              <a:t>Les données sources, jamais modifiées. Référence commune aux huit groupes.</a:t>
            </a:r>
            <a:endParaRPr lang="en-US" sz="1400" dirty="0"/>
          </a:p>
        </p:txBody>
      </p:sp>
      <p:sp>
        <p:nvSpPr>
          <p:cNvPr id="8" name="carte-92"/>
          <p:cNvSpPr/>
          <p:nvPr/>
        </p:nvSpPr>
        <p:spPr>
          <a:xfrm>
            <a:off x="594360" y="2651760"/>
            <a:ext cx="10972800" cy="1005840"/>
          </a:xfrm>
          <a:prstGeom prst="roundRect">
            <a:avLst>
              <a:gd name="adj" fmla="val 9091"/>
            </a:avLst>
          </a:prstGeom>
          <a:solidFill>
            <a:srgbClr val="FFFFFF"/>
          </a:solidFill>
          <a:ln w="12700">
            <a:solidFill>
              <a:srgbClr val="E2E5EA"/>
            </a:solidFill>
            <a:prstDash val="solid"/>
          </a:ln>
        </p:spPr>
      </p:sp>
      <p:sp>
        <p:nvSpPr>
          <p:cNvPr id="9" name="cb-93"/>
          <p:cNvSpPr/>
          <p:nvPr/>
        </p:nvSpPr>
        <p:spPr>
          <a:xfrm>
            <a:off x="822960" y="2880360"/>
            <a:ext cx="1371600" cy="548640"/>
          </a:xfrm>
          <a:prstGeom prst="roundRect">
            <a:avLst>
              <a:gd name="adj" fmla="val 13333"/>
            </a:avLst>
          </a:prstGeom>
          <a:solidFill>
            <a:srgbClr val="2A78D6"/>
          </a:solidFill>
          <a:ln w="12700">
            <a:solidFill>
              <a:srgbClr val="2A78D6"/>
            </a:solidFill>
            <a:prstDash val="solid"/>
          </a:ln>
        </p:spPr>
      </p:sp>
      <p:sp>
        <p:nvSpPr>
          <p:cNvPr id="10" name="cn-94"/>
          <p:cNvSpPr txBox="1"/>
          <p:nvPr/>
        </p:nvSpPr>
        <p:spPr>
          <a:xfrm>
            <a:off x="822960" y="2880360"/>
            <a:ext cx="1371600" cy="548640"/>
          </a:xfrm>
          <a:prstGeom prst="rect">
            <a:avLst/>
          </a:prstGeom>
          <a:noFill/>
          <a:ln/>
        </p:spPr>
        <p:txBody>
          <a:bodyPr wrap="square" lIns="0" tIns="0" rIns="0" bIns="0" rtlCol="0" anchor="ctr"/>
          <a:lstStyle/>
          <a:p>
            <a:pPr algn="ctr" indent="0" marL="0">
              <a:buNone/>
            </a:pPr>
            <a:r>
              <a:rPr lang="en-US" sz="1500" b="1" dirty="0">
                <a:solidFill>
                  <a:srgbClr val="FFFFFF"/>
                </a:solidFill>
              </a:rPr>
              <a:t>processed</a:t>
            </a:r>
            <a:endParaRPr lang="en-US" sz="1500" dirty="0"/>
          </a:p>
        </p:txBody>
      </p:sp>
      <p:sp>
        <p:nvSpPr>
          <p:cNvPr id="11" name="cc-95"/>
          <p:cNvSpPr txBox="1"/>
          <p:nvPr/>
        </p:nvSpPr>
        <p:spPr>
          <a:xfrm>
            <a:off x="2423160" y="2834640"/>
            <a:ext cx="3657600" cy="320040"/>
          </a:xfrm>
          <a:prstGeom prst="rect">
            <a:avLst/>
          </a:prstGeom>
          <a:noFill/>
          <a:ln/>
        </p:spPr>
        <p:txBody>
          <a:bodyPr wrap="square" lIns="0" tIns="0" rIns="0" bIns="0" rtlCol="0" anchor="ctr"/>
          <a:lstStyle/>
          <a:p>
            <a:pPr indent="0" marL="0">
              <a:buNone/>
            </a:pPr>
            <a:r>
              <a:rPr lang="en-US" sz="1350" dirty="0">
                <a:solidFill>
                  <a:srgbClr val="1E2761"/>
                </a:solidFill>
                <a:latin typeface="Courier New" pitchFamily="34" charset="0"/>
                <a:ea typeface="Courier New" pitchFamily="34" charset="-122"/>
                <a:cs typeface="Courier New" pitchFamily="34" charset="-120"/>
              </a:rPr>
              <a:t>/datalake/processed/</a:t>
            </a:r>
            <a:endParaRPr lang="en-US" sz="1350" dirty="0"/>
          </a:p>
        </p:txBody>
      </p:sp>
      <p:sp>
        <p:nvSpPr>
          <p:cNvPr id="12" name="cd-96"/>
          <p:cNvSpPr txBox="1"/>
          <p:nvPr/>
        </p:nvSpPr>
        <p:spPr>
          <a:xfrm>
            <a:off x="2423160" y="3154680"/>
            <a:ext cx="8778240" cy="365760"/>
          </a:xfrm>
          <a:prstGeom prst="rect">
            <a:avLst/>
          </a:prstGeom>
          <a:noFill/>
          <a:ln/>
        </p:spPr>
        <p:txBody>
          <a:bodyPr wrap="square" lIns="0" tIns="0" rIns="0" bIns="0" rtlCol="0" anchor="t"/>
          <a:lstStyle/>
          <a:p>
            <a:pPr indent="0" marL="0">
              <a:buNone/>
            </a:pPr>
            <a:r>
              <a:rPr lang="en-US" sz="1400" dirty="0">
                <a:solidFill>
                  <a:srgbClr val="353430"/>
                </a:solidFill>
              </a:rPr>
              <a:t>Les données retravaillées : notre table ORC partitionnée.</a:t>
            </a:r>
            <a:endParaRPr lang="en-US" sz="1400" dirty="0"/>
          </a:p>
        </p:txBody>
      </p:sp>
      <p:sp>
        <p:nvSpPr>
          <p:cNvPr id="13" name="carte-97"/>
          <p:cNvSpPr/>
          <p:nvPr/>
        </p:nvSpPr>
        <p:spPr>
          <a:xfrm>
            <a:off x="594360" y="3840480"/>
            <a:ext cx="10972800" cy="1005840"/>
          </a:xfrm>
          <a:prstGeom prst="roundRect">
            <a:avLst>
              <a:gd name="adj" fmla="val 9091"/>
            </a:avLst>
          </a:prstGeom>
          <a:solidFill>
            <a:srgbClr val="FFFFFF"/>
          </a:solidFill>
          <a:ln w="12700">
            <a:solidFill>
              <a:srgbClr val="E2E5EA"/>
            </a:solidFill>
            <a:prstDash val="solid"/>
          </a:ln>
        </p:spPr>
      </p:sp>
      <p:sp>
        <p:nvSpPr>
          <p:cNvPr id="14" name="cb-98"/>
          <p:cNvSpPr/>
          <p:nvPr/>
        </p:nvSpPr>
        <p:spPr>
          <a:xfrm>
            <a:off x="822960" y="4069080"/>
            <a:ext cx="1371600" cy="548640"/>
          </a:xfrm>
          <a:prstGeom prst="roundRect">
            <a:avLst>
              <a:gd name="adj" fmla="val 13333"/>
            </a:avLst>
          </a:prstGeom>
          <a:solidFill>
            <a:srgbClr val="1BAF7A"/>
          </a:solidFill>
          <a:ln w="12700">
            <a:solidFill>
              <a:srgbClr val="1BAF7A"/>
            </a:solidFill>
            <a:prstDash val="solid"/>
          </a:ln>
        </p:spPr>
      </p:sp>
      <p:sp>
        <p:nvSpPr>
          <p:cNvPr id="15" name="cn-99"/>
          <p:cNvSpPr txBox="1"/>
          <p:nvPr/>
        </p:nvSpPr>
        <p:spPr>
          <a:xfrm>
            <a:off x="822960" y="4069080"/>
            <a:ext cx="1371600" cy="548640"/>
          </a:xfrm>
          <a:prstGeom prst="rect">
            <a:avLst/>
          </a:prstGeom>
          <a:noFill/>
          <a:ln/>
        </p:spPr>
        <p:txBody>
          <a:bodyPr wrap="square" lIns="0" tIns="0" rIns="0" bIns="0" rtlCol="0" anchor="ctr"/>
          <a:lstStyle/>
          <a:p>
            <a:pPr algn="ctr" indent="0" marL="0">
              <a:buNone/>
            </a:pPr>
            <a:r>
              <a:rPr lang="en-US" sz="1500" b="1" dirty="0">
                <a:solidFill>
                  <a:srgbClr val="FFFFFF"/>
                </a:solidFill>
              </a:rPr>
              <a:t>results</a:t>
            </a:r>
            <a:endParaRPr lang="en-US" sz="1500" dirty="0"/>
          </a:p>
        </p:txBody>
      </p:sp>
      <p:sp>
        <p:nvSpPr>
          <p:cNvPr id="16" name="cc-100"/>
          <p:cNvSpPr txBox="1"/>
          <p:nvPr/>
        </p:nvSpPr>
        <p:spPr>
          <a:xfrm>
            <a:off x="2423160" y="4023360"/>
            <a:ext cx="3657600" cy="320040"/>
          </a:xfrm>
          <a:prstGeom prst="rect">
            <a:avLst/>
          </a:prstGeom>
          <a:noFill/>
          <a:ln/>
        </p:spPr>
        <p:txBody>
          <a:bodyPr wrap="square" lIns="0" tIns="0" rIns="0" bIns="0" rtlCol="0" anchor="ctr"/>
          <a:lstStyle/>
          <a:p>
            <a:pPr indent="0" marL="0">
              <a:buNone/>
            </a:pPr>
            <a:r>
              <a:rPr lang="en-US" sz="1350" dirty="0">
                <a:solidFill>
                  <a:srgbClr val="1E2761"/>
                </a:solidFill>
                <a:latin typeface="Courier New" pitchFamily="34" charset="0"/>
                <a:ea typeface="Courier New" pitchFamily="34" charset="-122"/>
                <a:cs typeface="Courier New" pitchFamily="34" charset="-120"/>
              </a:rPr>
              <a:t>/datalake/results/hive/</a:t>
            </a:r>
            <a:endParaRPr lang="en-US" sz="1350" dirty="0"/>
          </a:p>
        </p:txBody>
      </p:sp>
      <p:sp>
        <p:nvSpPr>
          <p:cNvPr id="17" name="cd-101"/>
          <p:cNvSpPr txBox="1"/>
          <p:nvPr/>
        </p:nvSpPr>
        <p:spPr>
          <a:xfrm>
            <a:off x="2423160" y="4343400"/>
            <a:ext cx="8778240" cy="365760"/>
          </a:xfrm>
          <a:prstGeom prst="rect">
            <a:avLst/>
          </a:prstGeom>
          <a:noFill/>
          <a:ln/>
        </p:spPr>
        <p:txBody>
          <a:bodyPr wrap="square" lIns="0" tIns="0" rIns="0" bIns="0" rtlCol="0" anchor="t"/>
          <a:lstStyle/>
          <a:p>
            <a:pPr indent="0" marL="0">
              <a:buNone/>
            </a:pPr>
            <a:r>
              <a:rPr lang="en-US" sz="1400" dirty="0">
                <a:solidFill>
                  <a:srgbClr val="353430"/>
                </a:solidFill>
              </a:rPr>
              <a:t>Les livrables destinés au groupe suivant. Douze résultats y sont déposés.</a:t>
            </a:r>
            <a:endParaRPr lang="en-US" sz="1400" dirty="0"/>
          </a:p>
        </p:txBody>
      </p:sp>
      <p:sp>
        <p:nvSpPr>
          <p:cNvPr id="18" name="Text 16"/>
          <p:cNvSpPr txBox="1"/>
          <p:nvPr/>
        </p:nvSpPr>
        <p:spPr>
          <a:xfrm>
            <a:off x="594360" y="5120640"/>
            <a:ext cx="10972800" cy="365760"/>
          </a:xfrm>
          <a:prstGeom prst="rect">
            <a:avLst/>
          </a:prstGeom>
          <a:noFill/>
          <a:ln/>
        </p:spPr>
        <p:txBody>
          <a:bodyPr wrap="square" lIns="0" tIns="0" rIns="0" bIns="0" rtlCol="0" anchor="ctr"/>
          <a:lstStyle/>
          <a:p>
            <a:pPr indent="0" marL="0">
              <a:buNone/>
            </a:pPr>
            <a:r>
              <a:rPr lang="en-US" sz="1400" i="1" dirty="0">
                <a:solidFill>
                  <a:srgbClr val="353430"/>
                </a:solidFill>
              </a:rPr>
              <a:t>Cette arborescence est celle imposée au Groupe 2. Nous l'avons recréée faute de livraison — le livrable du Groupe 5 emploie exactement les mêmes chemins, ce qui confirme la structure.</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6</a:t>
            </a:fld>
            <a:endParaRPr lang="en-US"/>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Hive n'est pas une base de données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0972800" cy="914400"/>
        </p:xfrm>
        <a:graphic>
          <a:graphicData uri="http://schemas.openxmlformats.org/drawingml/2006/table">
            <a:tbl>
              <a:tblPr/>
              <a:tblGrid>
                <a:gridCol w="2926080"/>
                <a:gridCol w="4023360"/>
                <a:gridCol w="4023360"/>
              </a:tblGrid>
              <a:tr h="438912">
                <a:tc>
                  <a:txBody>
                    <a:bodyPr/>
                    <a:lstStyle/>
                    <a:p>
                      <a:pPr indent="0" marL="0">
                        <a:buNone/>
                      </a:pP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rPr>
                        <a:t>Base relationnelle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rPr>
                        <a:t>Hive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1E2761"/>
                    </a:solidFill>
                  </a:tcPr>
                </a:tc>
              </a:tr>
              <a:tr h="438912">
                <a:tc>
                  <a:txBody>
                    <a:bodyPr/>
                    <a:lstStyle/>
                    <a:p>
                      <a:pPr indent="0" marL="0">
                        <a:buNone/>
                      </a:pPr>
                      <a:r>
                        <a:rPr lang="en-US" sz="1400" b="1" dirty="0">
                          <a:solidFill>
                            <a:srgbClr val="1A1A1A"/>
                          </a:solidFill>
                        </a:rPr>
                        <a:t>Les données vivent</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dans la base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E2761"/>
                          </a:solidFill>
                        </a:rPr>
                        <a:t>dans HDFS, fichiers ordinaires</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A1A1A"/>
                          </a:solidFill>
                        </a:rPr>
                        <a:t>Le schéma s'applique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à l'écriture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E2761"/>
                          </a:solidFill>
                        </a:rPr>
                        <a:t>à la lecture (schema on read)</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A1A1A"/>
                          </a:solidFill>
                        </a:rPr>
                        <a:t>Modifier une ligne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UPDATE, DELETE naturels</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E2761"/>
                          </a:solidFill>
                        </a:rPr>
                        <a:t>très limité, à éviter</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A1A1A"/>
                          </a:solidFill>
                        </a:rPr>
                        <a:t>Temps de réponse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millisecondes</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E2761"/>
                          </a:solidFill>
                        </a:rPr>
                        <a:t>secondes à minutes</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A1A1A"/>
                          </a:solidFill>
                        </a:rPr>
                        <a:t>Usage</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rPr>
                        <a:t>transactions du quotidien</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c>
                  <a:txBody>
                    <a:bodyPr/>
                    <a:lstStyle/>
                    <a:p>
                      <a:pPr indent="0" marL="0">
                        <a:buNone/>
                      </a:pPr>
                      <a:r>
                        <a:rPr lang="en-US" sz="1400" dirty="0">
                          <a:solidFill>
                            <a:srgbClr val="1E2761"/>
                          </a:solidFill>
                        </a:rPr>
                        <a:t>analyse de gros volumes</a:t>
                      </a:r>
                      <a:endParaRPr lang="en-US" sz="1400" dirty="0"/>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FFFFFF"/>
                    </a:solidFill>
                  </a:tcPr>
                </a:tc>
              </a:tr>
            </a:tbl>
          </a:graphicData>
        </a:graphic>
      </p:graphicFrame>
      <p:sp>
        <p:nvSpPr>
          <p:cNvPr id="4" name="carte-102"/>
          <p:cNvSpPr/>
          <p:nvPr/>
        </p:nvSpPr>
        <p:spPr>
          <a:xfrm>
            <a:off x="594360" y="4297680"/>
            <a:ext cx="10972800" cy="1051560"/>
          </a:xfrm>
          <a:prstGeom prst="roundRect">
            <a:avLst>
              <a:gd name="adj" fmla="val 8696"/>
            </a:avLst>
          </a:prstGeom>
          <a:solidFill>
            <a:srgbClr val="FFFFFF"/>
          </a:solidFill>
          <a:ln w="12700">
            <a:solidFill>
              <a:srgbClr val="FFFFFF"/>
            </a:solidFill>
            <a:prstDash val="solid"/>
          </a:ln>
        </p:spPr>
      </p:sp>
      <p:sp>
        <p:nvSpPr>
          <p:cNvPr id="5" name="Text 2"/>
          <p:cNvSpPr txBox="1"/>
          <p:nvPr/>
        </p:nvSpPr>
        <p:spPr>
          <a:xfrm>
            <a:off x="868680" y="4480560"/>
            <a:ext cx="10424160" cy="731520"/>
          </a:xfrm>
          <a:prstGeom prst="rect">
            <a:avLst/>
          </a:prstGeom>
          <a:noFill/>
          <a:ln/>
        </p:spPr>
        <p:txBody>
          <a:bodyPr wrap="square" lIns="0" tIns="0" rIns="0" bIns="0" rtlCol="0" anchor="ctr"/>
          <a:lstStyle/>
          <a:p>
            <a:pPr indent="0" marL="0">
              <a:lnSpc>
                <a:spcPct val="120000"/>
              </a:lnSpc>
              <a:buNone/>
            </a:pPr>
            <a:r>
              <a:rPr lang="en-US" sz="1450" b="1" dirty="0">
                <a:solidFill>
                  <a:srgbClr val="1E2761"/>
                </a:solidFill>
              </a:rPr>
              <a:t>Ce que Hive apporte : </a:t>
            </a:r>
            <a:pPr indent="0" marL="0">
              <a:lnSpc>
                <a:spcPct val="120000"/>
              </a:lnSpc>
              <a:buNone/>
            </a:pPr>
            <a:r>
              <a:rPr lang="en-US" sz="1450" dirty="0">
                <a:solidFill>
                  <a:srgbClr val="1A1A1A"/>
                </a:solidFill>
              </a:rPr>
              <a:t>on écrit du SQL, Hive le traduit en jobs MapReduce. Plus besoin d'un mapper.py et d'un reducer.py par question.</a:t>
            </a:r>
            <a:endParaRPr lang="en-US" sz="1450" dirty="0"/>
          </a:p>
          <a:p>
            <a:pPr indent="0" marL="0">
              <a:lnSpc>
                <a:spcPct val="120000"/>
              </a:lnSpc>
              <a:buNone/>
            </a:pPr>
            <a:r>
              <a:rPr lang="en-US" sz="1450" b="1" dirty="0">
                <a:solidFill>
                  <a:srgbClr val="EB6834"/>
                </a:solidFill>
              </a:rPr>
              <a:t>Ce qu'il coûte : </a:t>
            </a:r>
            <a:pPr indent="0" marL="0">
              <a:lnSpc>
                <a:spcPct val="120000"/>
              </a:lnSpc>
              <a:buNone/>
            </a:pPr>
            <a:r>
              <a:rPr lang="en-US" sz="1450" dirty="0">
                <a:solidFill>
                  <a:srgbClr val="1A1A1A"/>
                </a:solidFill>
              </a:rPr>
              <a:t>chaque requête lance un job. Compter en secondes, jamais en millisecondes.</a:t>
            </a:r>
            <a:endParaRPr lang="en-US" sz="145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7</a:t>
            </a:fld>
            <a:endParaRPr lang="en-US"/>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Décrire le fichier à Hive</a:t>
            </a:r>
            <a:endParaRPr lang="en-US" sz="2800" dirty="0"/>
          </a:p>
        </p:txBody>
      </p:sp>
      <p:sp>
        <p:nvSpPr>
          <p:cNvPr id="3" name="bloc-103"/>
          <p:cNvSpPr/>
          <p:nvPr/>
        </p:nvSpPr>
        <p:spPr>
          <a:xfrm>
            <a:off x="594360" y="1325880"/>
            <a:ext cx="6144768" cy="3108960"/>
          </a:xfrm>
          <a:prstGeom prst="roundRect">
            <a:avLst>
              <a:gd name="adj" fmla="val 1765"/>
            </a:avLst>
          </a:prstGeom>
          <a:solidFill>
            <a:srgbClr val="F5F6F8"/>
          </a:solidFill>
          <a:ln w="12700">
            <a:solidFill>
              <a:srgbClr val="E2E5EA"/>
            </a:solidFill>
            <a:prstDash val="solid"/>
          </a:ln>
        </p:spPr>
      </p:sp>
      <p:sp>
        <p:nvSpPr>
          <p:cNvPr id="4" name="code-104"/>
          <p:cNvSpPr txBox="1"/>
          <p:nvPr/>
        </p:nvSpPr>
        <p:spPr>
          <a:xfrm>
            <a:off x="758952" y="1435608"/>
            <a:ext cx="5815584" cy="2889504"/>
          </a:xfrm>
          <a:prstGeom prst="rect">
            <a:avLst/>
          </a:prstGeom>
          <a:noFill/>
          <a:ln/>
        </p:spPr>
        <p:txBody>
          <a:bodyPr wrap="square" lIns="0" tIns="0" rIns="0" bIns="0" rtlCol="0" anchor="t"/>
          <a:lstStyle/>
          <a:p>
            <a:pPr algn="l" indent="0" marL="0">
              <a:buNone/>
            </a:pPr>
            <a:r>
              <a:rPr lang="en-US" sz="1350" dirty="0">
                <a:solidFill>
                  <a:srgbClr val="1A1A1A"/>
                </a:solidFill>
                <a:latin typeface="Courier New" pitchFamily="34" charset="0"/>
                <a:ea typeface="Courier New" pitchFamily="34" charset="-122"/>
                <a:cs typeface="Courier New" pitchFamily="34" charset="-120"/>
              </a:rPr>
              <a:t>CREATE EXTERNAL TABLE transactions (</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transaction_id STRING,</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datetime       STRING,</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                    -- les 19 colonnes</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montant        DOUBLE</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ROW FORMAT DELIMITED</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FIELDS TERMINATED BY ','</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STORED AS TEXTFILE</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LOCATION '/datalake/raw/transactions/medium'</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TBLPROPERTIES ("skip.header.line.count"="1");</a:t>
            </a:r>
            <a:endParaRPr lang="en-US" sz="1350" dirty="0"/>
          </a:p>
        </p:txBody>
      </p:sp>
      <p:sp>
        <p:nvSpPr>
          <p:cNvPr id="5" name="pt-105"/>
          <p:cNvSpPr txBox="1"/>
          <p:nvPr/>
        </p:nvSpPr>
        <p:spPr>
          <a:xfrm>
            <a:off x="7068312" y="1325880"/>
            <a:ext cx="4498848" cy="320040"/>
          </a:xfrm>
          <a:prstGeom prst="rect">
            <a:avLst/>
          </a:prstGeom>
          <a:noFill/>
          <a:ln/>
        </p:spPr>
        <p:txBody>
          <a:bodyPr wrap="square" lIns="0" tIns="0" rIns="0" bIns="0" rtlCol="0" anchor="ctr"/>
          <a:lstStyle/>
          <a:p>
            <a:pPr indent="0" marL="0">
              <a:buNone/>
            </a:pPr>
            <a:r>
              <a:rPr lang="en-US" sz="1450" b="1" dirty="0">
                <a:solidFill>
                  <a:srgbClr val="2A78D6"/>
                </a:solidFill>
                <a:latin typeface="Courier New" pitchFamily="34" charset="0"/>
                <a:ea typeface="Courier New" pitchFamily="34" charset="-122"/>
                <a:cs typeface="Courier New" pitchFamily="34" charset="-120"/>
              </a:rPr>
              <a:t>EXTERNAL</a:t>
            </a:r>
            <a:endParaRPr lang="en-US" sz="1450" dirty="0"/>
          </a:p>
        </p:txBody>
      </p:sp>
      <p:sp>
        <p:nvSpPr>
          <p:cNvPr id="6" name="pd-106"/>
          <p:cNvSpPr txBox="1"/>
          <p:nvPr/>
        </p:nvSpPr>
        <p:spPr>
          <a:xfrm>
            <a:off x="7068312" y="1645920"/>
            <a:ext cx="4498848" cy="68580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Les fichiers n'appartiennent pas à Hive. Un DROP TABLE n'efface que la description, jamais les données du projet.</a:t>
            </a:r>
            <a:endParaRPr lang="en-US" sz="1400" dirty="0"/>
          </a:p>
        </p:txBody>
      </p:sp>
      <p:sp>
        <p:nvSpPr>
          <p:cNvPr id="7" name="pt-107"/>
          <p:cNvSpPr txBox="1"/>
          <p:nvPr/>
        </p:nvSpPr>
        <p:spPr>
          <a:xfrm>
            <a:off x="7068312" y="2404872"/>
            <a:ext cx="4498848" cy="320040"/>
          </a:xfrm>
          <a:prstGeom prst="rect">
            <a:avLst/>
          </a:prstGeom>
          <a:noFill/>
          <a:ln/>
        </p:spPr>
        <p:txBody>
          <a:bodyPr wrap="square" lIns="0" tIns="0" rIns="0" bIns="0" rtlCol="0" anchor="ctr"/>
          <a:lstStyle/>
          <a:p>
            <a:pPr indent="0" marL="0">
              <a:buNone/>
            </a:pPr>
            <a:r>
              <a:rPr lang="en-US" sz="1450" b="1" dirty="0">
                <a:solidFill>
                  <a:srgbClr val="2A78D6"/>
                </a:solidFill>
                <a:latin typeface="Courier New" pitchFamily="34" charset="0"/>
                <a:ea typeface="Courier New" pitchFamily="34" charset="-122"/>
                <a:cs typeface="Courier New" pitchFamily="34" charset="-120"/>
              </a:rPr>
              <a:t>LOCATION</a:t>
            </a:r>
            <a:endParaRPr lang="en-US" sz="1450" dirty="0"/>
          </a:p>
        </p:txBody>
      </p:sp>
      <p:sp>
        <p:nvSpPr>
          <p:cNvPr id="8" name="pd-108"/>
          <p:cNvSpPr txBox="1"/>
          <p:nvPr/>
        </p:nvSpPr>
        <p:spPr>
          <a:xfrm>
            <a:off x="7068312" y="2724912"/>
            <a:ext cx="4498848" cy="68580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Un dossier, pas un fichier. Tout fichier déposé dedans entre dans la table.</a:t>
            </a:r>
            <a:endParaRPr lang="en-US" sz="1400" dirty="0"/>
          </a:p>
        </p:txBody>
      </p:sp>
      <p:sp>
        <p:nvSpPr>
          <p:cNvPr id="9" name="pt-109"/>
          <p:cNvSpPr txBox="1"/>
          <p:nvPr/>
        </p:nvSpPr>
        <p:spPr>
          <a:xfrm>
            <a:off x="7068312" y="3483864"/>
            <a:ext cx="4498848" cy="320040"/>
          </a:xfrm>
          <a:prstGeom prst="rect">
            <a:avLst/>
          </a:prstGeom>
          <a:noFill/>
          <a:ln/>
        </p:spPr>
        <p:txBody>
          <a:bodyPr wrap="square" lIns="0" tIns="0" rIns="0" bIns="0" rtlCol="0" anchor="ctr"/>
          <a:lstStyle/>
          <a:p>
            <a:pPr indent="0" marL="0">
              <a:buNone/>
            </a:pPr>
            <a:r>
              <a:rPr lang="en-US" sz="1450" b="1" dirty="0">
                <a:solidFill>
                  <a:srgbClr val="EB6834"/>
                </a:solidFill>
                <a:latin typeface="Courier New" pitchFamily="34" charset="0"/>
                <a:ea typeface="Courier New" pitchFamily="34" charset="-122"/>
                <a:cs typeface="Courier New" pitchFamily="34" charset="-120"/>
              </a:rPr>
              <a:t>skip.header</a:t>
            </a:r>
            <a:endParaRPr lang="en-US" sz="1450" dirty="0"/>
          </a:p>
        </p:txBody>
      </p:sp>
      <p:sp>
        <p:nvSpPr>
          <p:cNvPr id="10" name="pd-110"/>
          <p:cNvSpPr txBox="1"/>
          <p:nvPr/>
        </p:nvSpPr>
        <p:spPr>
          <a:xfrm>
            <a:off x="7068312" y="3803904"/>
            <a:ext cx="4498848" cy="68580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Sans cela, la ligne de titres serait lue comme une transaction et fausserait tous les totaux.</a:t>
            </a:r>
            <a:endParaRPr lang="en-US" sz="1400" dirty="0"/>
          </a:p>
        </p:txBody>
      </p:sp>
      <p:sp>
        <p:nvSpPr>
          <p:cNvPr id="11" name="carte-111"/>
          <p:cNvSpPr/>
          <p:nvPr/>
        </p:nvSpPr>
        <p:spPr>
          <a:xfrm>
            <a:off x="594360" y="4617720"/>
            <a:ext cx="10972800" cy="777240"/>
          </a:xfrm>
          <a:prstGeom prst="roundRect">
            <a:avLst>
              <a:gd name="adj" fmla="val 11765"/>
            </a:avLst>
          </a:prstGeom>
          <a:solidFill>
            <a:srgbClr val="1E2761"/>
          </a:solidFill>
          <a:ln w="12700">
            <a:solidFill>
              <a:srgbClr val="1E2761"/>
            </a:solidFill>
            <a:prstDash val="solid"/>
          </a:ln>
        </p:spPr>
      </p:sp>
      <p:sp>
        <p:nvSpPr>
          <p:cNvPr id="12" name="Text 10"/>
          <p:cNvSpPr txBox="1"/>
          <p:nvPr/>
        </p:nvSpPr>
        <p:spPr>
          <a:xfrm>
            <a:off x="868680" y="4754880"/>
            <a:ext cx="10424160" cy="502920"/>
          </a:xfrm>
          <a:prstGeom prst="rect">
            <a:avLst/>
          </a:prstGeom>
          <a:noFill/>
          <a:ln/>
        </p:spPr>
        <p:txBody>
          <a:bodyPr wrap="square" lIns="0" tIns="0" rIns="0" bIns="0" rtlCol="0" anchor="ctr"/>
          <a:lstStyle/>
          <a:p>
            <a:pPr indent="0" marL="0">
              <a:buNone/>
            </a:pPr>
            <a:r>
              <a:rPr lang="en-US" sz="1500" b="1" dirty="0">
                <a:solidFill>
                  <a:srgbClr val="FFFFFF"/>
                </a:solidFill>
              </a:rPr>
              <a:t>Ce que cette commande fait dans HDFS : rien. </a:t>
            </a:r>
            <a:pPr indent="0" marL="0">
              <a:buNone/>
            </a:pPr>
            <a:r>
              <a:rPr lang="en-US" sz="1500" dirty="0">
                <a:solidFill>
                  <a:srgbClr val="CADCFC"/>
                </a:solidFill>
              </a:rPr>
              <a:t>Pas un octet déplacé. Hive écrit seulement une fiche descriptive dans son metastore.</a:t>
            </a:r>
            <a:endParaRPr lang="en-US" sz="15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8</a:t>
            </a:fld>
            <a:endParaRPr lang="en-US"/>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Vérifier avant d'analyser</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Sept contrôles exécutés dans Hive avant la première requête d'analyse.</a:t>
            </a:r>
            <a:endParaRPr lang="en-US" sz="1500" dirty="0"/>
          </a:p>
        </p:txBody>
      </p:sp>
      <p:sp>
        <p:nvSpPr>
          <p:cNvPr id="4" name="carte-112"/>
          <p:cNvSpPr/>
          <p:nvPr/>
        </p:nvSpPr>
        <p:spPr>
          <a:xfrm>
            <a:off x="594360" y="1645920"/>
            <a:ext cx="5303520" cy="457200"/>
          </a:xfrm>
          <a:prstGeom prst="roundRect">
            <a:avLst>
              <a:gd name="adj" fmla="val 20000"/>
            </a:avLst>
          </a:prstGeom>
          <a:solidFill>
            <a:srgbClr val="FFFFFF"/>
          </a:solidFill>
          <a:ln w="12700">
            <a:solidFill>
              <a:srgbClr val="E2E5EA"/>
            </a:solidFill>
            <a:prstDash val="solid"/>
          </a:ln>
        </p:spPr>
      </p:sp>
      <p:sp>
        <p:nvSpPr>
          <p:cNvPr id="5" name="cn-113"/>
          <p:cNvSpPr txBox="1"/>
          <p:nvPr/>
        </p:nvSpPr>
        <p:spPr>
          <a:xfrm>
            <a:off x="777240" y="1645920"/>
            <a:ext cx="3474720" cy="457200"/>
          </a:xfrm>
          <a:prstGeom prst="rect">
            <a:avLst/>
          </a:prstGeom>
          <a:noFill/>
          <a:ln/>
        </p:spPr>
        <p:txBody>
          <a:bodyPr wrap="square" lIns="0" tIns="0" rIns="0" bIns="0" rtlCol="0" anchor="ctr"/>
          <a:lstStyle/>
          <a:p>
            <a:pPr indent="0" marL="0">
              <a:buNone/>
            </a:pPr>
            <a:r>
              <a:rPr lang="en-US" sz="1400" dirty="0">
                <a:solidFill>
                  <a:srgbClr val="1A1A1A"/>
                </a:solidFill>
              </a:rPr>
              <a:t>Lignes</a:t>
            </a:r>
            <a:endParaRPr lang="en-US" sz="1400" dirty="0"/>
          </a:p>
        </p:txBody>
      </p:sp>
      <p:sp>
        <p:nvSpPr>
          <p:cNvPr id="6" name="cv-114"/>
          <p:cNvSpPr txBox="1"/>
          <p:nvPr/>
        </p:nvSpPr>
        <p:spPr>
          <a:xfrm>
            <a:off x="4160520" y="1645920"/>
            <a:ext cx="1188720" cy="457200"/>
          </a:xfrm>
          <a:prstGeom prst="rect">
            <a:avLst/>
          </a:prstGeom>
          <a:noFill/>
          <a:ln/>
        </p:spPr>
        <p:txBody>
          <a:bodyPr wrap="square" lIns="0" tIns="0" rIns="0" bIns="0" rtlCol="0" anchor="ctr"/>
          <a:lstStyle/>
          <a:p>
            <a:pPr algn="r" indent="0" marL="0">
              <a:buNone/>
            </a:pPr>
            <a:r>
              <a:rPr lang="en-US" sz="1500" b="1" dirty="0">
                <a:solidFill>
                  <a:srgbClr val="1E2761"/>
                </a:solidFill>
              </a:rPr>
              <a:t>500 000</a:t>
            </a:r>
            <a:endParaRPr lang="en-US" sz="1500" dirty="0"/>
          </a:p>
        </p:txBody>
      </p:sp>
      <p:sp>
        <p:nvSpPr>
          <p:cNvPr id="7" name="ck-115"/>
          <p:cNvSpPr txBox="1"/>
          <p:nvPr/>
        </p:nvSpPr>
        <p:spPr>
          <a:xfrm>
            <a:off x="5440680" y="1645920"/>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8" name="carte-116"/>
          <p:cNvSpPr/>
          <p:nvPr/>
        </p:nvSpPr>
        <p:spPr>
          <a:xfrm>
            <a:off x="6172200" y="1645920"/>
            <a:ext cx="5303520" cy="457200"/>
          </a:xfrm>
          <a:prstGeom prst="roundRect">
            <a:avLst>
              <a:gd name="adj" fmla="val 20000"/>
            </a:avLst>
          </a:prstGeom>
          <a:solidFill>
            <a:srgbClr val="FFFFFF"/>
          </a:solidFill>
          <a:ln w="12700">
            <a:solidFill>
              <a:srgbClr val="E2E5EA"/>
            </a:solidFill>
            <a:prstDash val="solid"/>
          </a:ln>
        </p:spPr>
      </p:sp>
      <p:sp>
        <p:nvSpPr>
          <p:cNvPr id="9" name="cn-117"/>
          <p:cNvSpPr txBox="1"/>
          <p:nvPr/>
        </p:nvSpPr>
        <p:spPr>
          <a:xfrm>
            <a:off x="6355080" y="1645920"/>
            <a:ext cx="3474720" cy="457200"/>
          </a:xfrm>
          <a:prstGeom prst="rect">
            <a:avLst/>
          </a:prstGeom>
          <a:noFill/>
          <a:ln/>
        </p:spPr>
        <p:txBody>
          <a:bodyPr wrap="square" lIns="0" tIns="0" rIns="0" bIns="0" rtlCol="0" anchor="ctr"/>
          <a:lstStyle/>
          <a:p>
            <a:pPr indent="0" marL="0">
              <a:buNone/>
            </a:pPr>
            <a:r>
              <a:rPr lang="en-US" sz="1400" dirty="0">
                <a:solidFill>
                  <a:srgbClr val="1A1A1A"/>
                </a:solidFill>
              </a:rPr>
              <a:t>Identifiants distincts</a:t>
            </a:r>
            <a:endParaRPr lang="en-US" sz="1400" dirty="0"/>
          </a:p>
        </p:txBody>
      </p:sp>
      <p:sp>
        <p:nvSpPr>
          <p:cNvPr id="10" name="cv-118"/>
          <p:cNvSpPr txBox="1"/>
          <p:nvPr/>
        </p:nvSpPr>
        <p:spPr>
          <a:xfrm>
            <a:off x="9738360" y="1645920"/>
            <a:ext cx="1188720" cy="457200"/>
          </a:xfrm>
          <a:prstGeom prst="rect">
            <a:avLst/>
          </a:prstGeom>
          <a:noFill/>
          <a:ln/>
        </p:spPr>
        <p:txBody>
          <a:bodyPr wrap="square" lIns="0" tIns="0" rIns="0" bIns="0" rtlCol="0" anchor="ctr"/>
          <a:lstStyle/>
          <a:p>
            <a:pPr algn="r" indent="0" marL="0">
              <a:buNone/>
            </a:pPr>
            <a:r>
              <a:rPr lang="en-US" sz="1500" b="1" dirty="0">
                <a:solidFill>
                  <a:srgbClr val="1E2761"/>
                </a:solidFill>
              </a:rPr>
              <a:t>500 000</a:t>
            </a:r>
            <a:endParaRPr lang="en-US" sz="1500" dirty="0"/>
          </a:p>
        </p:txBody>
      </p:sp>
      <p:sp>
        <p:nvSpPr>
          <p:cNvPr id="11" name="ck-119"/>
          <p:cNvSpPr txBox="1"/>
          <p:nvPr/>
        </p:nvSpPr>
        <p:spPr>
          <a:xfrm>
            <a:off x="11018520" y="1645920"/>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12" name="carte-120"/>
          <p:cNvSpPr/>
          <p:nvPr/>
        </p:nvSpPr>
        <p:spPr>
          <a:xfrm>
            <a:off x="594360" y="2212848"/>
            <a:ext cx="5303520" cy="457200"/>
          </a:xfrm>
          <a:prstGeom prst="roundRect">
            <a:avLst>
              <a:gd name="adj" fmla="val 20000"/>
            </a:avLst>
          </a:prstGeom>
          <a:solidFill>
            <a:srgbClr val="FFFFFF"/>
          </a:solidFill>
          <a:ln w="12700">
            <a:solidFill>
              <a:srgbClr val="E2E5EA"/>
            </a:solidFill>
            <a:prstDash val="solid"/>
          </a:ln>
        </p:spPr>
      </p:sp>
      <p:sp>
        <p:nvSpPr>
          <p:cNvPr id="13" name="cn-121"/>
          <p:cNvSpPr txBox="1"/>
          <p:nvPr/>
        </p:nvSpPr>
        <p:spPr>
          <a:xfrm>
            <a:off x="777240" y="2212848"/>
            <a:ext cx="3474720" cy="457200"/>
          </a:xfrm>
          <a:prstGeom prst="rect">
            <a:avLst/>
          </a:prstGeom>
          <a:noFill/>
          <a:ln/>
        </p:spPr>
        <p:txBody>
          <a:bodyPr wrap="square" lIns="0" tIns="0" rIns="0" bIns="0" rtlCol="0" anchor="ctr"/>
          <a:lstStyle/>
          <a:p>
            <a:pPr indent="0" marL="0">
              <a:buNone/>
            </a:pPr>
            <a:r>
              <a:rPr lang="en-US" sz="1400" dirty="0">
                <a:solidFill>
                  <a:srgbClr val="1A1A1A"/>
                </a:solidFill>
              </a:rPr>
              <a:t>Champs numériques nuls</a:t>
            </a:r>
            <a:endParaRPr lang="en-US" sz="1400" dirty="0"/>
          </a:p>
        </p:txBody>
      </p:sp>
      <p:sp>
        <p:nvSpPr>
          <p:cNvPr id="14" name="cv-122"/>
          <p:cNvSpPr txBox="1"/>
          <p:nvPr/>
        </p:nvSpPr>
        <p:spPr>
          <a:xfrm>
            <a:off x="4160520" y="2212848"/>
            <a:ext cx="1188720" cy="457200"/>
          </a:xfrm>
          <a:prstGeom prst="rect">
            <a:avLst/>
          </a:prstGeom>
          <a:noFill/>
          <a:ln/>
        </p:spPr>
        <p:txBody>
          <a:bodyPr wrap="square" lIns="0" tIns="0" rIns="0" bIns="0" rtlCol="0" anchor="ctr"/>
          <a:lstStyle/>
          <a:p>
            <a:pPr algn="r" indent="0" marL="0">
              <a:buNone/>
            </a:pPr>
            <a:r>
              <a:rPr lang="en-US" sz="1500" b="1" dirty="0">
                <a:solidFill>
                  <a:srgbClr val="1BAF7A"/>
                </a:solidFill>
              </a:rPr>
              <a:t>0</a:t>
            </a:r>
            <a:endParaRPr lang="en-US" sz="1500" dirty="0"/>
          </a:p>
        </p:txBody>
      </p:sp>
      <p:sp>
        <p:nvSpPr>
          <p:cNvPr id="15" name="ck-123"/>
          <p:cNvSpPr txBox="1"/>
          <p:nvPr/>
        </p:nvSpPr>
        <p:spPr>
          <a:xfrm>
            <a:off x="5440680" y="2212848"/>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16" name="carte-124"/>
          <p:cNvSpPr/>
          <p:nvPr/>
        </p:nvSpPr>
        <p:spPr>
          <a:xfrm>
            <a:off x="6172200" y="2212848"/>
            <a:ext cx="5303520" cy="457200"/>
          </a:xfrm>
          <a:prstGeom prst="roundRect">
            <a:avLst>
              <a:gd name="adj" fmla="val 20000"/>
            </a:avLst>
          </a:prstGeom>
          <a:solidFill>
            <a:srgbClr val="FFFFFF"/>
          </a:solidFill>
          <a:ln w="12700">
            <a:solidFill>
              <a:srgbClr val="E2E5EA"/>
            </a:solidFill>
            <a:prstDash val="solid"/>
          </a:ln>
        </p:spPr>
      </p:sp>
      <p:sp>
        <p:nvSpPr>
          <p:cNvPr id="17" name="cn-125"/>
          <p:cNvSpPr txBox="1"/>
          <p:nvPr/>
        </p:nvSpPr>
        <p:spPr>
          <a:xfrm>
            <a:off x="6355080" y="2212848"/>
            <a:ext cx="3474720" cy="457200"/>
          </a:xfrm>
          <a:prstGeom prst="rect">
            <a:avLst/>
          </a:prstGeom>
          <a:noFill/>
          <a:ln/>
        </p:spPr>
        <p:txBody>
          <a:bodyPr wrap="square" lIns="0" tIns="0" rIns="0" bIns="0" rtlCol="0" anchor="ctr"/>
          <a:lstStyle/>
          <a:p>
            <a:pPr indent="0" marL="0">
              <a:buNone/>
            </a:pPr>
            <a:r>
              <a:rPr lang="en-US" sz="1400" dirty="0">
                <a:solidFill>
                  <a:srgbClr val="1A1A1A"/>
                </a:solidFill>
              </a:rPr>
              <a:t>Montants incohérents</a:t>
            </a:r>
            <a:endParaRPr lang="en-US" sz="1400" dirty="0"/>
          </a:p>
        </p:txBody>
      </p:sp>
      <p:sp>
        <p:nvSpPr>
          <p:cNvPr id="18" name="cv-126"/>
          <p:cNvSpPr txBox="1"/>
          <p:nvPr/>
        </p:nvSpPr>
        <p:spPr>
          <a:xfrm>
            <a:off x="9738360" y="2212848"/>
            <a:ext cx="1188720" cy="457200"/>
          </a:xfrm>
          <a:prstGeom prst="rect">
            <a:avLst/>
          </a:prstGeom>
          <a:noFill/>
          <a:ln/>
        </p:spPr>
        <p:txBody>
          <a:bodyPr wrap="square" lIns="0" tIns="0" rIns="0" bIns="0" rtlCol="0" anchor="ctr"/>
          <a:lstStyle/>
          <a:p>
            <a:pPr algn="r" indent="0" marL="0">
              <a:buNone/>
            </a:pPr>
            <a:r>
              <a:rPr lang="en-US" sz="1500" b="1" dirty="0">
                <a:solidFill>
                  <a:srgbClr val="1BAF7A"/>
                </a:solidFill>
              </a:rPr>
              <a:t>0</a:t>
            </a:r>
            <a:endParaRPr lang="en-US" sz="1500" dirty="0"/>
          </a:p>
        </p:txBody>
      </p:sp>
      <p:sp>
        <p:nvSpPr>
          <p:cNvPr id="19" name="ck-127"/>
          <p:cNvSpPr txBox="1"/>
          <p:nvPr/>
        </p:nvSpPr>
        <p:spPr>
          <a:xfrm>
            <a:off x="11018520" y="2212848"/>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20" name="carte-128"/>
          <p:cNvSpPr/>
          <p:nvPr/>
        </p:nvSpPr>
        <p:spPr>
          <a:xfrm>
            <a:off x="594360" y="2779776"/>
            <a:ext cx="5303520" cy="457200"/>
          </a:xfrm>
          <a:prstGeom prst="roundRect">
            <a:avLst>
              <a:gd name="adj" fmla="val 20000"/>
            </a:avLst>
          </a:prstGeom>
          <a:solidFill>
            <a:srgbClr val="FFFFFF"/>
          </a:solidFill>
          <a:ln w="12700">
            <a:solidFill>
              <a:srgbClr val="E2E5EA"/>
            </a:solidFill>
            <a:prstDash val="solid"/>
          </a:ln>
        </p:spPr>
      </p:sp>
      <p:sp>
        <p:nvSpPr>
          <p:cNvPr id="21" name="cn-129"/>
          <p:cNvSpPr txBox="1"/>
          <p:nvPr/>
        </p:nvSpPr>
        <p:spPr>
          <a:xfrm>
            <a:off x="777240" y="2779776"/>
            <a:ext cx="3474720" cy="457200"/>
          </a:xfrm>
          <a:prstGeom prst="rect">
            <a:avLst/>
          </a:prstGeom>
          <a:noFill/>
          <a:ln/>
        </p:spPr>
        <p:txBody>
          <a:bodyPr wrap="square" lIns="0" tIns="0" rIns="0" bIns="0" rtlCol="0" anchor="ctr"/>
          <a:lstStyle/>
          <a:p>
            <a:pPr indent="0" marL="0">
              <a:buNone/>
            </a:pPr>
            <a:r>
              <a:rPr lang="en-US" sz="1400" dirty="0">
                <a:solidFill>
                  <a:srgbClr val="1A1A1A"/>
                </a:solidFill>
              </a:rPr>
              <a:t>Remises hors bornes</a:t>
            </a:r>
            <a:endParaRPr lang="en-US" sz="1400" dirty="0"/>
          </a:p>
        </p:txBody>
      </p:sp>
      <p:sp>
        <p:nvSpPr>
          <p:cNvPr id="22" name="cv-130"/>
          <p:cNvSpPr txBox="1"/>
          <p:nvPr/>
        </p:nvSpPr>
        <p:spPr>
          <a:xfrm>
            <a:off x="4160520" y="2779776"/>
            <a:ext cx="1188720" cy="457200"/>
          </a:xfrm>
          <a:prstGeom prst="rect">
            <a:avLst/>
          </a:prstGeom>
          <a:noFill/>
          <a:ln/>
        </p:spPr>
        <p:txBody>
          <a:bodyPr wrap="square" lIns="0" tIns="0" rIns="0" bIns="0" rtlCol="0" anchor="ctr"/>
          <a:lstStyle/>
          <a:p>
            <a:pPr algn="r" indent="0" marL="0">
              <a:buNone/>
            </a:pPr>
            <a:r>
              <a:rPr lang="en-US" sz="1500" b="1" dirty="0">
                <a:solidFill>
                  <a:srgbClr val="1BAF7A"/>
                </a:solidFill>
              </a:rPr>
              <a:t>0</a:t>
            </a:r>
            <a:endParaRPr lang="en-US" sz="1500" dirty="0"/>
          </a:p>
        </p:txBody>
      </p:sp>
      <p:sp>
        <p:nvSpPr>
          <p:cNvPr id="23" name="ck-131"/>
          <p:cNvSpPr txBox="1"/>
          <p:nvPr/>
        </p:nvSpPr>
        <p:spPr>
          <a:xfrm>
            <a:off x="5440680" y="2779776"/>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24" name="carte-132"/>
          <p:cNvSpPr/>
          <p:nvPr/>
        </p:nvSpPr>
        <p:spPr>
          <a:xfrm>
            <a:off x="6172200" y="2779776"/>
            <a:ext cx="5303520" cy="457200"/>
          </a:xfrm>
          <a:prstGeom prst="roundRect">
            <a:avLst>
              <a:gd name="adj" fmla="val 20000"/>
            </a:avLst>
          </a:prstGeom>
          <a:solidFill>
            <a:srgbClr val="FFFFFF"/>
          </a:solidFill>
          <a:ln w="12700">
            <a:solidFill>
              <a:srgbClr val="E2E5EA"/>
            </a:solidFill>
            <a:prstDash val="solid"/>
          </a:ln>
        </p:spPr>
      </p:sp>
      <p:sp>
        <p:nvSpPr>
          <p:cNvPr id="25" name="cn-133"/>
          <p:cNvSpPr txBox="1"/>
          <p:nvPr/>
        </p:nvSpPr>
        <p:spPr>
          <a:xfrm>
            <a:off x="6355080" y="2779776"/>
            <a:ext cx="3474720" cy="457200"/>
          </a:xfrm>
          <a:prstGeom prst="rect">
            <a:avLst/>
          </a:prstGeom>
          <a:noFill/>
          <a:ln/>
        </p:spPr>
        <p:txBody>
          <a:bodyPr wrap="square" lIns="0" tIns="0" rIns="0" bIns="0" rtlCol="0" anchor="ctr"/>
          <a:lstStyle/>
          <a:p>
            <a:pPr indent="0" marL="0">
              <a:buNone/>
            </a:pPr>
            <a:r>
              <a:rPr lang="en-US" sz="1400" dirty="0">
                <a:solidFill>
                  <a:srgbClr val="1A1A1A"/>
                </a:solidFill>
              </a:rPr>
              <a:t>Promotion nulle avec remise</a:t>
            </a:r>
            <a:endParaRPr lang="en-US" sz="1400" dirty="0"/>
          </a:p>
        </p:txBody>
      </p:sp>
      <p:sp>
        <p:nvSpPr>
          <p:cNvPr id="26" name="cv-134"/>
          <p:cNvSpPr txBox="1"/>
          <p:nvPr/>
        </p:nvSpPr>
        <p:spPr>
          <a:xfrm>
            <a:off x="9738360" y="2779776"/>
            <a:ext cx="1188720" cy="457200"/>
          </a:xfrm>
          <a:prstGeom prst="rect">
            <a:avLst/>
          </a:prstGeom>
          <a:noFill/>
          <a:ln/>
        </p:spPr>
        <p:txBody>
          <a:bodyPr wrap="square" lIns="0" tIns="0" rIns="0" bIns="0" rtlCol="0" anchor="ctr"/>
          <a:lstStyle/>
          <a:p>
            <a:pPr algn="r" indent="0" marL="0">
              <a:buNone/>
            </a:pPr>
            <a:r>
              <a:rPr lang="en-US" sz="1500" b="1" dirty="0">
                <a:solidFill>
                  <a:srgbClr val="1BAF7A"/>
                </a:solidFill>
              </a:rPr>
              <a:t>0</a:t>
            </a:r>
            <a:endParaRPr lang="en-US" sz="1500" dirty="0"/>
          </a:p>
        </p:txBody>
      </p:sp>
      <p:sp>
        <p:nvSpPr>
          <p:cNvPr id="27" name="ck-135"/>
          <p:cNvSpPr txBox="1"/>
          <p:nvPr/>
        </p:nvSpPr>
        <p:spPr>
          <a:xfrm>
            <a:off x="11018520" y="2779776"/>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28" name="carte-136"/>
          <p:cNvSpPr/>
          <p:nvPr/>
        </p:nvSpPr>
        <p:spPr>
          <a:xfrm>
            <a:off x="594360" y="3346704"/>
            <a:ext cx="5303520" cy="457200"/>
          </a:xfrm>
          <a:prstGeom prst="roundRect">
            <a:avLst>
              <a:gd name="adj" fmla="val 20000"/>
            </a:avLst>
          </a:prstGeom>
          <a:solidFill>
            <a:srgbClr val="FFFFFF"/>
          </a:solidFill>
          <a:ln w="12700">
            <a:solidFill>
              <a:srgbClr val="E2E5EA"/>
            </a:solidFill>
            <a:prstDash val="solid"/>
          </a:ln>
        </p:spPr>
      </p:sp>
      <p:sp>
        <p:nvSpPr>
          <p:cNvPr id="29" name="cn-137"/>
          <p:cNvSpPr txBox="1"/>
          <p:nvPr/>
        </p:nvSpPr>
        <p:spPr>
          <a:xfrm>
            <a:off x="777240" y="3346704"/>
            <a:ext cx="3474720" cy="457200"/>
          </a:xfrm>
          <a:prstGeom prst="rect">
            <a:avLst/>
          </a:prstGeom>
          <a:noFill/>
          <a:ln/>
        </p:spPr>
        <p:txBody>
          <a:bodyPr wrap="square" lIns="0" tIns="0" rIns="0" bIns="0" rtlCol="0" anchor="ctr"/>
          <a:lstStyle/>
          <a:p>
            <a:pPr indent="0" marL="0">
              <a:buNone/>
            </a:pPr>
            <a:r>
              <a:rPr lang="en-US" sz="1400" dirty="0">
                <a:solidFill>
                  <a:srgbClr val="1A1A1A"/>
                </a:solidFill>
              </a:rPr>
              <a:t>Stocks incohérents</a:t>
            </a:r>
            <a:endParaRPr lang="en-US" sz="1400" dirty="0"/>
          </a:p>
        </p:txBody>
      </p:sp>
      <p:sp>
        <p:nvSpPr>
          <p:cNvPr id="30" name="cv-138"/>
          <p:cNvSpPr txBox="1"/>
          <p:nvPr/>
        </p:nvSpPr>
        <p:spPr>
          <a:xfrm>
            <a:off x="4160520" y="3346704"/>
            <a:ext cx="1188720" cy="457200"/>
          </a:xfrm>
          <a:prstGeom prst="rect">
            <a:avLst/>
          </a:prstGeom>
          <a:noFill/>
          <a:ln/>
        </p:spPr>
        <p:txBody>
          <a:bodyPr wrap="square" lIns="0" tIns="0" rIns="0" bIns="0" rtlCol="0" anchor="ctr"/>
          <a:lstStyle/>
          <a:p>
            <a:pPr algn="r" indent="0" marL="0">
              <a:buNone/>
            </a:pPr>
            <a:r>
              <a:rPr lang="en-US" sz="1500" b="1" dirty="0">
                <a:solidFill>
                  <a:srgbClr val="1BAF7A"/>
                </a:solidFill>
              </a:rPr>
              <a:t>0</a:t>
            </a:r>
            <a:endParaRPr lang="en-US" sz="1500" dirty="0"/>
          </a:p>
        </p:txBody>
      </p:sp>
      <p:sp>
        <p:nvSpPr>
          <p:cNvPr id="31" name="ck-139"/>
          <p:cNvSpPr txBox="1"/>
          <p:nvPr/>
        </p:nvSpPr>
        <p:spPr>
          <a:xfrm>
            <a:off x="5440680" y="3346704"/>
            <a:ext cx="320040" cy="457200"/>
          </a:xfrm>
          <a:prstGeom prst="rect">
            <a:avLst/>
          </a:prstGeom>
          <a:noFill/>
          <a:ln/>
        </p:spPr>
        <p:txBody>
          <a:bodyPr wrap="square" lIns="0" tIns="0" rIns="0" bIns="0" rtlCol="0" anchor="ctr"/>
          <a:lstStyle/>
          <a:p>
            <a:pPr algn="ctr" indent="0" marL="0">
              <a:buNone/>
            </a:pPr>
            <a:r>
              <a:rPr lang="en-US" sz="1600" b="1" dirty="0">
                <a:solidFill>
                  <a:srgbClr val="1BAF7A"/>
                </a:solidFill>
              </a:rPr>
              <a:t>✓</a:t>
            </a:r>
            <a:endParaRPr lang="en-US" sz="1600" dirty="0"/>
          </a:p>
        </p:txBody>
      </p:sp>
      <p:sp>
        <p:nvSpPr>
          <p:cNvPr id="32" name="carte-140"/>
          <p:cNvSpPr/>
          <p:nvPr/>
        </p:nvSpPr>
        <p:spPr>
          <a:xfrm>
            <a:off x="594360" y="4434840"/>
            <a:ext cx="10972800" cy="914400"/>
          </a:xfrm>
          <a:prstGeom prst="roundRect">
            <a:avLst>
              <a:gd name="adj" fmla="val 10000"/>
            </a:avLst>
          </a:prstGeom>
          <a:solidFill>
            <a:srgbClr val="FFFFFF"/>
          </a:solidFill>
          <a:ln w="12700">
            <a:solidFill>
              <a:srgbClr val="FFFFFF"/>
            </a:solidFill>
            <a:prstDash val="solid"/>
          </a:ln>
        </p:spPr>
      </p:sp>
      <p:sp>
        <p:nvSpPr>
          <p:cNvPr id="33" name="Text 31"/>
          <p:cNvSpPr txBox="1"/>
          <p:nvPr/>
        </p:nvSpPr>
        <p:spPr>
          <a:xfrm>
            <a:off x="868680" y="4617720"/>
            <a:ext cx="10424160" cy="594360"/>
          </a:xfrm>
          <a:prstGeom prst="rect">
            <a:avLst/>
          </a:prstGeom>
          <a:noFill/>
          <a:ln/>
        </p:spPr>
        <p:txBody>
          <a:bodyPr wrap="square" lIns="0" tIns="0" rIns="0" bIns="0" rtlCol="0" anchor="ctr"/>
          <a:lstStyle/>
          <a:p>
            <a:pPr indent="0" marL="0">
              <a:lnSpc>
                <a:spcPct val="115000"/>
              </a:lnSpc>
              <a:buNone/>
            </a:pPr>
            <a:r>
              <a:rPr lang="en-US" sz="1500" b="1" dirty="0">
                <a:solidFill>
                  <a:srgbClr val="1E2761"/>
                </a:solidFill>
              </a:rPr>
              <a:t>Pourquoi avant et non après : </a:t>
            </a:r>
            <a:pPr indent="0" marL="0">
              <a:lnSpc>
                <a:spcPct val="115000"/>
              </a:lnSpc>
              <a:buNone/>
            </a:pPr>
            <a:r>
              <a:rPr lang="en-US" sz="1500" dirty="0">
                <a:solidFill>
                  <a:srgbClr val="1A1A1A"/>
                </a:solidFill>
              </a:rPr>
              <a:t>un chiffre faux calculé sur des données mal lues ressemble exactement à un chiffre juste. Rien dans le résultat ne signale le problème.</a:t>
            </a:r>
            <a:endParaRPr lang="en-US" sz="15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9</a:t>
            </a:fld>
            <a:endParaRPr lang="en-US"/>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Ranger les données autrement</a:t>
            </a:r>
            <a:endParaRPr lang="en-US" sz="2800" dirty="0"/>
          </a:p>
        </p:txBody>
      </p:sp>
      <p:sp>
        <p:nvSpPr>
          <p:cNvPr id="3" name="bloc-141"/>
          <p:cNvSpPr/>
          <p:nvPr/>
        </p:nvSpPr>
        <p:spPr>
          <a:xfrm>
            <a:off x="594360" y="1325880"/>
            <a:ext cx="5925312" cy="1417320"/>
          </a:xfrm>
          <a:prstGeom prst="roundRect">
            <a:avLst>
              <a:gd name="adj" fmla="val 3871"/>
            </a:avLst>
          </a:prstGeom>
          <a:solidFill>
            <a:srgbClr val="F5F6F8"/>
          </a:solidFill>
          <a:ln w="12700">
            <a:solidFill>
              <a:srgbClr val="E2E5EA"/>
            </a:solidFill>
            <a:prstDash val="solid"/>
          </a:ln>
        </p:spPr>
      </p:sp>
      <p:sp>
        <p:nvSpPr>
          <p:cNvPr id="4" name="code-142"/>
          <p:cNvSpPr txBox="1"/>
          <p:nvPr/>
        </p:nvSpPr>
        <p:spPr>
          <a:xfrm>
            <a:off x="758952" y="1435608"/>
            <a:ext cx="5596128" cy="1197864"/>
          </a:xfrm>
          <a:prstGeom prst="rect">
            <a:avLst/>
          </a:prstGeom>
          <a:noFill/>
          <a:ln/>
        </p:spPr>
        <p:txBody>
          <a:bodyPr wrap="square" lIns="0" tIns="0" rIns="0" bIns="0" rtlCol="0" anchor="t"/>
          <a:lstStyle/>
          <a:p>
            <a:pPr algn="l" indent="0" marL="0">
              <a:buNone/>
            </a:pPr>
            <a:r>
              <a:rPr lang="en-US" sz="1350" dirty="0">
                <a:solidFill>
                  <a:srgbClr val="1A1A1A"/>
                </a:solidFill>
                <a:latin typeface="Courier New" pitchFamily="34" charset="0"/>
                <a:ea typeface="Courier New" pitchFamily="34" charset="-122"/>
                <a:cs typeface="Courier New" pitchFamily="34" charset="-120"/>
              </a:rPr>
              <a:t>CREATE EXTERNAL TABLE transactions_part ( ... )</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PARTITIONED BY (annee INT, mois INT)</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STORED AS ORC</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LOCATION '/datalake/processed/transactions_part';</a:t>
            </a:r>
            <a:endParaRPr lang="en-US" sz="1350" dirty="0"/>
          </a:p>
        </p:txBody>
      </p:sp>
      <p:sp>
        <p:nvSpPr>
          <p:cNvPr id="5" name="bloc-143"/>
          <p:cNvSpPr/>
          <p:nvPr/>
        </p:nvSpPr>
        <p:spPr>
          <a:xfrm>
            <a:off x="594360" y="2880360"/>
            <a:ext cx="5925312" cy="1737360"/>
          </a:xfrm>
          <a:prstGeom prst="roundRect">
            <a:avLst>
              <a:gd name="adj" fmla="val 3158"/>
            </a:avLst>
          </a:prstGeom>
          <a:solidFill>
            <a:srgbClr val="F5F6F8"/>
          </a:solidFill>
          <a:ln w="12700">
            <a:solidFill>
              <a:srgbClr val="E2E5EA"/>
            </a:solidFill>
            <a:prstDash val="solid"/>
          </a:ln>
        </p:spPr>
      </p:sp>
      <p:sp>
        <p:nvSpPr>
          <p:cNvPr id="6" name="code-144"/>
          <p:cNvSpPr txBox="1"/>
          <p:nvPr/>
        </p:nvSpPr>
        <p:spPr>
          <a:xfrm>
            <a:off x="758952" y="2990088"/>
            <a:ext cx="5596128" cy="1517904"/>
          </a:xfrm>
          <a:prstGeom prst="rect">
            <a:avLst/>
          </a:prstGeom>
          <a:noFill/>
          <a:ln/>
        </p:spPr>
        <p:txBody>
          <a:bodyPr wrap="square" lIns="0" tIns="0" rIns="0" bIns="0" rtlCol="0" anchor="t"/>
          <a:lstStyle/>
          <a:p>
            <a:pPr algn="l" indent="0" marL="0">
              <a:buNone/>
            </a:pPr>
            <a:r>
              <a:rPr lang="en-US" sz="1350" dirty="0">
                <a:solidFill>
                  <a:srgbClr val="1A1A1A"/>
                </a:solidFill>
                <a:latin typeface="Courier New" pitchFamily="34" charset="0"/>
                <a:ea typeface="Courier New" pitchFamily="34" charset="-122"/>
                <a:cs typeface="Courier New" pitchFamily="34" charset="-120"/>
              </a:rPr>
              <a:t>INSERT OVERWRITE TABLE transactions_part</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PARTITION (annee, mois)</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SELECT transaction_id, ..., montant,</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CAST(SUBSTR(datetime, 1, 4) AS INT) AS annee,</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       CAST(SUBSTR(datetime, 6, 2) AS INT) AS mois</a:t>
            </a:r>
            <a:endParaRPr lang="en-US" sz="1350" dirty="0"/>
          </a:p>
          <a:p>
            <a:pPr algn="l" indent="0" marL="0">
              <a:buNone/>
            </a:pPr>
            <a:r>
              <a:rPr lang="en-US" sz="1350" dirty="0">
                <a:solidFill>
                  <a:srgbClr val="1A1A1A"/>
                </a:solidFill>
                <a:latin typeface="Courier New" pitchFamily="34" charset="0"/>
                <a:ea typeface="Courier New" pitchFamily="34" charset="-122"/>
                <a:cs typeface="Courier New" pitchFamily="34" charset="-120"/>
              </a:rPr>
              <a:t>FROM transactions;</a:t>
            </a:r>
            <a:endParaRPr lang="en-US" sz="1350" dirty="0"/>
          </a:p>
        </p:txBody>
      </p:sp>
      <p:sp>
        <p:nvSpPr>
          <p:cNvPr id="7" name="carte-145"/>
          <p:cNvSpPr/>
          <p:nvPr/>
        </p:nvSpPr>
        <p:spPr>
          <a:xfrm>
            <a:off x="6848856" y="1325880"/>
            <a:ext cx="4718304" cy="1828800"/>
          </a:xfrm>
          <a:prstGeom prst="roundRect">
            <a:avLst>
              <a:gd name="adj" fmla="val 5000"/>
            </a:avLst>
          </a:prstGeom>
          <a:solidFill>
            <a:srgbClr val="FFFFFF"/>
          </a:solidFill>
          <a:ln w="12700">
            <a:solidFill>
              <a:srgbClr val="FFFFFF"/>
            </a:solidFill>
            <a:prstDash val="solid"/>
          </a:ln>
        </p:spPr>
      </p:sp>
      <p:sp>
        <p:nvSpPr>
          <p:cNvPr id="8" name="Text 6"/>
          <p:cNvSpPr txBox="1"/>
          <p:nvPr/>
        </p:nvSpPr>
        <p:spPr>
          <a:xfrm>
            <a:off x="7104888" y="1463040"/>
            <a:ext cx="4206240" cy="320040"/>
          </a:xfrm>
          <a:prstGeom prst="rect">
            <a:avLst/>
          </a:prstGeom>
          <a:noFill/>
          <a:ln/>
        </p:spPr>
        <p:txBody>
          <a:bodyPr wrap="square" lIns="0" tIns="0" rIns="0" bIns="0" rtlCol="0" anchor="ctr"/>
          <a:lstStyle/>
          <a:p>
            <a:pPr indent="0" marL="0">
              <a:buNone/>
            </a:pPr>
            <a:r>
              <a:rPr lang="en-US" sz="1500" b="1" dirty="0">
                <a:solidFill>
                  <a:srgbClr val="1E2761"/>
                </a:solidFill>
              </a:rPr>
              <a:t>Ce que HDFS reçoit</a:t>
            </a:r>
            <a:endParaRPr lang="en-US" sz="1500" dirty="0"/>
          </a:p>
        </p:txBody>
      </p:sp>
      <p:sp>
        <p:nvSpPr>
          <p:cNvPr id="9" name="Text 7"/>
          <p:cNvSpPr txBox="1"/>
          <p:nvPr/>
        </p:nvSpPr>
        <p:spPr>
          <a:xfrm>
            <a:off x="7104888" y="1828800"/>
            <a:ext cx="4206240" cy="1188720"/>
          </a:xfrm>
          <a:prstGeom prst="rect">
            <a:avLst/>
          </a:prstGeom>
          <a:noFill/>
          <a:ln/>
        </p:spPr>
        <p:txBody>
          <a:bodyPr wrap="square" lIns="0" tIns="0" rIns="0" bIns="0" rtlCol="0" anchor="t"/>
          <a:lstStyle/>
          <a:p>
            <a:pPr indent="0" marL="0">
              <a:lnSpc>
                <a:spcPct val="115000"/>
              </a:lnSpc>
              <a:buNone/>
            </a:pPr>
            <a:r>
              <a:rPr lang="en-US" sz="1350" dirty="0">
                <a:solidFill>
                  <a:srgbClr val="1A1A1A"/>
                </a:solidFill>
                <a:latin typeface="Courier New" pitchFamily="34" charset="0"/>
                <a:ea typeface="Courier New" pitchFamily="34" charset="-122"/>
                <a:cs typeface="Courier New" pitchFamily="34" charset="-120"/>
              </a:rPr>
              <a:t>annee=2024/mois=1/</a:t>
            </a:r>
            <a:endParaRPr lang="en-US" sz="1350" dirty="0"/>
          </a:p>
          <a:p>
            <a:pPr indent="0" marL="0">
              <a:lnSpc>
                <a:spcPct val="115000"/>
              </a:lnSpc>
              <a:buNone/>
            </a:pPr>
            <a:r>
              <a:rPr lang="en-US" sz="1350" dirty="0">
                <a:solidFill>
                  <a:srgbClr val="1A1A1A"/>
                </a:solidFill>
                <a:latin typeface="Courier New" pitchFamily="34" charset="0"/>
                <a:ea typeface="Courier New" pitchFamily="34" charset="-122"/>
                <a:cs typeface="Courier New" pitchFamily="34" charset="-120"/>
              </a:rPr>
              <a:t>annee=2024/mois=2/</a:t>
            </a:r>
            <a:endParaRPr lang="en-US" sz="1350" dirty="0"/>
          </a:p>
          <a:p>
            <a:pPr indent="0" marL="0">
              <a:lnSpc>
                <a:spcPct val="115000"/>
              </a:lnSpc>
              <a:buNone/>
            </a:pPr>
            <a:r>
              <a:rPr lang="en-US" sz="1350" dirty="0">
                <a:solidFill>
                  <a:srgbClr val="1A1A1A"/>
                </a:solidFill>
                <a:latin typeface="Courier New" pitchFamily="34" charset="0"/>
                <a:ea typeface="Courier New" pitchFamily="34" charset="-122"/>
                <a:cs typeface="Courier New" pitchFamily="34" charset="-120"/>
              </a:rPr>
              <a:t>...</a:t>
            </a:r>
            <a:endParaRPr lang="en-US" sz="1350" dirty="0"/>
          </a:p>
          <a:p>
            <a:pPr indent="0" marL="0">
              <a:lnSpc>
                <a:spcPct val="115000"/>
              </a:lnSpc>
              <a:buNone/>
            </a:pPr>
            <a:r>
              <a:rPr lang="en-US" sz="1350" dirty="0">
                <a:solidFill>
                  <a:srgbClr val="1A1A1A"/>
                </a:solidFill>
                <a:latin typeface="Courier New" pitchFamily="34" charset="0"/>
                <a:ea typeface="Courier New" pitchFamily="34" charset="-122"/>
                <a:cs typeface="Courier New" pitchFamily="34" charset="-120"/>
              </a:rPr>
              <a:t>annee=2025/mois=12/</a:t>
            </a:r>
            <a:endParaRPr lang="en-US" sz="1350" dirty="0"/>
          </a:p>
        </p:txBody>
      </p:sp>
      <p:sp>
        <p:nvSpPr>
          <p:cNvPr id="10" name="stat-146"/>
          <p:cNvSpPr txBox="1"/>
          <p:nvPr/>
        </p:nvSpPr>
        <p:spPr>
          <a:xfrm>
            <a:off x="6848856" y="3291840"/>
            <a:ext cx="2267712" cy="685800"/>
          </a:xfrm>
          <a:prstGeom prst="rect">
            <a:avLst/>
          </a:prstGeom>
          <a:noFill/>
          <a:ln/>
        </p:spPr>
        <p:txBody>
          <a:bodyPr wrap="square" lIns="0" tIns="0" rIns="0" bIns="0" rtlCol="0" anchor="ctr"/>
          <a:lstStyle/>
          <a:p>
            <a:pPr algn="ctr" indent="0" marL="0">
              <a:buNone/>
            </a:pPr>
            <a:r>
              <a:rPr lang="en-US" sz="3600" b="1" dirty="0">
                <a:solidFill>
                  <a:srgbClr val="2A78D6"/>
                </a:solidFill>
              </a:rPr>
              <a:t>24</a:t>
            </a:r>
            <a:endParaRPr lang="en-US" sz="3600" dirty="0"/>
          </a:p>
        </p:txBody>
      </p:sp>
      <p:sp>
        <p:nvSpPr>
          <p:cNvPr id="11" name="statlib-147"/>
          <p:cNvSpPr txBox="1"/>
          <p:nvPr/>
        </p:nvSpPr>
        <p:spPr>
          <a:xfrm>
            <a:off x="6848856" y="3977640"/>
            <a:ext cx="2267712" cy="457200"/>
          </a:xfrm>
          <a:prstGeom prst="rect">
            <a:avLst/>
          </a:prstGeom>
          <a:noFill/>
          <a:ln/>
        </p:spPr>
        <p:txBody>
          <a:bodyPr wrap="square" lIns="0" tIns="0" rIns="0" bIns="0" rtlCol="0" anchor="ctr"/>
          <a:lstStyle/>
          <a:p>
            <a:pPr algn="ctr" indent="0" marL="0">
              <a:buNone/>
            </a:pPr>
            <a:r>
              <a:rPr lang="en-US" sz="1350" dirty="0">
                <a:solidFill>
                  <a:srgbClr val="353430"/>
                </a:solidFill>
              </a:rPr>
              <a:t>partitions créées</a:t>
            </a:r>
            <a:endParaRPr lang="en-US" sz="1350" dirty="0"/>
          </a:p>
        </p:txBody>
      </p:sp>
      <p:sp>
        <p:nvSpPr>
          <p:cNvPr id="12" name="stat-148"/>
          <p:cNvSpPr txBox="1"/>
          <p:nvPr/>
        </p:nvSpPr>
        <p:spPr>
          <a:xfrm>
            <a:off x="9299448" y="3291840"/>
            <a:ext cx="2267712" cy="685800"/>
          </a:xfrm>
          <a:prstGeom prst="rect">
            <a:avLst/>
          </a:prstGeom>
          <a:noFill/>
          <a:ln/>
        </p:spPr>
        <p:txBody>
          <a:bodyPr wrap="square" lIns="0" tIns="0" rIns="0" bIns="0" rtlCol="0" anchor="ctr"/>
          <a:lstStyle/>
          <a:p>
            <a:pPr algn="ctr" indent="0" marL="0">
              <a:buNone/>
            </a:pPr>
            <a:r>
              <a:rPr lang="en-US" sz="3600" b="1" dirty="0">
                <a:solidFill>
                  <a:srgbClr val="2A78D6"/>
                </a:solidFill>
              </a:rPr>
              <a:t>20 800</a:t>
            </a:r>
            <a:endParaRPr lang="en-US" sz="3600" dirty="0"/>
          </a:p>
        </p:txBody>
      </p:sp>
      <p:sp>
        <p:nvSpPr>
          <p:cNvPr id="13" name="statlib-149"/>
          <p:cNvSpPr txBox="1"/>
          <p:nvPr/>
        </p:nvSpPr>
        <p:spPr>
          <a:xfrm>
            <a:off x="9299448" y="3977640"/>
            <a:ext cx="2267712" cy="457200"/>
          </a:xfrm>
          <a:prstGeom prst="rect">
            <a:avLst/>
          </a:prstGeom>
          <a:noFill/>
          <a:ln/>
        </p:spPr>
        <p:txBody>
          <a:bodyPr wrap="square" lIns="0" tIns="0" rIns="0" bIns="0" rtlCol="0" anchor="ctr"/>
          <a:lstStyle/>
          <a:p>
            <a:pPr algn="ctr" indent="0" marL="0">
              <a:buNone/>
            </a:pPr>
            <a:r>
              <a:rPr lang="en-US" sz="1350" dirty="0">
                <a:solidFill>
                  <a:srgbClr val="353430"/>
                </a:solidFill>
              </a:rPr>
              <a:t>lignes par partition</a:t>
            </a:r>
            <a:endParaRPr lang="en-US" sz="1350" dirty="0"/>
          </a:p>
        </p:txBody>
      </p:sp>
      <p:sp>
        <p:nvSpPr>
          <p:cNvPr id="14" name="carte-150"/>
          <p:cNvSpPr/>
          <p:nvPr/>
        </p:nvSpPr>
        <p:spPr>
          <a:xfrm>
            <a:off x="594360" y="4754880"/>
            <a:ext cx="10972800" cy="685800"/>
          </a:xfrm>
          <a:prstGeom prst="roundRect">
            <a:avLst>
              <a:gd name="adj" fmla="val 13333"/>
            </a:avLst>
          </a:prstGeom>
          <a:solidFill>
            <a:srgbClr val="1E2761"/>
          </a:solidFill>
          <a:ln w="12700">
            <a:solidFill>
              <a:srgbClr val="1E2761"/>
            </a:solidFill>
            <a:prstDash val="solid"/>
          </a:ln>
        </p:spPr>
      </p:sp>
      <p:sp>
        <p:nvSpPr>
          <p:cNvPr id="15" name="Text 13"/>
          <p:cNvSpPr txBox="1"/>
          <p:nvPr/>
        </p:nvSpPr>
        <p:spPr>
          <a:xfrm>
            <a:off x="868680" y="4846320"/>
            <a:ext cx="10424160" cy="502920"/>
          </a:xfrm>
          <a:prstGeom prst="rect">
            <a:avLst/>
          </a:prstGeom>
          <a:noFill/>
          <a:ln/>
        </p:spPr>
        <p:txBody>
          <a:bodyPr wrap="square" lIns="0" tIns="0" rIns="0" bIns="0" rtlCol="0" anchor="ctr"/>
          <a:lstStyle/>
          <a:p>
            <a:pPr indent="0" marL="0">
              <a:buNone/>
            </a:pPr>
            <a:r>
              <a:rPr lang="en-US" sz="1450" b="1" dirty="0">
                <a:solidFill>
                  <a:srgbClr val="CADCFC"/>
                </a:solidFill>
              </a:rPr>
              <a:t>Le piège : </a:t>
            </a:r>
            <a:pPr indent="0" marL="0">
              <a:buNone/>
            </a:pPr>
            <a:r>
              <a:rPr lang="en-US" sz="1450" dirty="0">
                <a:solidFill>
                  <a:srgbClr val="FFFFFF"/>
                </a:solidFill>
              </a:rPr>
              <a:t>les colonnes de partition doivent être les dernières du SELECT. Hive les repère par leur position, pas par leur nom.</a:t>
            </a:r>
            <a:endParaRPr lang="en-US" sz="145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10</a:t>
            </a:fld>
            <a:endParaRPr lang="en-US"/>
          </a:p>
        </p:txBody>
      </p:sp>
    </p:spTree>
  </p:cSld>
  <p:clrMapOvr>
    <a:masterClrMapping/>
  </p:clrMapOvr>
  <p:transition spd="med"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Pourquoi par mois, et pas par ville</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Trois critères ont guidé ce choix. C'est la question que l'on nous posera.</a:t>
            </a:r>
            <a:endParaRPr lang="en-US" sz="1500" dirty="0"/>
          </a:p>
        </p:txBody>
      </p:sp>
      <p:sp>
        <p:nvSpPr>
          <p:cNvPr id="4" name="carte-151"/>
          <p:cNvSpPr/>
          <p:nvPr/>
        </p:nvSpPr>
        <p:spPr>
          <a:xfrm>
            <a:off x="594360" y="1645920"/>
            <a:ext cx="10972800" cy="1005840"/>
          </a:xfrm>
          <a:prstGeom prst="roundRect">
            <a:avLst>
              <a:gd name="adj" fmla="val 9091"/>
            </a:avLst>
          </a:prstGeom>
          <a:solidFill>
            <a:srgbClr val="FFFFFF"/>
          </a:solidFill>
          <a:ln w="12700">
            <a:solidFill>
              <a:srgbClr val="E2E5EA"/>
            </a:solidFill>
            <a:prstDash val="solid"/>
          </a:ln>
        </p:spPr>
      </p:sp>
      <p:sp>
        <p:nvSpPr>
          <p:cNvPr id="5" name="pastille-152"/>
          <p:cNvSpPr/>
          <p:nvPr/>
        </p:nvSpPr>
        <p:spPr>
          <a:xfrm>
            <a:off x="868680" y="1947672"/>
            <a:ext cx="411480" cy="411480"/>
          </a:xfrm>
          <a:prstGeom prst="ellipse">
            <a:avLst/>
          </a:prstGeom>
          <a:solidFill>
            <a:srgbClr val="2A78D6"/>
          </a:solidFill>
          <a:ln w="12700">
            <a:solidFill>
              <a:srgbClr val="2A78D6"/>
            </a:solidFill>
            <a:prstDash val="solid"/>
          </a:ln>
        </p:spPr>
      </p:sp>
      <p:sp>
        <p:nvSpPr>
          <p:cNvPr id="6" name="pastilletxt-153"/>
          <p:cNvSpPr txBox="1"/>
          <p:nvPr/>
        </p:nvSpPr>
        <p:spPr>
          <a:xfrm>
            <a:off x="868680" y="19476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pt-154"/>
          <p:cNvSpPr txBox="1"/>
          <p:nvPr/>
        </p:nvSpPr>
        <p:spPr>
          <a:xfrm>
            <a:off x="1463040" y="1810512"/>
            <a:ext cx="2194560" cy="365760"/>
          </a:xfrm>
          <a:prstGeom prst="rect">
            <a:avLst/>
          </a:prstGeom>
          <a:noFill/>
          <a:ln/>
        </p:spPr>
        <p:txBody>
          <a:bodyPr wrap="square" lIns="0" tIns="0" rIns="0" bIns="0" rtlCol="0" anchor="ctr"/>
          <a:lstStyle/>
          <a:p>
            <a:pPr indent="0" marL="0">
              <a:buNone/>
            </a:pPr>
            <a:r>
              <a:rPr lang="en-US" sz="1600" b="1" dirty="0">
                <a:solidFill>
                  <a:srgbClr val="1E2761"/>
                </a:solidFill>
              </a:rPr>
              <a:t>L'usage</a:t>
            </a:r>
            <a:endParaRPr lang="en-US" sz="1600" dirty="0"/>
          </a:p>
        </p:txBody>
      </p:sp>
      <p:sp>
        <p:nvSpPr>
          <p:cNvPr id="8" name="pd-155"/>
          <p:cNvSpPr txBox="1"/>
          <p:nvPr/>
        </p:nvSpPr>
        <p:spPr>
          <a:xfrm>
            <a:off x="3703320" y="1810512"/>
            <a:ext cx="7498080" cy="68580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Une clé de partition ne sert que si les requêtes filtrent dessus. Les analyses demandées sont temporelles : chiffre d'affaires mensuel, chiffre d'affaires annuel.</a:t>
            </a:r>
            <a:endParaRPr lang="en-US" sz="1400" dirty="0"/>
          </a:p>
        </p:txBody>
      </p:sp>
      <p:sp>
        <p:nvSpPr>
          <p:cNvPr id="9" name="carte-156"/>
          <p:cNvSpPr/>
          <p:nvPr/>
        </p:nvSpPr>
        <p:spPr>
          <a:xfrm>
            <a:off x="594360" y="2788920"/>
            <a:ext cx="10972800" cy="1005840"/>
          </a:xfrm>
          <a:prstGeom prst="roundRect">
            <a:avLst>
              <a:gd name="adj" fmla="val 9091"/>
            </a:avLst>
          </a:prstGeom>
          <a:solidFill>
            <a:srgbClr val="FFFFFF"/>
          </a:solidFill>
          <a:ln w="12700">
            <a:solidFill>
              <a:srgbClr val="E2E5EA"/>
            </a:solidFill>
            <a:prstDash val="solid"/>
          </a:ln>
        </p:spPr>
      </p:sp>
      <p:sp>
        <p:nvSpPr>
          <p:cNvPr id="10" name="pastille-157"/>
          <p:cNvSpPr/>
          <p:nvPr/>
        </p:nvSpPr>
        <p:spPr>
          <a:xfrm>
            <a:off x="868680" y="3090672"/>
            <a:ext cx="411480" cy="411480"/>
          </a:xfrm>
          <a:prstGeom prst="ellipse">
            <a:avLst/>
          </a:prstGeom>
          <a:solidFill>
            <a:srgbClr val="2A78D6"/>
          </a:solidFill>
          <a:ln w="12700">
            <a:solidFill>
              <a:srgbClr val="2A78D6"/>
            </a:solidFill>
            <a:prstDash val="solid"/>
          </a:ln>
        </p:spPr>
      </p:sp>
      <p:sp>
        <p:nvSpPr>
          <p:cNvPr id="11" name="pastilletxt-158"/>
          <p:cNvSpPr txBox="1"/>
          <p:nvPr/>
        </p:nvSpPr>
        <p:spPr>
          <a:xfrm>
            <a:off x="868680" y="30906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pt-159"/>
          <p:cNvSpPr txBox="1"/>
          <p:nvPr/>
        </p:nvSpPr>
        <p:spPr>
          <a:xfrm>
            <a:off x="1463040" y="2953512"/>
            <a:ext cx="2194560" cy="365760"/>
          </a:xfrm>
          <a:prstGeom prst="rect">
            <a:avLst/>
          </a:prstGeom>
          <a:noFill/>
          <a:ln/>
        </p:spPr>
        <p:txBody>
          <a:bodyPr wrap="square" lIns="0" tIns="0" rIns="0" bIns="0" rtlCol="0" anchor="ctr"/>
          <a:lstStyle/>
          <a:p>
            <a:pPr indent="0" marL="0">
              <a:buNone/>
            </a:pPr>
            <a:r>
              <a:rPr lang="en-US" sz="1600" b="1" dirty="0">
                <a:solidFill>
                  <a:srgbClr val="1E2761"/>
                </a:solidFill>
              </a:rPr>
              <a:t>L'équilibre</a:t>
            </a:r>
            <a:endParaRPr lang="en-US" sz="1600" dirty="0"/>
          </a:p>
        </p:txBody>
      </p:sp>
      <p:sp>
        <p:nvSpPr>
          <p:cNvPr id="13" name="pd-160"/>
          <p:cNvSpPr txBox="1"/>
          <p:nvPr/>
        </p:nvSpPr>
        <p:spPr>
          <a:xfrm>
            <a:off x="3703320" y="2953512"/>
            <a:ext cx="7498080" cy="68580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Nos 24 partitions comptent environ 20 800 lignes chacune. Par ville, Lomé en concentrerait 40 % et Aného 5 % : un rapport de huit, et un travail mal réparti entre les machines.</a:t>
            </a:r>
            <a:endParaRPr lang="en-US" sz="1400" dirty="0"/>
          </a:p>
        </p:txBody>
      </p:sp>
      <p:sp>
        <p:nvSpPr>
          <p:cNvPr id="14" name="carte-161"/>
          <p:cNvSpPr/>
          <p:nvPr/>
        </p:nvSpPr>
        <p:spPr>
          <a:xfrm>
            <a:off x="594360" y="3931920"/>
            <a:ext cx="10972800" cy="1005840"/>
          </a:xfrm>
          <a:prstGeom prst="roundRect">
            <a:avLst>
              <a:gd name="adj" fmla="val 9091"/>
            </a:avLst>
          </a:prstGeom>
          <a:solidFill>
            <a:srgbClr val="FFFFFF"/>
          </a:solidFill>
          <a:ln w="12700">
            <a:solidFill>
              <a:srgbClr val="E2E5EA"/>
            </a:solidFill>
            <a:prstDash val="solid"/>
          </a:ln>
        </p:spPr>
      </p:sp>
      <p:sp>
        <p:nvSpPr>
          <p:cNvPr id="15" name="pastille-162"/>
          <p:cNvSpPr/>
          <p:nvPr/>
        </p:nvSpPr>
        <p:spPr>
          <a:xfrm>
            <a:off x="868680" y="4233672"/>
            <a:ext cx="411480" cy="411480"/>
          </a:xfrm>
          <a:prstGeom prst="ellipse">
            <a:avLst/>
          </a:prstGeom>
          <a:solidFill>
            <a:srgbClr val="2A78D6"/>
          </a:solidFill>
          <a:ln w="12700">
            <a:solidFill>
              <a:srgbClr val="2A78D6"/>
            </a:solidFill>
            <a:prstDash val="solid"/>
          </a:ln>
        </p:spPr>
      </p:sp>
      <p:sp>
        <p:nvSpPr>
          <p:cNvPr id="16" name="pastilletxt-163"/>
          <p:cNvSpPr txBox="1"/>
          <p:nvPr/>
        </p:nvSpPr>
        <p:spPr>
          <a:xfrm>
            <a:off x="868680" y="423367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pt-164"/>
          <p:cNvSpPr txBox="1"/>
          <p:nvPr/>
        </p:nvSpPr>
        <p:spPr>
          <a:xfrm>
            <a:off x="1463040" y="4096512"/>
            <a:ext cx="2194560" cy="365760"/>
          </a:xfrm>
          <a:prstGeom prst="rect">
            <a:avLst/>
          </a:prstGeom>
          <a:noFill/>
          <a:ln/>
        </p:spPr>
        <p:txBody>
          <a:bodyPr wrap="square" lIns="0" tIns="0" rIns="0" bIns="0" rtlCol="0" anchor="ctr"/>
          <a:lstStyle/>
          <a:p>
            <a:pPr indent="0" marL="0">
              <a:buNone/>
            </a:pPr>
            <a:r>
              <a:rPr lang="en-US" sz="1600" b="1" dirty="0">
                <a:solidFill>
                  <a:srgbClr val="1E2761"/>
                </a:solidFill>
              </a:rPr>
              <a:t>Le nombre</a:t>
            </a:r>
            <a:endParaRPr lang="en-US" sz="1600" dirty="0"/>
          </a:p>
        </p:txBody>
      </p:sp>
      <p:sp>
        <p:nvSpPr>
          <p:cNvPr id="18" name="pd-165"/>
          <p:cNvSpPr txBox="1"/>
          <p:nvPr/>
        </p:nvSpPr>
        <p:spPr>
          <a:xfrm>
            <a:off x="3703320" y="4096512"/>
            <a:ext cx="7498080" cy="68580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Par jour : 730 partitions de 685 lignes. Par transaction : 500 000 partitions d'une ligne. On tomberait en plein dans le problème des petits fichiers de HDFS.</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11</a:t>
            </a:fld>
            <a:endParaRPr lang="en-US"/>
          </a:p>
        </p:txBody>
      </p:sp>
    </p:spTree>
  </p:cSld>
  <p:clrMapOvr>
    <a:masterClrMapping/>
  </p:clrMapOvr>
  <p:transition spd="med"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 format ORC : ranger par colonne</a:t>
            </a:r>
            <a:endParaRPr lang="en-US" sz="2800" dirty="0"/>
          </a:p>
        </p:txBody>
      </p:sp>
      <p:sp>
        <p:nvSpPr>
          <p:cNvPr id="3" name="carte-166"/>
          <p:cNvSpPr/>
          <p:nvPr/>
        </p:nvSpPr>
        <p:spPr>
          <a:xfrm>
            <a:off x="594360" y="1371600"/>
            <a:ext cx="5303520" cy="1600200"/>
          </a:xfrm>
          <a:prstGeom prst="roundRect">
            <a:avLst>
              <a:gd name="adj" fmla="val 5714"/>
            </a:avLst>
          </a:prstGeom>
          <a:solidFill>
            <a:srgbClr val="FFFFFF"/>
          </a:solidFill>
          <a:ln w="12700">
            <a:solidFill>
              <a:srgbClr val="E2E5EA"/>
            </a:solidFill>
            <a:prstDash val="solid"/>
          </a:ln>
        </p:spPr>
      </p:sp>
      <p:sp>
        <p:nvSpPr>
          <p:cNvPr id="4" name="Text 2"/>
          <p:cNvSpPr txBox="1"/>
          <p:nvPr/>
        </p:nvSpPr>
        <p:spPr>
          <a:xfrm>
            <a:off x="868680" y="1508760"/>
            <a:ext cx="4754880" cy="320040"/>
          </a:xfrm>
          <a:prstGeom prst="rect">
            <a:avLst/>
          </a:prstGeom>
          <a:noFill/>
          <a:ln/>
        </p:spPr>
        <p:txBody>
          <a:bodyPr wrap="square" lIns="0" tIns="0" rIns="0" bIns="0" rtlCol="0" anchor="ctr"/>
          <a:lstStyle/>
          <a:p>
            <a:pPr indent="0" marL="0">
              <a:buNone/>
            </a:pPr>
            <a:r>
              <a:rPr lang="en-US" sz="1400" b="1" dirty="0">
                <a:solidFill>
                  <a:srgbClr val="353430"/>
                </a:solidFill>
              </a:rPr>
              <a:t>CSV — par ligne</a:t>
            </a:r>
            <a:endParaRPr lang="en-US" sz="1400" dirty="0"/>
          </a:p>
        </p:txBody>
      </p:sp>
      <p:sp>
        <p:nvSpPr>
          <p:cNvPr id="5" name="Text 3"/>
          <p:cNvSpPr txBox="1"/>
          <p:nvPr/>
        </p:nvSpPr>
        <p:spPr>
          <a:xfrm>
            <a:off x="868680" y="1874520"/>
            <a:ext cx="4754880" cy="914400"/>
          </a:xfrm>
          <a:prstGeom prst="rect">
            <a:avLst/>
          </a:prstGeom>
          <a:noFill/>
          <a:ln/>
        </p:spPr>
        <p:txBody>
          <a:bodyPr wrap="square" lIns="0" tIns="0" rIns="0" bIns="0" rtlCol="0" anchor="t"/>
          <a:lstStyle/>
          <a:p>
            <a:pPr indent="0" marL="0">
              <a:buNone/>
            </a:pPr>
            <a:r>
              <a:rPr lang="en-US" sz="1250" dirty="0">
                <a:solidFill>
                  <a:srgbClr val="1A1A1A"/>
                </a:solidFill>
                <a:latin typeface="Courier New" pitchFamily="34" charset="0"/>
                <a:ea typeface="Courier New" pitchFamily="34" charset="-122"/>
                <a:cs typeface="Courier New" pitchFamily="34" charset="-120"/>
              </a:rPr>
              <a:t>T001,Lome,3900 | T002,Kara,2100 | T003,Lome,5400</a:t>
            </a:r>
            <a:endParaRPr lang="en-US" sz="1250" dirty="0"/>
          </a:p>
        </p:txBody>
      </p:sp>
      <p:sp>
        <p:nvSpPr>
          <p:cNvPr id="6" name="carte-167"/>
          <p:cNvSpPr/>
          <p:nvPr/>
        </p:nvSpPr>
        <p:spPr>
          <a:xfrm>
            <a:off x="6263640" y="1371600"/>
            <a:ext cx="5303520" cy="1600200"/>
          </a:xfrm>
          <a:prstGeom prst="roundRect">
            <a:avLst>
              <a:gd name="adj" fmla="val 5714"/>
            </a:avLst>
          </a:prstGeom>
          <a:solidFill>
            <a:srgbClr val="FFFFFF"/>
          </a:solidFill>
          <a:ln w="12700">
            <a:solidFill>
              <a:srgbClr val="2A78D6"/>
            </a:solidFill>
            <a:prstDash val="solid"/>
          </a:ln>
        </p:spPr>
      </p:sp>
      <p:sp>
        <p:nvSpPr>
          <p:cNvPr id="7" name="Text 5"/>
          <p:cNvSpPr txBox="1"/>
          <p:nvPr/>
        </p:nvSpPr>
        <p:spPr>
          <a:xfrm>
            <a:off x="6537960" y="1508760"/>
            <a:ext cx="4754880" cy="320040"/>
          </a:xfrm>
          <a:prstGeom prst="rect">
            <a:avLst/>
          </a:prstGeom>
          <a:noFill/>
          <a:ln/>
        </p:spPr>
        <p:txBody>
          <a:bodyPr wrap="square" lIns="0" tIns="0" rIns="0" bIns="0" rtlCol="0" anchor="ctr"/>
          <a:lstStyle/>
          <a:p>
            <a:pPr indent="0" marL="0">
              <a:buNone/>
            </a:pPr>
            <a:r>
              <a:rPr lang="en-US" sz="1400" b="1" dirty="0">
                <a:solidFill>
                  <a:srgbClr val="2A78D6"/>
                </a:solidFill>
              </a:rPr>
              <a:t>ORC — par colonne</a:t>
            </a:r>
            <a:endParaRPr lang="en-US" sz="1400" dirty="0"/>
          </a:p>
        </p:txBody>
      </p:sp>
      <p:sp>
        <p:nvSpPr>
          <p:cNvPr id="8" name="Text 6"/>
          <p:cNvSpPr txBox="1"/>
          <p:nvPr/>
        </p:nvSpPr>
        <p:spPr>
          <a:xfrm>
            <a:off x="6537960" y="1874520"/>
            <a:ext cx="4754880" cy="914400"/>
          </a:xfrm>
          <a:prstGeom prst="rect">
            <a:avLst/>
          </a:prstGeom>
          <a:noFill/>
          <a:ln/>
        </p:spPr>
        <p:txBody>
          <a:bodyPr wrap="square" lIns="0" tIns="0" rIns="0" bIns="0" rtlCol="0" anchor="t"/>
          <a:lstStyle/>
          <a:p>
            <a:pPr indent="0" marL="0">
              <a:buNone/>
            </a:pPr>
            <a:r>
              <a:rPr lang="en-US" sz="1250" dirty="0">
                <a:solidFill>
                  <a:srgbClr val="1A1A1A"/>
                </a:solidFill>
                <a:latin typeface="Courier New" pitchFamily="34" charset="0"/>
                <a:ea typeface="Courier New" pitchFamily="34" charset="-122"/>
                <a:cs typeface="Courier New" pitchFamily="34" charset="-120"/>
              </a:rPr>
              <a:t>T001,T002,T003 | Lome,Kara,Lome | 3900,2100,5400</a:t>
            </a:r>
            <a:endParaRPr lang="en-US" sz="1250" dirty="0"/>
          </a:p>
        </p:txBody>
      </p:sp>
      <p:sp>
        <p:nvSpPr>
          <p:cNvPr id="9" name="ot-168"/>
          <p:cNvSpPr txBox="1"/>
          <p:nvPr/>
        </p:nvSpPr>
        <p:spPr>
          <a:xfrm>
            <a:off x="594360" y="3200400"/>
            <a:ext cx="3383280" cy="320040"/>
          </a:xfrm>
          <a:prstGeom prst="rect">
            <a:avLst/>
          </a:prstGeom>
          <a:noFill/>
          <a:ln/>
        </p:spPr>
        <p:txBody>
          <a:bodyPr wrap="square" lIns="0" tIns="0" rIns="0" bIns="0" rtlCol="0" anchor="ctr"/>
          <a:lstStyle/>
          <a:p>
            <a:pPr indent="0" marL="0">
              <a:buNone/>
            </a:pPr>
            <a:r>
              <a:rPr lang="en-US" sz="1500" b="1" dirty="0">
                <a:solidFill>
                  <a:srgbClr val="1E2761"/>
                </a:solidFill>
              </a:rPr>
              <a:t>Compression</a:t>
            </a:r>
            <a:endParaRPr lang="en-US" sz="1500" dirty="0"/>
          </a:p>
        </p:txBody>
      </p:sp>
      <p:sp>
        <p:nvSpPr>
          <p:cNvPr id="10" name="od-169"/>
          <p:cNvSpPr txBox="1"/>
          <p:nvPr/>
        </p:nvSpPr>
        <p:spPr>
          <a:xfrm>
            <a:off x="594360" y="3520440"/>
            <a:ext cx="3383280" cy="82296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Une colonne ne contient que des valeurs de même nature, souvent répétées : huit villes sur 500 000 lignes.</a:t>
            </a:r>
            <a:endParaRPr lang="en-US" sz="1400" dirty="0"/>
          </a:p>
        </p:txBody>
      </p:sp>
      <p:sp>
        <p:nvSpPr>
          <p:cNvPr id="11" name="ot-170"/>
          <p:cNvSpPr txBox="1"/>
          <p:nvPr/>
        </p:nvSpPr>
        <p:spPr>
          <a:xfrm>
            <a:off x="4251960" y="3200400"/>
            <a:ext cx="3383280" cy="320040"/>
          </a:xfrm>
          <a:prstGeom prst="rect">
            <a:avLst/>
          </a:prstGeom>
          <a:noFill/>
          <a:ln/>
        </p:spPr>
        <p:txBody>
          <a:bodyPr wrap="square" lIns="0" tIns="0" rIns="0" bIns="0" rtlCol="0" anchor="ctr"/>
          <a:lstStyle/>
          <a:p>
            <a:pPr indent="0" marL="0">
              <a:buNone/>
            </a:pPr>
            <a:r>
              <a:rPr lang="en-US" sz="1500" b="1" dirty="0">
                <a:solidFill>
                  <a:srgbClr val="1E2761"/>
                </a:solidFill>
              </a:rPr>
              <a:t>Lecture sélective</a:t>
            </a:r>
            <a:endParaRPr lang="en-US" sz="1500" dirty="0"/>
          </a:p>
        </p:txBody>
      </p:sp>
      <p:sp>
        <p:nvSpPr>
          <p:cNvPr id="12" name="od-171"/>
          <p:cNvSpPr txBox="1"/>
          <p:nvPr/>
        </p:nvSpPr>
        <p:spPr>
          <a:xfrm>
            <a:off x="4251960" y="3520440"/>
            <a:ext cx="3383280" cy="82296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Une requête qui veut ville et montant ne décompresse pas les 17 autres colonnes.</a:t>
            </a:r>
            <a:endParaRPr lang="en-US" sz="1400" dirty="0"/>
          </a:p>
        </p:txBody>
      </p:sp>
      <p:sp>
        <p:nvSpPr>
          <p:cNvPr id="13" name="ot-172"/>
          <p:cNvSpPr txBox="1"/>
          <p:nvPr/>
        </p:nvSpPr>
        <p:spPr>
          <a:xfrm>
            <a:off x="7909560" y="3200400"/>
            <a:ext cx="3383280" cy="320040"/>
          </a:xfrm>
          <a:prstGeom prst="rect">
            <a:avLst/>
          </a:prstGeom>
          <a:noFill/>
          <a:ln/>
        </p:spPr>
        <p:txBody>
          <a:bodyPr wrap="square" lIns="0" tIns="0" rIns="0" bIns="0" rtlCol="0" anchor="ctr"/>
          <a:lstStyle/>
          <a:p>
            <a:pPr indent="0" marL="0">
              <a:buNone/>
            </a:pPr>
            <a:r>
              <a:rPr lang="en-US" sz="1500" b="1" dirty="0">
                <a:solidFill>
                  <a:srgbClr val="1E2761"/>
                </a:solidFill>
              </a:rPr>
              <a:t>Splittable</a:t>
            </a:r>
            <a:endParaRPr lang="en-US" sz="1500" dirty="0"/>
          </a:p>
        </p:txBody>
      </p:sp>
      <p:sp>
        <p:nvSpPr>
          <p:cNvPr id="14" name="od-173"/>
          <p:cNvSpPr txBox="1"/>
          <p:nvPr/>
        </p:nvSpPr>
        <p:spPr>
          <a:xfrm>
            <a:off x="7909560" y="3520440"/>
            <a:ext cx="3383280" cy="82296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Plusieurs mappers peuvent se partager un même fichier — contrairement au gzip.</a:t>
            </a:r>
            <a:endParaRPr lang="en-US" sz="1400" dirty="0"/>
          </a:p>
        </p:txBody>
      </p:sp>
      <p:sp>
        <p:nvSpPr>
          <p:cNvPr id="15" name="carte-174"/>
          <p:cNvSpPr/>
          <p:nvPr/>
        </p:nvSpPr>
        <p:spPr>
          <a:xfrm>
            <a:off x="594360" y="4480560"/>
            <a:ext cx="10972800" cy="1005840"/>
          </a:xfrm>
          <a:prstGeom prst="roundRect">
            <a:avLst>
              <a:gd name="adj" fmla="val 9091"/>
            </a:avLst>
          </a:prstGeom>
          <a:solidFill>
            <a:srgbClr val="1E2761"/>
          </a:solidFill>
          <a:ln w="12700">
            <a:solidFill>
              <a:srgbClr val="1E2761"/>
            </a:solidFill>
            <a:prstDash val="solid"/>
          </a:ln>
        </p:spPr>
      </p:sp>
      <p:sp>
        <p:nvSpPr>
          <p:cNvPr id="16" name="Text 14"/>
          <p:cNvSpPr txBox="1"/>
          <p:nvPr/>
        </p:nvSpPr>
        <p:spPr>
          <a:xfrm>
            <a:off x="1051560" y="4617720"/>
            <a:ext cx="2377440" cy="731520"/>
          </a:xfrm>
          <a:prstGeom prst="rect">
            <a:avLst/>
          </a:prstGeom>
          <a:noFill/>
          <a:ln/>
        </p:spPr>
        <p:txBody>
          <a:bodyPr wrap="square" lIns="0" tIns="0" rIns="0" bIns="0" rtlCol="0" anchor="ctr"/>
          <a:lstStyle/>
          <a:p>
            <a:pPr algn="ctr" indent="0" marL="0">
              <a:buNone/>
            </a:pPr>
            <a:r>
              <a:rPr lang="en-US" sz="3000" b="1" dirty="0">
                <a:solidFill>
                  <a:srgbClr val="CADCFC"/>
                </a:solidFill>
              </a:rPr>
              <a:t>62,9 Mo</a:t>
            </a:r>
            <a:endParaRPr lang="en-US" sz="3000" dirty="0"/>
          </a:p>
        </p:txBody>
      </p:sp>
      <p:sp>
        <p:nvSpPr>
          <p:cNvPr id="17" name="Text 15"/>
          <p:cNvSpPr txBox="1"/>
          <p:nvPr/>
        </p:nvSpPr>
        <p:spPr>
          <a:xfrm>
            <a:off x="3429000" y="4617720"/>
            <a:ext cx="731520" cy="731520"/>
          </a:xfrm>
          <a:prstGeom prst="rect">
            <a:avLst/>
          </a:prstGeom>
          <a:noFill/>
          <a:ln/>
        </p:spPr>
        <p:txBody>
          <a:bodyPr wrap="square" lIns="0" tIns="0" rIns="0" bIns="0" rtlCol="0" anchor="ctr"/>
          <a:lstStyle/>
          <a:p>
            <a:pPr algn="ctr" indent="0" marL="0">
              <a:buNone/>
            </a:pPr>
            <a:r>
              <a:rPr lang="en-US" sz="2400" dirty="0">
                <a:solidFill>
                  <a:srgbClr val="FFFFFF"/>
                </a:solidFill>
              </a:rPr>
              <a:t>→</a:t>
            </a:r>
            <a:endParaRPr lang="en-US" sz="2400" dirty="0"/>
          </a:p>
        </p:txBody>
      </p:sp>
      <p:sp>
        <p:nvSpPr>
          <p:cNvPr id="18" name="Text 16"/>
          <p:cNvSpPr txBox="1"/>
          <p:nvPr/>
        </p:nvSpPr>
        <p:spPr>
          <a:xfrm>
            <a:off x="4160520" y="4617720"/>
            <a:ext cx="2377440" cy="731520"/>
          </a:xfrm>
          <a:prstGeom prst="rect">
            <a:avLst/>
          </a:prstGeom>
          <a:noFill/>
          <a:ln/>
        </p:spPr>
        <p:txBody>
          <a:bodyPr wrap="square" lIns="0" tIns="0" rIns="0" bIns="0" rtlCol="0" anchor="ctr"/>
          <a:lstStyle/>
          <a:p>
            <a:pPr algn="ctr" indent="0" marL="0">
              <a:buNone/>
            </a:pPr>
            <a:r>
              <a:rPr lang="en-US" sz="3000" b="1" dirty="0">
                <a:solidFill>
                  <a:srgbClr val="FFFFFF"/>
                </a:solidFill>
              </a:rPr>
              <a:t>11,1 Mo</a:t>
            </a:r>
            <a:endParaRPr lang="en-US" sz="3000" dirty="0"/>
          </a:p>
        </p:txBody>
      </p:sp>
      <p:sp>
        <p:nvSpPr>
          <p:cNvPr id="19" name="Text 17"/>
          <p:cNvSpPr txBox="1"/>
          <p:nvPr/>
        </p:nvSpPr>
        <p:spPr>
          <a:xfrm>
            <a:off x="6812280" y="4617720"/>
            <a:ext cx="4297680" cy="731520"/>
          </a:xfrm>
          <a:prstGeom prst="rect">
            <a:avLst/>
          </a:prstGeom>
          <a:noFill/>
          <a:ln/>
        </p:spPr>
        <p:txBody>
          <a:bodyPr wrap="square" lIns="0" tIns="0" rIns="0" bIns="0" rtlCol="0" anchor="ctr"/>
          <a:lstStyle/>
          <a:p>
            <a:pPr indent="0" marL="0">
              <a:buNone/>
            </a:pPr>
            <a:r>
              <a:rPr lang="en-US" sz="1500" dirty="0">
                <a:solidFill>
                  <a:srgbClr val="FFFFFF"/>
                </a:solidFill>
              </a:rPr>
              <a:t>Même contenu, 500 000 transactions : l'occupation est divisée par 5,7.</a:t>
            </a:r>
            <a:endParaRPr lang="en-US" sz="15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12</a:t>
            </a:fld>
            <a:endParaRPr lang="en-US"/>
          </a:p>
        </p:txBody>
      </p:sp>
    </p:spTree>
  </p:cSld>
  <p:clrMapOvr>
    <a:masterClrMapping/>
  </p:clrMapOvr>
  <p:transition spd="med" advClick="1">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 partitionnement, démontré</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Même question posée deux fois : quel chiffre d'affaires en mars 2025 ?</a:t>
            </a:r>
            <a:endParaRPr lang="en-US" sz="1500" dirty="0"/>
          </a:p>
        </p:txBody>
      </p:sp>
      <p:sp>
        <p:nvSpPr>
          <p:cNvPr id="4" name="carte-175"/>
          <p:cNvSpPr/>
          <p:nvPr/>
        </p:nvSpPr>
        <p:spPr>
          <a:xfrm>
            <a:off x="594360" y="1600200"/>
            <a:ext cx="5257800" cy="2788920"/>
          </a:xfrm>
          <a:prstGeom prst="roundRect">
            <a:avLst>
              <a:gd name="adj" fmla="val 3279"/>
            </a:avLst>
          </a:prstGeom>
          <a:solidFill>
            <a:srgbClr val="FFFFFF"/>
          </a:solidFill>
          <a:ln w="12700">
            <a:solidFill>
              <a:srgbClr val="1BAF7A"/>
            </a:solidFill>
            <a:prstDash val="solid"/>
          </a:ln>
        </p:spPr>
      </p:sp>
      <p:sp>
        <p:nvSpPr>
          <p:cNvPr id="5" name="dt-176"/>
          <p:cNvSpPr txBox="1"/>
          <p:nvPr/>
        </p:nvSpPr>
        <p:spPr>
          <a:xfrm>
            <a:off x="868680" y="1783080"/>
            <a:ext cx="4709160" cy="320040"/>
          </a:xfrm>
          <a:prstGeom prst="rect">
            <a:avLst/>
          </a:prstGeom>
          <a:noFill/>
          <a:ln/>
        </p:spPr>
        <p:txBody>
          <a:bodyPr wrap="square" lIns="0" tIns="0" rIns="0" bIns="0" rtlCol="0" anchor="ctr"/>
          <a:lstStyle/>
          <a:p>
            <a:pPr indent="0" marL="0">
              <a:buNone/>
            </a:pPr>
            <a:r>
              <a:rPr lang="en-US" sz="1500" b="1" dirty="0">
                <a:solidFill>
                  <a:srgbClr val="1E2761"/>
                </a:solidFill>
              </a:rPr>
              <a:t>Sur la table partitionnée</a:t>
            </a:r>
            <a:endParaRPr lang="en-US" sz="1500" dirty="0"/>
          </a:p>
        </p:txBody>
      </p:sp>
      <p:sp>
        <p:nvSpPr>
          <p:cNvPr id="6" name="ds-177"/>
          <p:cNvSpPr txBox="1"/>
          <p:nvPr/>
        </p:nvSpPr>
        <p:spPr>
          <a:xfrm>
            <a:off x="868680" y="2121408"/>
            <a:ext cx="4709160" cy="411480"/>
          </a:xfrm>
          <a:prstGeom prst="rect">
            <a:avLst/>
          </a:prstGeom>
          <a:noFill/>
          <a:ln/>
        </p:spPr>
        <p:txBody>
          <a:bodyPr wrap="square" lIns="0" tIns="0" rIns="0" bIns="0" rtlCol="0" anchor="t"/>
          <a:lstStyle/>
          <a:p>
            <a:pPr indent="0" marL="0">
              <a:buNone/>
            </a:pPr>
            <a:r>
              <a:rPr lang="en-US" sz="1250" dirty="0">
                <a:solidFill>
                  <a:srgbClr val="353430"/>
                </a:solidFill>
                <a:latin typeface="Courier New" pitchFamily="34" charset="0"/>
                <a:ea typeface="Courier New" pitchFamily="34" charset="-122"/>
                <a:cs typeface="Courier New" pitchFamily="34" charset="-120"/>
              </a:rPr>
              <a:t>WHERE annee = 2025 AND mois = 3</a:t>
            </a:r>
            <a:endParaRPr lang="en-US" sz="1250" dirty="0"/>
          </a:p>
        </p:txBody>
      </p:sp>
      <p:sp>
        <p:nvSpPr>
          <p:cNvPr id="7" name="dn-178"/>
          <p:cNvSpPr txBox="1"/>
          <p:nvPr/>
        </p:nvSpPr>
        <p:spPr>
          <a:xfrm>
            <a:off x="868680" y="2606040"/>
            <a:ext cx="4709160" cy="777240"/>
          </a:xfrm>
          <a:prstGeom prst="rect">
            <a:avLst/>
          </a:prstGeom>
          <a:noFill/>
          <a:ln/>
        </p:spPr>
        <p:txBody>
          <a:bodyPr wrap="square" lIns="0" tIns="0" rIns="0" bIns="0" rtlCol="0" anchor="ctr"/>
          <a:lstStyle/>
          <a:p>
            <a:pPr algn="ctr" indent="0" marL="0">
              <a:buNone/>
            </a:pPr>
            <a:r>
              <a:rPr lang="en-US" sz="4400" b="1" dirty="0">
                <a:solidFill>
                  <a:srgbClr val="1BAF7A"/>
                </a:solidFill>
              </a:rPr>
              <a:t>21 127</a:t>
            </a:r>
            <a:endParaRPr lang="en-US" sz="4400" dirty="0"/>
          </a:p>
        </p:txBody>
      </p:sp>
      <p:sp>
        <p:nvSpPr>
          <p:cNvPr id="8" name="dl-179"/>
          <p:cNvSpPr txBox="1"/>
          <p:nvPr/>
        </p:nvSpPr>
        <p:spPr>
          <a:xfrm>
            <a:off x="868680" y="3383280"/>
            <a:ext cx="4709160" cy="320040"/>
          </a:xfrm>
          <a:prstGeom prst="rect">
            <a:avLst/>
          </a:prstGeom>
          <a:noFill/>
          <a:ln/>
        </p:spPr>
        <p:txBody>
          <a:bodyPr wrap="square" lIns="0" tIns="0" rIns="0" bIns="0" rtlCol="0" anchor="ctr"/>
          <a:lstStyle/>
          <a:p>
            <a:pPr algn="ctr" indent="0" marL="0">
              <a:buNone/>
            </a:pPr>
            <a:r>
              <a:rPr lang="en-US" sz="1350" dirty="0">
                <a:solidFill>
                  <a:srgbClr val="353430"/>
                </a:solidFill>
              </a:rPr>
              <a:t>lignes annoncées par le plan</a:t>
            </a:r>
            <a:endParaRPr lang="en-US" sz="1350" dirty="0"/>
          </a:p>
        </p:txBody>
      </p:sp>
      <p:sp>
        <p:nvSpPr>
          <p:cNvPr id="9" name="dd-180"/>
          <p:cNvSpPr txBox="1"/>
          <p:nvPr/>
        </p:nvSpPr>
        <p:spPr>
          <a:xfrm>
            <a:off x="868680" y="3794760"/>
            <a:ext cx="4709160" cy="411480"/>
          </a:xfrm>
          <a:prstGeom prst="rect">
            <a:avLst/>
          </a:prstGeom>
          <a:noFill/>
          <a:ln/>
        </p:spPr>
        <p:txBody>
          <a:bodyPr wrap="square" lIns="0" tIns="0" rIns="0" bIns="0" rtlCol="0" anchor="ctr"/>
          <a:lstStyle/>
          <a:p>
            <a:pPr algn="ctr" indent="0" marL="0">
              <a:buNone/>
            </a:pPr>
            <a:r>
              <a:rPr lang="en-US" sz="2000" b="1" dirty="0">
                <a:solidFill>
                  <a:srgbClr val="1E2761"/>
                </a:solidFill>
              </a:rPr>
              <a:t>1,62 s</a:t>
            </a:r>
            <a:endParaRPr lang="en-US" sz="2000" dirty="0"/>
          </a:p>
        </p:txBody>
      </p:sp>
      <p:sp>
        <p:nvSpPr>
          <p:cNvPr id="10" name="carte-181"/>
          <p:cNvSpPr/>
          <p:nvPr/>
        </p:nvSpPr>
        <p:spPr>
          <a:xfrm>
            <a:off x="6309360" y="1600200"/>
            <a:ext cx="5257800" cy="2788920"/>
          </a:xfrm>
          <a:prstGeom prst="roundRect">
            <a:avLst>
              <a:gd name="adj" fmla="val 3279"/>
            </a:avLst>
          </a:prstGeom>
          <a:solidFill>
            <a:srgbClr val="FFFFFF"/>
          </a:solidFill>
          <a:ln w="12700">
            <a:solidFill>
              <a:srgbClr val="EB6834"/>
            </a:solidFill>
            <a:prstDash val="solid"/>
          </a:ln>
        </p:spPr>
      </p:sp>
      <p:sp>
        <p:nvSpPr>
          <p:cNvPr id="11" name="dt-182"/>
          <p:cNvSpPr txBox="1"/>
          <p:nvPr/>
        </p:nvSpPr>
        <p:spPr>
          <a:xfrm>
            <a:off x="6583680" y="1783080"/>
            <a:ext cx="4709160" cy="320040"/>
          </a:xfrm>
          <a:prstGeom prst="rect">
            <a:avLst/>
          </a:prstGeom>
          <a:noFill/>
          <a:ln/>
        </p:spPr>
        <p:txBody>
          <a:bodyPr wrap="square" lIns="0" tIns="0" rIns="0" bIns="0" rtlCol="0" anchor="ctr"/>
          <a:lstStyle/>
          <a:p>
            <a:pPr indent="0" marL="0">
              <a:buNone/>
            </a:pPr>
            <a:r>
              <a:rPr lang="en-US" sz="1500" b="1" dirty="0">
                <a:solidFill>
                  <a:srgbClr val="1E2761"/>
                </a:solidFill>
              </a:rPr>
              <a:t>Sur la table TEXTFILE</a:t>
            </a:r>
            <a:endParaRPr lang="en-US" sz="1500" dirty="0"/>
          </a:p>
        </p:txBody>
      </p:sp>
      <p:sp>
        <p:nvSpPr>
          <p:cNvPr id="12" name="ds-183"/>
          <p:cNvSpPr txBox="1"/>
          <p:nvPr/>
        </p:nvSpPr>
        <p:spPr>
          <a:xfrm>
            <a:off x="6583680" y="2121408"/>
            <a:ext cx="4709160" cy="411480"/>
          </a:xfrm>
          <a:prstGeom prst="rect">
            <a:avLst/>
          </a:prstGeom>
          <a:noFill/>
          <a:ln/>
        </p:spPr>
        <p:txBody>
          <a:bodyPr wrap="square" lIns="0" tIns="0" rIns="0" bIns="0" rtlCol="0" anchor="t"/>
          <a:lstStyle/>
          <a:p>
            <a:pPr indent="0" marL="0">
              <a:buNone/>
            </a:pPr>
            <a:r>
              <a:rPr lang="en-US" sz="1250" dirty="0">
                <a:solidFill>
                  <a:srgbClr val="353430"/>
                </a:solidFill>
                <a:latin typeface="Courier New" pitchFamily="34" charset="0"/>
                <a:ea typeface="Courier New" pitchFamily="34" charset="-122"/>
                <a:cs typeface="Courier New" pitchFamily="34" charset="-120"/>
              </a:rPr>
              <a:t>WHERE SUBSTR(datetime,1,7) = '2025-03'</a:t>
            </a:r>
            <a:endParaRPr lang="en-US" sz="1250" dirty="0"/>
          </a:p>
        </p:txBody>
      </p:sp>
      <p:sp>
        <p:nvSpPr>
          <p:cNvPr id="13" name="dn-184"/>
          <p:cNvSpPr txBox="1"/>
          <p:nvPr/>
        </p:nvSpPr>
        <p:spPr>
          <a:xfrm>
            <a:off x="6583680" y="2606040"/>
            <a:ext cx="4709160" cy="777240"/>
          </a:xfrm>
          <a:prstGeom prst="rect">
            <a:avLst/>
          </a:prstGeom>
          <a:noFill/>
          <a:ln/>
        </p:spPr>
        <p:txBody>
          <a:bodyPr wrap="square" lIns="0" tIns="0" rIns="0" bIns="0" rtlCol="0" anchor="ctr"/>
          <a:lstStyle/>
          <a:p>
            <a:pPr algn="ctr" indent="0" marL="0">
              <a:buNone/>
            </a:pPr>
            <a:r>
              <a:rPr lang="en-US" sz="4400" b="1" dirty="0">
                <a:solidFill>
                  <a:srgbClr val="EB6834"/>
                </a:solidFill>
              </a:rPr>
              <a:t>250 000</a:t>
            </a:r>
            <a:endParaRPr lang="en-US" sz="4400" dirty="0"/>
          </a:p>
        </p:txBody>
      </p:sp>
      <p:sp>
        <p:nvSpPr>
          <p:cNvPr id="14" name="dl-185"/>
          <p:cNvSpPr txBox="1"/>
          <p:nvPr/>
        </p:nvSpPr>
        <p:spPr>
          <a:xfrm>
            <a:off x="6583680" y="3383280"/>
            <a:ext cx="4709160" cy="320040"/>
          </a:xfrm>
          <a:prstGeom prst="rect">
            <a:avLst/>
          </a:prstGeom>
          <a:noFill/>
          <a:ln/>
        </p:spPr>
        <p:txBody>
          <a:bodyPr wrap="square" lIns="0" tIns="0" rIns="0" bIns="0" rtlCol="0" anchor="ctr"/>
          <a:lstStyle/>
          <a:p>
            <a:pPr algn="ctr" indent="0" marL="0">
              <a:buNone/>
            </a:pPr>
            <a:r>
              <a:rPr lang="en-US" sz="1350" dirty="0">
                <a:solidFill>
                  <a:srgbClr val="353430"/>
                </a:solidFill>
              </a:rPr>
              <a:t>lignes annoncées par le plan</a:t>
            </a:r>
            <a:endParaRPr lang="en-US" sz="1350" dirty="0"/>
          </a:p>
        </p:txBody>
      </p:sp>
      <p:sp>
        <p:nvSpPr>
          <p:cNvPr id="15" name="dd-186"/>
          <p:cNvSpPr txBox="1"/>
          <p:nvPr/>
        </p:nvSpPr>
        <p:spPr>
          <a:xfrm>
            <a:off x="6583680" y="3794760"/>
            <a:ext cx="4709160" cy="411480"/>
          </a:xfrm>
          <a:prstGeom prst="rect">
            <a:avLst/>
          </a:prstGeom>
          <a:noFill/>
          <a:ln/>
        </p:spPr>
        <p:txBody>
          <a:bodyPr wrap="square" lIns="0" tIns="0" rIns="0" bIns="0" rtlCol="0" anchor="ctr"/>
          <a:lstStyle/>
          <a:p>
            <a:pPr algn="ctr" indent="0" marL="0">
              <a:buNone/>
            </a:pPr>
            <a:r>
              <a:rPr lang="en-US" sz="2000" b="1" dirty="0">
                <a:solidFill>
                  <a:srgbClr val="1E2761"/>
                </a:solidFill>
              </a:rPr>
              <a:t>2,57 s</a:t>
            </a:r>
            <a:endParaRPr lang="en-US" sz="2000" dirty="0"/>
          </a:p>
        </p:txBody>
      </p:sp>
      <p:sp>
        <p:nvSpPr>
          <p:cNvPr id="16" name="carte-187"/>
          <p:cNvSpPr/>
          <p:nvPr/>
        </p:nvSpPr>
        <p:spPr>
          <a:xfrm>
            <a:off x="594360" y="4572000"/>
            <a:ext cx="10972800" cy="868680"/>
          </a:xfrm>
          <a:prstGeom prst="roundRect">
            <a:avLst>
              <a:gd name="adj" fmla="val 10526"/>
            </a:avLst>
          </a:prstGeom>
          <a:solidFill>
            <a:srgbClr val="1E2761"/>
          </a:solidFill>
          <a:ln w="12700">
            <a:solidFill>
              <a:srgbClr val="1E2761"/>
            </a:solidFill>
            <a:prstDash val="solid"/>
          </a:ln>
        </p:spPr>
      </p:sp>
      <p:sp>
        <p:nvSpPr>
          <p:cNvPr id="17" name="Text 15"/>
          <p:cNvSpPr txBox="1"/>
          <p:nvPr/>
        </p:nvSpPr>
        <p:spPr>
          <a:xfrm>
            <a:off x="868680" y="4709160"/>
            <a:ext cx="10424160" cy="594360"/>
          </a:xfrm>
          <a:prstGeom prst="rect">
            <a:avLst/>
          </a:prstGeom>
          <a:noFill/>
          <a:ln/>
        </p:spPr>
        <p:txBody>
          <a:bodyPr wrap="square" lIns="0" tIns="0" rIns="0" bIns="0" rtlCol="0" anchor="ctr"/>
          <a:lstStyle/>
          <a:p>
            <a:pPr indent="0" marL="0">
              <a:lnSpc>
                <a:spcPct val="115000"/>
              </a:lnSpc>
              <a:buNone/>
            </a:pPr>
            <a:r>
              <a:rPr lang="en-US" sz="1450" b="1" dirty="0">
                <a:solidFill>
                  <a:srgbClr val="FFFFFF"/>
                </a:solidFill>
              </a:rPr>
              <a:t>21 127 est exactement le nombre de transactions de mars 2025. </a:t>
            </a:r>
            <a:pPr indent="0" marL="0">
              <a:lnSpc>
                <a:spcPct val="115000"/>
              </a:lnSpc>
              <a:buNone/>
            </a:pPr>
            <a:r>
              <a:rPr lang="en-US" sz="1450" dirty="0">
                <a:solidFill>
                  <a:srgbClr val="CADCFC"/>
                </a:solidFill>
              </a:rPr>
              <a:t>Hive n'ouvre qu'un seul des vingt-quatre dossiers. Les deux requêtes rendent le même résultat : 194 982 547,5 FCFA.</a:t>
            </a:r>
            <a:endParaRPr lang="en-US" sz="145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13</a:t>
            </a:fld>
            <a:endParaRPr lang="en-US"/>
          </a:p>
        </p:txBody>
      </p:sp>
    </p:spTree>
  </p:cSld>
  <p:clrMapOvr>
    <a:masterClrMapping/>
  </p:clrMapOvr>
  <p:transition spd="med" advClick="1">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Ce que le benchmark dit vraiment</a:t>
            </a:r>
            <a:endParaRPr lang="en-US" sz="2800" dirty="0"/>
          </a:p>
        </p:txBody>
      </p:sp>
      <p:sp>
        <p:nvSpPr>
          <p:cNvPr id="30" name="grp-30"/>
          <p:cNvSpPr txBox="1"/>
          <p:nvPr/>
        </p:nvSpPr>
        <p:spPr>
          <a:xfrm>
            <a:off x="594360" y="1280160"/>
            <a:ext cx="5500000" cy="300000"/>
          </a:xfrm>
          <a:prstGeom prst="rect">
            <a:avLst/>
          </a:prstGeom>
          <a:noFill/>
          <a:ln/>
        </p:spPr>
        <p:txBody>
          <a:bodyPr wrap="square" lIns="0" tIns="0" rIns="0" bIns="0" rtlCol="0" anchor="ctr"/>
          <a:lstStyle/>
          <a:p>
            <a:pPr indent="0" marL="0">
              <a:buNone/>
            </a:pPr>
            <a:r>
              <a:rPr lang="fr-FR" sz="1350" b="1" dirty="0">
                <a:solidFill>
                  <a:srgbClr val="1E2761"/>
                </a:solidFill>
              </a:rPr>
              <a:t>Balayage complet — CA par ville</a:t>
            </a:r>
          </a:p>
        </p:txBody>
      </p:sp>
      <p:sp>
        <p:nvSpPr>
          <p:cNvPr id="31" name="lib-31"/>
          <p:cNvSpPr txBox="1"/>
          <p:nvPr/>
        </p:nvSpPr>
        <p:spPr>
          <a:xfrm>
            <a:off x="594360" y="1680160"/>
            <a:ext cx="2150000" cy="400000"/>
          </a:xfrm>
          <a:prstGeom prst="rect">
            <a:avLst/>
          </a:prstGeom>
          <a:noFill/>
          <a:ln/>
        </p:spPr>
        <p:txBody>
          <a:bodyPr wrap="square" lIns="0" tIns="0" rIns="0" bIns="0" rtlCol="0" anchor="ctr"/>
          <a:lstStyle/>
          <a:p>
            <a:pPr indent="0" marL="0" algn="r">
              <a:buNone/>
            </a:pPr>
            <a:r>
              <a:rPr lang="fr-FR" sz="1350" b="0" dirty="0">
                <a:solidFill>
                  <a:srgbClr val="1A1A1A"/>
                </a:solidFill>
              </a:rPr>
              <a:t>TEXTFILE</a:t>
            </a:r>
          </a:p>
        </p:txBody>
      </p:sp>
      <p:sp>
        <p:nvSpPr>
          <p:cNvPr id="32" name="bar-32"/>
          <p:cNvSpPr/>
          <p:nvPr/>
        </p:nvSpPr>
        <p:spPr>
          <a:xfrm>
            <a:off x="2924360" y="1680160"/>
            <a:ext cx="2610000" cy="400000"/>
          </a:xfrm>
          <a:prstGeom prst="roundRect">
            <a:avLst>
              <a:gd name="adj" fmla="val 18000"/>
            </a:avLst>
          </a:prstGeom>
          <a:solidFill>
            <a:srgbClr val="353430"/>
          </a:solidFill>
          <a:ln/>
        </p:spPr>
        <p:txBody>
          <a:bodyPr/>
          <a:lstStyle/>
          <a:p/>
        </p:txBody>
      </p:sp>
      <p:sp>
        <p:nvSpPr>
          <p:cNvPr id="33" name="val-33"/>
          <p:cNvSpPr txBox="1"/>
          <p:nvPr/>
        </p:nvSpPr>
        <p:spPr>
          <a:xfrm>
            <a:off x="5634360" y="1680160"/>
            <a:ext cx="900000" cy="400000"/>
          </a:xfrm>
          <a:prstGeom prst="rect">
            <a:avLst/>
          </a:prstGeom>
          <a:noFill/>
          <a:ln/>
        </p:spPr>
        <p:txBody>
          <a:bodyPr wrap="square" lIns="0" tIns="0" rIns="0" bIns="0" rtlCol="0" anchor="ctr"/>
          <a:lstStyle/>
          <a:p>
            <a:pPr indent="0" marL="0">
              <a:buNone/>
            </a:pPr>
            <a:r>
              <a:rPr lang="fr-FR" sz="1350" b="1" dirty="0">
                <a:solidFill>
                  <a:srgbClr val="353430"/>
                </a:solidFill>
              </a:rPr>
              <a:t>2,61 s</a:t>
            </a:r>
          </a:p>
        </p:txBody>
      </p:sp>
      <p:sp>
        <p:nvSpPr>
          <p:cNvPr id="34" name="lib-34"/>
          <p:cNvSpPr txBox="1"/>
          <p:nvPr/>
        </p:nvSpPr>
        <p:spPr>
          <a:xfrm>
            <a:off x="594360" y="2200160"/>
            <a:ext cx="2150000" cy="400000"/>
          </a:xfrm>
          <a:prstGeom prst="rect">
            <a:avLst/>
          </a:prstGeom>
          <a:noFill/>
          <a:ln/>
        </p:spPr>
        <p:txBody>
          <a:bodyPr wrap="square" lIns="0" tIns="0" rIns="0" bIns="0" rtlCol="0" anchor="ctr"/>
          <a:lstStyle/>
          <a:p>
            <a:pPr indent="0" marL="0" algn="r">
              <a:buNone/>
            </a:pPr>
            <a:r>
              <a:rPr lang="fr-FR" sz="1350" b="0" dirty="0">
                <a:solidFill>
                  <a:srgbClr val="1A1A1A"/>
                </a:solidFill>
              </a:rPr>
              <a:t>ORC partitionné</a:t>
            </a:r>
          </a:p>
        </p:txBody>
      </p:sp>
      <p:sp>
        <p:nvSpPr>
          <p:cNvPr id="35" name="bar-35"/>
          <p:cNvSpPr/>
          <p:nvPr/>
        </p:nvSpPr>
        <p:spPr>
          <a:xfrm>
            <a:off x="2924360" y="2200160"/>
            <a:ext cx="2790000" cy="400000"/>
          </a:xfrm>
          <a:prstGeom prst="roundRect">
            <a:avLst>
              <a:gd name="adj" fmla="val 18000"/>
            </a:avLst>
          </a:prstGeom>
          <a:solidFill>
            <a:srgbClr val="2A78D6"/>
          </a:solidFill>
          <a:ln/>
        </p:spPr>
        <p:txBody>
          <a:bodyPr/>
          <a:lstStyle/>
          <a:p/>
        </p:txBody>
      </p:sp>
      <p:sp>
        <p:nvSpPr>
          <p:cNvPr id="36" name="val-36"/>
          <p:cNvSpPr txBox="1"/>
          <p:nvPr/>
        </p:nvSpPr>
        <p:spPr>
          <a:xfrm>
            <a:off x="5814360" y="2200160"/>
            <a:ext cx="900000" cy="400000"/>
          </a:xfrm>
          <a:prstGeom prst="rect">
            <a:avLst/>
          </a:prstGeom>
          <a:noFill/>
          <a:ln/>
        </p:spPr>
        <p:txBody>
          <a:bodyPr wrap="square" lIns="0" tIns="0" rIns="0" bIns="0" rtlCol="0" anchor="ctr"/>
          <a:lstStyle/>
          <a:p>
            <a:pPr indent="0" marL="0">
              <a:buNone/>
            </a:pPr>
            <a:r>
              <a:rPr lang="fr-FR" sz="1350" b="1" dirty="0">
                <a:solidFill>
                  <a:srgbClr val="2A78D6"/>
                </a:solidFill>
              </a:rPr>
              <a:t>2,79 s</a:t>
            </a:r>
          </a:p>
        </p:txBody>
      </p:sp>
      <p:sp>
        <p:nvSpPr>
          <p:cNvPr id="37" name="grp-37"/>
          <p:cNvSpPr txBox="1"/>
          <p:nvPr/>
        </p:nvSpPr>
        <p:spPr>
          <a:xfrm>
            <a:off x="594360" y="2830160"/>
            <a:ext cx="5500000" cy="300000"/>
          </a:xfrm>
          <a:prstGeom prst="rect">
            <a:avLst/>
          </a:prstGeom>
          <a:noFill/>
          <a:ln/>
        </p:spPr>
        <p:txBody>
          <a:bodyPr wrap="square" lIns="0" tIns="0" rIns="0" bIns="0" rtlCol="0" anchor="ctr"/>
          <a:lstStyle/>
          <a:p>
            <a:pPr indent="0" marL="0">
              <a:buNone/>
            </a:pPr>
            <a:r>
              <a:rPr lang="fr-FR" sz="1350" b="1" dirty="0">
                <a:solidFill>
                  <a:srgbClr val="1E2761"/>
                </a:solidFill>
              </a:rPr>
              <a:t>Requête filtrée — mars 2025</a:t>
            </a:r>
          </a:p>
        </p:txBody>
      </p:sp>
      <p:sp>
        <p:nvSpPr>
          <p:cNvPr id="38" name="lib-38"/>
          <p:cNvSpPr txBox="1"/>
          <p:nvPr/>
        </p:nvSpPr>
        <p:spPr>
          <a:xfrm>
            <a:off x="594360" y="3230160"/>
            <a:ext cx="2150000" cy="400000"/>
          </a:xfrm>
          <a:prstGeom prst="rect">
            <a:avLst/>
          </a:prstGeom>
          <a:noFill/>
          <a:ln/>
        </p:spPr>
        <p:txBody>
          <a:bodyPr wrap="square" lIns="0" tIns="0" rIns="0" bIns="0" rtlCol="0" anchor="ctr"/>
          <a:lstStyle/>
          <a:p>
            <a:pPr indent="0" marL="0" algn="r">
              <a:buNone/>
            </a:pPr>
            <a:r>
              <a:rPr lang="fr-FR" sz="1350" b="0" dirty="0">
                <a:solidFill>
                  <a:srgbClr val="1A1A1A"/>
                </a:solidFill>
              </a:rPr>
              <a:t>TEXTFILE</a:t>
            </a:r>
          </a:p>
        </p:txBody>
      </p:sp>
      <p:sp>
        <p:nvSpPr>
          <p:cNvPr id="39" name="bar-39"/>
          <p:cNvSpPr/>
          <p:nvPr/>
        </p:nvSpPr>
        <p:spPr>
          <a:xfrm>
            <a:off x="2924360" y="3230160"/>
            <a:ext cx="2570000" cy="400000"/>
          </a:xfrm>
          <a:prstGeom prst="roundRect">
            <a:avLst>
              <a:gd name="adj" fmla="val 18000"/>
            </a:avLst>
          </a:prstGeom>
          <a:solidFill>
            <a:srgbClr val="353430"/>
          </a:solidFill>
          <a:ln/>
        </p:spPr>
        <p:txBody>
          <a:bodyPr/>
          <a:lstStyle/>
          <a:p/>
        </p:txBody>
      </p:sp>
      <p:sp>
        <p:nvSpPr>
          <p:cNvPr id="40" name="val-40"/>
          <p:cNvSpPr txBox="1"/>
          <p:nvPr/>
        </p:nvSpPr>
        <p:spPr>
          <a:xfrm>
            <a:off x="5594360" y="3230160"/>
            <a:ext cx="900000" cy="400000"/>
          </a:xfrm>
          <a:prstGeom prst="rect">
            <a:avLst/>
          </a:prstGeom>
          <a:noFill/>
          <a:ln/>
        </p:spPr>
        <p:txBody>
          <a:bodyPr wrap="square" lIns="0" tIns="0" rIns="0" bIns="0" rtlCol="0" anchor="ctr"/>
          <a:lstStyle/>
          <a:p>
            <a:pPr indent="0" marL="0">
              <a:buNone/>
            </a:pPr>
            <a:r>
              <a:rPr lang="fr-FR" sz="1350" b="1" dirty="0">
                <a:solidFill>
                  <a:srgbClr val="353430"/>
                </a:solidFill>
              </a:rPr>
              <a:t>2,57 s</a:t>
            </a:r>
          </a:p>
        </p:txBody>
      </p:sp>
      <p:sp>
        <p:nvSpPr>
          <p:cNvPr id="41" name="lib-41"/>
          <p:cNvSpPr txBox="1"/>
          <p:nvPr/>
        </p:nvSpPr>
        <p:spPr>
          <a:xfrm>
            <a:off x="594360" y="3750160"/>
            <a:ext cx="2150000" cy="400000"/>
          </a:xfrm>
          <a:prstGeom prst="rect">
            <a:avLst/>
          </a:prstGeom>
          <a:noFill/>
          <a:ln/>
        </p:spPr>
        <p:txBody>
          <a:bodyPr wrap="square" lIns="0" tIns="0" rIns="0" bIns="0" rtlCol="0" anchor="ctr"/>
          <a:lstStyle/>
          <a:p>
            <a:pPr indent="0" marL="0" algn="r">
              <a:buNone/>
            </a:pPr>
            <a:r>
              <a:rPr lang="fr-FR" sz="1350" b="0" dirty="0">
                <a:solidFill>
                  <a:srgbClr val="1A1A1A"/>
                </a:solidFill>
              </a:rPr>
              <a:t>ORC, 1 partition</a:t>
            </a:r>
          </a:p>
        </p:txBody>
      </p:sp>
      <p:sp>
        <p:nvSpPr>
          <p:cNvPr id="42" name="bar-42"/>
          <p:cNvSpPr/>
          <p:nvPr/>
        </p:nvSpPr>
        <p:spPr>
          <a:xfrm>
            <a:off x="2924360" y="3750160"/>
            <a:ext cx="1620000" cy="400000"/>
          </a:xfrm>
          <a:prstGeom prst="roundRect">
            <a:avLst>
              <a:gd name="adj" fmla="val 18000"/>
            </a:avLst>
          </a:prstGeom>
          <a:solidFill>
            <a:srgbClr val="1BAF7A"/>
          </a:solidFill>
          <a:ln/>
        </p:spPr>
        <p:txBody>
          <a:bodyPr/>
          <a:lstStyle/>
          <a:p/>
        </p:txBody>
      </p:sp>
      <p:sp>
        <p:nvSpPr>
          <p:cNvPr id="43" name="val-43"/>
          <p:cNvSpPr txBox="1"/>
          <p:nvPr/>
        </p:nvSpPr>
        <p:spPr>
          <a:xfrm>
            <a:off x="4644360" y="3750160"/>
            <a:ext cx="900000" cy="400000"/>
          </a:xfrm>
          <a:prstGeom prst="rect">
            <a:avLst/>
          </a:prstGeom>
          <a:noFill/>
          <a:ln/>
        </p:spPr>
        <p:txBody>
          <a:bodyPr wrap="square" lIns="0" tIns="0" rIns="0" bIns="0" rtlCol="0" anchor="ctr"/>
          <a:lstStyle/>
          <a:p>
            <a:pPr indent="0" marL="0">
              <a:buNone/>
            </a:pPr>
            <a:r>
              <a:rPr lang="fr-FR" sz="1350" b="1" dirty="0">
                <a:solidFill>
                  <a:srgbClr val="1BAF7A"/>
                </a:solidFill>
              </a:rPr>
              <a:t>1,62 s</a:t>
            </a:r>
          </a:p>
        </p:txBody>
      </p:sp>
      <p:sp>
        <p:nvSpPr>
          <p:cNvPr id="44" name="note-44"/>
          <p:cNvSpPr txBox="1"/>
          <p:nvPr/>
        </p:nvSpPr>
        <p:spPr>
          <a:xfrm>
            <a:off x="5700000" y="3750160"/>
            <a:ext cx="1000000" cy="400000"/>
          </a:xfrm>
          <a:prstGeom prst="rect">
            <a:avLst/>
          </a:prstGeom>
          <a:noFill/>
          <a:ln/>
        </p:spPr>
        <p:txBody>
          <a:bodyPr wrap="square" lIns="0" tIns="0" rIns="0" bIns="0" rtlCol="0" anchor="ctr"/>
          <a:lstStyle/>
          <a:p>
            <a:pPr indent="0" marL="0">
              <a:buNone/>
            </a:pPr>
            <a:r>
              <a:rPr lang="fr-FR" sz="1800" b="1" dirty="0">
                <a:solidFill>
                  <a:srgbClr val="1BAF7A"/>
                </a:solidFill>
              </a:rPr>
              <a:t>−37 %</a:t>
            </a:r>
          </a:p>
        </p:txBody>
      </p:sp>
      <p:sp>
        <p:nvSpPr>
          <p:cNvPr id="4" name="carte-188"/>
          <p:cNvSpPr/>
          <p:nvPr/>
        </p:nvSpPr>
        <p:spPr>
          <a:xfrm>
            <a:off x="7068312" y="1280160"/>
            <a:ext cx="4498848" cy="1371600"/>
          </a:xfrm>
          <a:prstGeom prst="roundRect">
            <a:avLst>
              <a:gd name="adj" fmla="val 6667"/>
            </a:avLst>
          </a:prstGeom>
          <a:solidFill>
            <a:srgbClr val="FFFFFF"/>
          </a:solidFill>
          <a:ln w="12700">
            <a:solidFill>
              <a:srgbClr val="EB6834"/>
            </a:solidFill>
            <a:prstDash val="solid"/>
          </a:ln>
        </p:spPr>
      </p:sp>
      <p:sp>
        <p:nvSpPr>
          <p:cNvPr id="5" name="Text 2"/>
          <p:cNvSpPr txBox="1"/>
          <p:nvPr/>
        </p:nvSpPr>
        <p:spPr>
          <a:xfrm>
            <a:off x="7324344" y="1417320"/>
            <a:ext cx="3986784" cy="320040"/>
          </a:xfrm>
          <a:prstGeom prst="rect">
            <a:avLst/>
          </a:prstGeom>
          <a:noFill/>
          <a:ln/>
        </p:spPr>
        <p:txBody>
          <a:bodyPr wrap="square" lIns="0" tIns="0" rIns="0" bIns="0" rtlCol="0" anchor="ctr"/>
          <a:lstStyle/>
          <a:p>
            <a:pPr indent="0" marL="0">
              <a:buNone/>
            </a:pPr>
            <a:r>
              <a:rPr lang="en-US" sz="1500" b="1" dirty="0">
                <a:solidFill>
                  <a:srgbClr val="EB6834"/>
                </a:solidFill>
              </a:rPr>
              <a:t>Le résultat contre-intuitif</a:t>
            </a:r>
            <a:endParaRPr lang="en-US" sz="1500" dirty="0"/>
          </a:p>
        </p:txBody>
      </p:sp>
      <p:sp>
        <p:nvSpPr>
          <p:cNvPr id="6" name="Text 3"/>
          <p:cNvSpPr txBox="1"/>
          <p:nvPr/>
        </p:nvSpPr>
        <p:spPr>
          <a:xfrm>
            <a:off x="7324344" y="1755648"/>
            <a:ext cx="3986784" cy="822960"/>
          </a:xfrm>
          <a:prstGeom prst="rect">
            <a:avLst/>
          </a:prstGeom>
          <a:noFill/>
          <a:ln/>
        </p:spPr>
        <p:txBody>
          <a:bodyPr wrap="square" lIns="0" tIns="0" rIns="0" bIns="0" rtlCol="0" anchor="t"/>
          <a:lstStyle/>
          <a:p>
            <a:pPr indent="0" marL="0">
              <a:lnSpc>
                <a:spcPct val="112000"/>
              </a:lnSpc>
              <a:buNone/>
            </a:pPr>
            <a:r>
              <a:rPr lang="en-US" sz="1400" dirty="0">
                <a:solidFill>
                  <a:srgbClr val="1A1A1A"/>
                </a:solidFill>
              </a:rPr>
              <a:t>Sur une requête qui balaie tout, l'ORC partitionné n'est pas plus rapide : 2,79 s contre 2,61 s. Il faut ouvrir 24 fichiers au lieu d'un.</a:t>
            </a:r>
            <a:endParaRPr lang="en-US" sz="1400" dirty="0"/>
          </a:p>
        </p:txBody>
      </p:sp>
      <p:sp>
        <p:nvSpPr>
          <p:cNvPr id="7" name="carte-189"/>
          <p:cNvSpPr/>
          <p:nvPr/>
        </p:nvSpPr>
        <p:spPr>
          <a:xfrm>
            <a:off x="7068312" y="2788920"/>
            <a:ext cx="4498848" cy="1508760"/>
          </a:xfrm>
          <a:prstGeom prst="roundRect">
            <a:avLst>
              <a:gd name="adj" fmla="val 6061"/>
            </a:avLst>
          </a:prstGeom>
          <a:solidFill>
            <a:srgbClr val="FFFFFF"/>
          </a:solidFill>
          <a:ln w="12700">
            <a:solidFill>
              <a:srgbClr val="FFFFFF"/>
            </a:solidFill>
            <a:prstDash val="solid"/>
          </a:ln>
        </p:spPr>
      </p:sp>
      <p:sp>
        <p:nvSpPr>
          <p:cNvPr id="8" name="Text 5"/>
          <p:cNvSpPr txBox="1"/>
          <p:nvPr/>
        </p:nvSpPr>
        <p:spPr>
          <a:xfrm>
            <a:off x="7324344" y="2926080"/>
            <a:ext cx="3986784" cy="320040"/>
          </a:xfrm>
          <a:prstGeom prst="rect">
            <a:avLst/>
          </a:prstGeom>
          <a:noFill/>
          <a:ln/>
        </p:spPr>
        <p:txBody>
          <a:bodyPr wrap="square" lIns="0" tIns="0" rIns="0" bIns="0" rtlCol="0" anchor="ctr"/>
          <a:lstStyle/>
          <a:p>
            <a:pPr indent="0" marL="0">
              <a:buNone/>
            </a:pPr>
            <a:r>
              <a:rPr lang="en-US" sz="1500" b="1" dirty="0">
                <a:solidFill>
                  <a:srgbClr val="2A78D6"/>
                </a:solidFill>
              </a:rPr>
              <a:t>Où ORC gagne vraiment</a:t>
            </a:r>
            <a:endParaRPr lang="en-US" sz="1500" dirty="0"/>
          </a:p>
        </p:txBody>
      </p:sp>
      <p:sp>
        <p:nvSpPr>
          <p:cNvPr id="9" name="Text 6"/>
          <p:cNvSpPr txBox="1"/>
          <p:nvPr/>
        </p:nvSpPr>
        <p:spPr>
          <a:xfrm>
            <a:off x="7324344" y="3291840"/>
            <a:ext cx="3986784"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rPr>
              <a:t>Le stockage, divisé par 5,7.</a:t>
            </a:r>
            <a:endParaRPr lang="en-US" sz="1400" dirty="0"/>
          </a:p>
          <a:p>
            <a:pPr marL="342900" indent="-342900">
              <a:spcAft>
                <a:spcPts val="600"/>
              </a:spcAft>
              <a:buSzPct val="100000"/>
              <a:buChar char="•"/>
            </a:pPr>
            <a:r>
              <a:rPr lang="en-US" sz="1400" dirty="0">
                <a:solidFill>
                  <a:srgbClr val="1A1A1A"/>
                </a:solidFill>
              </a:rPr>
              <a:t>Le filtrage par partition : 37 % plus rapide.</a:t>
            </a:r>
            <a:endParaRPr lang="en-US" sz="1400" dirty="0"/>
          </a:p>
        </p:txBody>
      </p:sp>
      <p:sp>
        <p:nvSpPr>
          <p:cNvPr id="10" name="carte-190"/>
          <p:cNvSpPr/>
          <p:nvPr/>
        </p:nvSpPr>
        <p:spPr>
          <a:xfrm>
            <a:off x="594360" y="4480560"/>
            <a:ext cx="10972800" cy="914400"/>
          </a:xfrm>
          <a:prstGeom prst="roundRect">
            <a:avLst>
              <a:gd name="adj" fmla="val 10000"/>
            </a:avLst>
          </a:prstGeom>
          <a:solidFill>
            <a:srgbClr val="1E2761"/>
          </a:solidFill>
          <a:ln w="12700">
            <a:solidFill>
              <a:srgbClr val="1E2761"/>
            </a:solidFill>
            <a:prstDash val="solid"/>
          </a:ln>
        </p:spPr>
      </p:sp>
      <p:sp>
        <p:nvSpPr>
          <p:cNvPr id="11" name="Text 8"/>
          <p:cNvSpPr txBox="1"/>
          <p:nvPr/>
        </p:nvSpPr>
        <p:spPr>
          <a:xfrm>
            <a:off x="868680" y="4617720"/>
            <a:ext cx="10424160" cy="640080"/>
          </a:xfrm>
          <a:prstGeom prst="rect">
            <a:avLst/>
          </a:prstGeom>
          <a:noFill/>
          <a:ln/>
        </p:spPr>
        <p:txBody>
          <a:bodyPr wrap="square" lIns="0" tIns="0" rIns="0" bIns="0" rtlCol="0" anchor="ctr"/>
          <a:lstStyle/>
          <a:p>
            <a:pPr indent="0" marL="0">
              <a:lnSpc>
                <a:spcPct val="115000"/>
              </a:lnSpc>
              <a:buNone/>
            </a:pPr>
            <a:r>
              <a:rPr lang="en-US" sz="1450" b="1" dirty="0">
                <a:solidFill>
                  <a:srgbClr val="CADCFC"/>
                </a:solidFill>
              </a:rPr>
              <a:t>Et le jeu big : 13,58 s. </a:t>
            </a:r>
            <a:pPr indent="0" marL="0">
              <a:lnSpc>
                <a:spcPct val="115000"/>
              </a:lnSpc>
              <a:buNone/>
            </a:pPr>
            <a:r>
              <a:rPr lang="en-US" sz="1450" dirty="0">
                <a:solidFill>
                  <a:srgbClr val="FFFFFF"/>
                </a:solidFill>
              </a:rPr>
              <a:t>Le gzip n'est pas splittable : impossible de décompresser depuis le milieu du fichier. Un seul mapper traite les 5 millions de lignes pendant que le reste du cluster attend.</a:t>
            </a:r>
            <a:endParaRPr lang="en-US" sz="145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14</a:t>
            </a:fld>
            <a:endParaRPr lang="en-US"/>
          </a:p>
        </p:txBody>
      </p:sp>
    </p:spTree>
  </p:cSld>
  <p:clrMapOvr>
    <a:masterClrMapping/>
  </p:clrMapOvr>
  <p:transition spd="med" advClick="1">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Les résultats</a:t>
            </a:r>
            <a:endParaRPr lang="en-US" sz="2800" dirty="0"/>
          </a:p>
        </p:txBody>
      </p:sp>
      <p:sp>
        <p:nvSpPr>
          <p:cNvPr id="3" name="stat-191"/>
          <p:cNvSpPr txBox="1"/>
          <p:nvPr/>
        </p:nvSpPr>
        <p:spPr>
          <a:xfrm>
            <a:off x="594360" y="1234440"/>
            <a:ext cx="2606040" cy="685800"/>
          </a:xfrm>
          <a:prstGeom prst="rect">
            <a:avLst/>
          </a:prstGeom>
          <a:noFill/>
          <a:ln/>
        </p:spPr>
        <p:txBody>
          <a:bodyPr wrap="square" lIns="0" tIns="0" rIns="0" bIns="0" rtlCol="0" anchor="ctr"/>
          <a:lstStyle/>
          <a:p>
            <a:pPr algn="ctr" indent="0" marL="0">
              <a:buNone/>
            </a:pPr>
            <a:r>
              <a:rPr lang="en-US" sz="3200" b="1" dirty="0">
                <a:solidFill>
                  <a:srgbClr val="2A78D6"/>
                </a:solidFill>
              </a:rPr>
              <a:t>4,60 Md</a:t>
            </a:r>
            <a:endParaRPr lang="en-US" sz="3200" dirty="0"/>
          </a:p>
        </p:txBody>
      </p:sp>
      <p:sp>
        <p:nvSpPr>
          <p:cNvPr id="4" name="statlib-192"/>
          <p:cNvSpPr txBox="1"/>
          <p:nvPr/>
        </p:nvSpPr>
        <p:spPr>
          <a:xfrm>
            <a:off x="594360" y="1920240"/>
            <a:ext cx="2606040" cy="457200"/>
          </a:xfrm>
          <a:prstGeom prst="rect">
            <a:avLst/>
          </a:prstGeom>
          <a:noFill/>
          <a:ln/>
        </p:spPr>
        <p:txBody>
          <a:bodyPr wrap="square" lIns="0" tIns="0" rIns="0" bIns="0" rtlCol="0" anchor="ctr"/>
          <a:lstStyle/>
          <a:p>
            <a:pPr algn="ctr" indent="0" marL="0">
              <a:buNone/>
            </a:pPr>
            <a:r>
              <a:rPr lang="en-US" sz="1350" dirty="0">
                <a:solidFill>
                  <a:srgbClr val="353430"/>
                </a:solidFill>
              </a:rPr>
              <a:t>FCFA de chiffre d'affaires</a:t>
            </a:r>
            <a:endParaRPr lang="en-US" sz="1350" dirty="0"/>
          </a:p>
        </p:txBody>
      </p:sp>
      <p:sp>
        <p:nvSpPr>
          <p:cNvPr id="5" name="stat-193"/>
          <p:cNvSpPr txBox="1"/>
          <p:nvPr/>
        </p:nvSpPr>
        <p:spPr>
          <a:xfrm>
            <a:off x="3337560" y="1234440"/>
            <a:ext cx="2606040" cy="685800"/>
          </a:xfrm>
          <a:prstGeom prst="rect">
            <a:avLst/>
          </a:prstGeom>
          <a:noFill/>
          <a:ln/>
        </p:spPr>
        <p:txBody>
          <a:bodyPr wrap="square" lIns="0" tIns="0" rIns="0" bIns="0" rtlCol="0" anchor="ctr"/>
          <a:lstStyle/>
          <a:p>
            <a:pPr algn="ctr" indent="0" marL="0">
              <a:buNone/>
            </a:pPr>
            <a:r>
              <a:rPr lang="en-US" sz="3200" b="1" dirty="0">
                <a:solidFill>
                  <a:srgbClr val="2A78D6"/>
                </a:solidFill>
              </a:rPr>
              <a:t>500 000</a:t>
            </a:r>
            <a:endParaRPr lang="en-US" sz="3200" dirty="0"/>
          </a:p>
        </p:txBody>
      </p:sp>
      <p:sp>
        <p:nvSpPr>
          <p:cNvPr id="6" name="statlib-194"/>
          <p:cNvSpPr txBox="1"/>
          <p:nvPr/>
        </p:nvSpPr>
        <p:spPr>
          <a:xfrm>
            <a:off x="3337560" y="1920240"/>
            <a:ext cx="2606040" cy="457200"/>
          </a:xfrm>
          <a:prstGeom prst="rect">
            <a:avLst/>
          </a:prstGeom>
          <a:noFill/>
          <a:ln/>
        </p:spPr>
        <p:txBody>
          <a:bodyPr wrap="square" lIns="0" tIns="0" rIns="0" bIns="0" rtlCol="0" anchor="ctr"/>
          <a:lstStyle/>
          <a:p>
            <a:pPr algn="ctr" indent="0" marL="0">
              <a:buNone/>
            </a:pPr>
            <a:r>
              <a:rPr lang="en-US" sz="1350" dirty="0">
                <a:solidFill>
                  <a:srgbClr val="353430"/>
                </a:solidFill>
              </a:rPr>
              <a:t>transactions analysées</a:t>
            </a:r>
            <a:endParaRPr lang="en-US" sz="1350" dirty="0"/>
          </a:p>
        </p:txBody>
      </p:sp>
      <p:sp>
        <p:nvSpPr>
          <p:cNvPr id="7" name="stat-195"/>
          <p:cNvSpPr txBox="1"/>
          <p:nvPr/>
        </p:nvSpPr>
        <p:spPr>
          <a:xfrm>
            <a:off x="6080760" y="1234440"/>
            <a:ext cx="2606040" cy="685800"/>
          </a:xfrm>
          <a:prstGeom prst="rect">
            <a:avLst/>
          </a:prstGeom>
          <a:noFill/>
          <a:ln/>
        </p:spPr>
        <p:txBody>
          <a:bodyPr wrap="square" lIns="0" tIns="0" rIns="0" bIns="0" rtlCol="0" anchor="ctr"/>
          <a:lstStyle/>
          <a:p>
            <a:pPr algn="ctr" indent="0" marL="0">
              <a:buNone/>
            </a:pPr>
            <a:r>
              <a:rPr lang="en-US" sz="3200" b="1" dirty="0">
                <a:solidFill>
                  <a:srgbClr val="2A78D6"/>
                </a:solidFill>
              </a:rPr>
              <a:t>40 %</a:t>
            </a:r>
            <a:endParaRPr lang="en-US" sz="3200" dirty="0"/>
          </a:p>
        </p:txBody>
      </p:sp>
      <p:sp>
        <p:nvSpPr>
          <p:cNvPr id="8" name="statlib-196"/>
          <p:cNvSpPr txBox="1"/>
          <p:nvPr/>
        </p:nvSpPr>
        <p:spPr>
          <a:xfrm>
            <a:off x="6080760" y="1920240"/>
            <a:ext cx="2606040" cy="457200"/>
          </a:xfrm>
          <a:prstGeom prst="rect">
            <a:avLst/>
          </a:prstGeom>
          <a:noFill/>
          <a:ln/>
        </p:spPr>
        <p:txBody>
          <a:bodyPr wrap="square" lIns="0" tIns="0" rIns="0" bIns="0" rtlCol="0" anchor="ctr"/>
          <a:lstStyle/>
          <a:p>
            <a:pPr algn="ctr" indent="0" marL="0">
              <a:buNone/>
            </a:pPr>
            <a:r>
              <a:rPr lang="en-US" sz="1350" dirty="0">
                <a:solidFill>
                  <a:srgbClr val="353430"/>
                </a:solidFill>
              </a:rPr>
              <a:t>du chiffre d'affaires à Lomé</a:t>
            </a:r>
            <a:endParaRPr lang="en-US" sz="1350" dirty="0"/>
          </a:p>
        </p:txBody>
      </p:sp>
      <p:sp>
        <p:nvSpPr>
          <p:cNvPr id="9" name="stat-197"/>
          <p:cNvSpPr txBox="1"/>
          <p:nvPr/>
        </p:nvSpPr>
        <p:spPr>
          <a:xfrm>
            <a:off x="8823960" y="1234440"/>
            <a:ext cx="2606040" cy="685800"/>
          </a:xfrm>
          <a:prstGeom prst="rect">
            <a:avLst/>
          </a:prstGeom>
          <a:noFill/>
          <a:ln/>
        </p:spPr>
        <p:txBody>
          <a:bodyPr wrap="square" lIns="0" tIns="0" rIns="0" bIns="0" rtlCol="0" anchor="ctr"/>
          <a:lstStyle/>
          <a:p>
            <a:pPr algn="ctr" indent="0" marL="0">
              <a:buNone/>
            </a:pPr>
            <a:r>
              <a:rPr lang="en-US" sz="3200" b="1" dirty="0">
                <a:solidFill>
                  <a:srgbClr val="2A78D6"/>
                </a:solidFill>
              </a:rPr>
              <a:t>9 192</a:t>
            </a:r>
            <a:endParaRPr lang="en-US" sz="3200" dirty="0"/>
          </a:p>
        </p:txBody>
      </p:sp>
      <p:sp>
        <p:nvSpPr>
          <p:cNvPr id="10" name="statlib-198"/>
          <p:cNvSpPr txBox="1"/>
          <p:nvPr/>
        </p:nvSpPr>
        <p:spPr>
          <a:xfrm>
            <a:off x="8823960" y="1920240"/>
            <a:ext cx="2606040" cy="457200"/>
          </a:xfrm>
          <a:prstGeom prst="rect">
            <a:avLst/>
          </a:prstGeom>
          <a:noFill/>
          <a:ln/>
        </p:spPr>
        <p:txBody>
          <a:bodyPr wrap="square" lIns="0" tIns="0" rIns="0" bIns="0" rtlCol="0" anchor="ctr"/>
          <a:lstStyle/>
          <a:p>
            <a:pPr algn="ctr" indent="0" marL="0">
              <a:buNone/>
            </a:pPr>
            <a:r>
              <a:rPr lang="en-US" sz="1350" dirty="0">
                <a:solidFill>
                  <a:srgbClr val="353430"/>
                </a:solidFill>
              </a:rPr>
              <a:t>FCFA de panier moyen</a:t>
            </a:r>
            <a:endParaRPr lang="en-US" sz="1350" dirty="0"/>
          </a:p>
        </p:txBody>
      </p:sp>
      <p:sp>
        <p:nvSpPr>
          <p:cNvPr id="40" name="gt-40"/>
          <p:cNvSpPr txBox="1"/>
          <p:nvPr/>
        </p:nvSpPr>
        <p:spPr>
          <a:xfrm>
            <a:off x="594360" y="2514600"/>
            <a:ext cx="5303520" cy="300000"/>
          </a:xfrm>
          <a:prstGeom prst="rect">
            <a:avLst/>
          </a:prstGeom>
          <a:noFill/>
          <a:ln/>
        </p:spPr>
        <p:txBody>
          <a:bodyPr wrap="square" lIns="0" tIns="0" rIns="0" bIns="0" anchor="ctr"/>
          <a:lstStyle/>
          <a:p>
            <a:pPr indent="0" marL="0" algn="l">
              <a:buNone/>
            </a:pPr>
            <a:r>
              <a:rPr lang="fr-FR" sz="1250" b="1" dirty="0">
                <a:solidFill>
                  <a:srgbClr val="1E2761"/>
                </a:solidFill>
              </a:rPr>
              <a:t>Chiffre d'affaires par ville (millions de FCFA)</a:t>
            </a:r>
          </a:p>
        </p:txBody>
      </p:sp>
      <p:sp>
        <p:nvSpPr>
          <p:cNvPr id="41" name="gl-41"/>
          <p:cNvSpPr txBox="1"/>
          <p:nvPr/>
        </p:nvSpPr>
        <p:spPr>
          <a:xfrm>
            <a:off x="594360" y="291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Lomé</a:t>
            </a:r>
          </a:p>
        </p:txBody>
      </p:sp>
      <p:sp>
        <p:nvSpPr>
          <p:cNvPr id="42" name="bar-42"/>
          <p:cNvSpPr/>
          <p:nvPr/>
        </p:nvSpPr>
        <p:spPr>
          <a:xfrm>
            <a:off x="1714360" y="2914600"/>
            <a:ext cx="3000000" cy="170000"/>
          </a:xfrm>
          <a:prstGeom prst="rect">
            <a:avLst/>
          </a:prstGeom>
          <a:solidFill>
            <a:srgbClr val="1E2761"/>
          </a:solidFill>
          <a:ln/>
        </p:spPr>
        <p:txBody>
          <a:bodyPr/>
          <a:lstStyle/>
          <a:p/>
        </p:txBody>
      </p:sp>
      <p:sp>
        <p:nvSpPr>
          <p:cNvPr id="43" name="gv-43"/>
          <p:cNvSpPr txBox="1"/>
          <p:nvPr/>
        </p:nvSpPr>
        <p:spPr>
          <a:xfrm>
            <a:off x="4794360" y="291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1 838</a:t>
            </a:r>
          </a:p>
        </p:txBody>
      </p:sp>
      <p:sp>
        <p:nvSpPr>
          <p:cNvPr id="44" name="gl-44"/>
          <p:cNvSpPr txBox="1"/>
          <p:nvPr/>
        </p:nvSpPr>
        <p:spPr>
          <a:xfrm>
            <a:off x="594360" y="314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Kara</a:t>
            </a:r>
          </a:p>
        </p:txBody>
      </p:sp>
      <p:sp>
        <p:nvSpPr>
          <p:cNvPr id="45" name="bar-45"/>
          <p:cNvSpPr/>
          <p:nvPr/>
        </p:nvSpPr>
        <p:spPr>
          <a:xfrm>
            <a:off x="1714360" y="3144600"/>
            <a:ext cx="899200" cy="170000"/>
          </a:xfrm>
          <a:prstGeom prst="rect">
            <a:avLst/>
          </a:prstGeom>
          <a:solidFill>
            <a:srgbClr val="2A78D6"/>
          </a:solidFill>
          <a:ln/>
        </p:spPr>
        <p:txBody>
          <a:bodyPr/>
          <a:lstStyle/>
          <a:p/>
        </p:txBody>
      </p:sp>
      <p:sp>
        <p:nvSpPr>
          <p:cNvPr id="46" name="gv-46"/>
          <p:cNvSpPr txBox="1"/>
          <p:nvPr/>
        </p:nvSpPr>
        <p:spPr>
          <a:xfrm>
            <a:off x="2693560" y="314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551</a:t>
            </a:r>
          </a:p>
        </p:txBody>
      </p:sp>
      <p:sp>
        <p:nvSpPr>
          <p:cNvPr id="47" name="gl-47"/>
          <p:cNvSpPr txBox="1"/>
          <p:nvPr/>
        </p:nvSpPr>
        <p:spPr>
          <a:xfrm>
            <a:off x="594360" y="337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Sokodé</a:t>
            </a:r>
          </a:p>
        </p:txBody>
      </p:sp>
      <p:sp>
        <p:nvSpPr>
          <p:cNvPr id="48" name="bar-48"/>
          <p:cNvSpPr/>
          <p:nvPr/>
        </p:nvSpPr>
        <p:spPr>
          <a:xfrm>
            <a:off x="1714360" y="3374600"/>
            <a:ext cx="821846" cy="170000"/>
          </a:xfrm>
          <a:prstGeom prst="rect">
            <a:avLst/>
          </a:prstGeom>
          <a:solidFill>
            <a:srgbClr val="2A78D6"/>
          </a:solidFill>
          <a:ln/>
        </p:spPr>
        <p:txBody>
          <a:bodyPr/>
          <a:lstStyle/>
          <a:p/>
        </p:txBody>
      </p:sp>
      <p:sp>
        <p:nvSpPr>
          <p:cNvPr id="49" name="gv-49"/>
          <p:cNvSpPr txBox="1"/>
          <p:nvPr/>
        </p:nvSpPr>
        <p:spPr>
          <a:xfrm>
            <a:off x="2616206" y="337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504</a:t>
            </a:r>
          </a:p>
        </p:txBody>
      </p:sp>
      <p:sp>
        <p:nvSpPr>
          <p:cNvPr id="50" name="gl-50"/>
          <p:cNvSpPr txBox="1"/>
          <p:nvPr/>
        </p:nvSpPr>
        <p:spPr>
          <a:xfrm>
            <a:off x="594360" y="360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Kpalimé</a:t>
            </a:r>
          </a:p>
        </p:txBody>
      </p:sp>
      <p:sp>
        <p:nvSpPr>
          <p:cNvPr id="51" name="bar-51"/>
          <p:cNvSpPr/>
          <p:nvPr/>
        </p:nvSpPr>
        <p:spPr>
          <a:xfrm>
            <a:off x="1714360" y="3604600"/>
            <a:ext cx="679214" cy="170000"/>
          </a:xfrm>
          <a:prstGeom prst="rect">
            <a:avLst/>
          </a:prstGeom>
          <a:solidFill>
            <a:srgbClr val="2A78D6"/>
          </a:solidFill>
          <a:ln/>
        </p:spPr>
        <p:txBody>
          <a:bodyPr/>
          <a:lstStyle/>
          <a:p/>
        </p:txBody>
      </p:sp>
      <p:sp>
        <p:nvSpPr>
          <p:cNvPr id="52" name="gv-52"/>
          <p:cNvSpPr txBox="1"/>
          <p:nvPr/>
        </p:nvSpPr>
        <p:spPr>
          <a:xfrm>
            <a:off x="2473574" y="360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416</a:t>
            </a:r>
          </a:p>
        </p:txBody>
      </p:sp>
      <p:sp>
        <p:nvSpPr>
          <p:cNvPr id="53" name="gl-53"/>
          <p:cNvSpPr txBox="1"/>
          <p:nvPr/>
        </p:nvSpPr>
        <p:spPr>
          <a:xfrm>
            <a:off x="594360" y="383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Atakpamé</a:t>
            </a:r>
          </a:p>
        </p:txBody>
      </p:sp>
      <p:sp>
        <p:nvSpPr>
          <p:cNvPr id="54" name="bar-54"/>
          <p:cNvSpPr/>
          <p:nvPr/>
        </p:nvSpPr>
        <p:spPr>
          <a:xfrm>
            <a:off x="1714360" y="3834600"/>
            <a:ext cx="671217" cy="170000"/>
          </a:xfrm>
          <a:prstGeom prst="rect">
            <a:avLst/>
          </a:prstGeom>
          <a:solidFill>
            <a:srgbClr val="2A78D6"/>
          </a:solidFill>
          <a:ln/>
        </p:spPr>
        <p:txBody>
          <a:bodyPr/>
          <a:lstStyle/>
          <a:p/>
        </p:txBody>
      </p:sp>
      <p:sp>
        <p:nvSpPr>
          <p:cNvPr id="55" name="gv-55"/>
          <p:cNvSpPr txBox="1"/>
          <p:nvPr/>
        </p:nvSpPr>
        <p:spPr>
          <a:xfrm>
            <a:off x="2465577" y="383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411</a:t>
            </a:r>
          </a:p>
        </p:txBody>
      </p:sp>
      <p:sp>
        <p:nvSpPr>
          <p:cNvPr id="56" name="gl-56"/>
          <p:cNvSpPr txBox="1"/>
          <p:nvPr/>
        </p:nvSpPr>
        <p:spPr>
          <a:xfrm>
            <a:off x="594360" y="406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Tsévié</a:t>
            </a:r>
          </a:p>
        </p:txBody>
      </p:sp>
      <p:sp>
        <p:nvSpPr>
          <p:cNvPr id="57" name="bar-57"/>
          <p:cNvSpPr/>
          <p:nvPr/>
        </p:nvSpPr>
        <p:spPr>
          <a:xfrm>
            <a:off x="1714360" y="4064600"/>
            <a:ext cx="527933" cy="170000"/>
          </a:xfrm>
          <a:prstGeom prst="rect">
            <a:avLst/>
          </a:prstGeom>
          <a:solidFill>
            <a:srgbClr val="2A78D6"/>
          </a:solidFill>
          <a:ln/>
        </p:spPr>
        <p:txBody>
          <a:bodyPr/>
          <a:lstStyle/>
          <a:p/>
        </p:txBody>
      </p:sp>
      <p:sp>
        <p:nvSpPr>
          <p:cNvPr id="58" name="gv-58"/>
          <p:cNvSpPr txBox="1"/>
          <p:nvPr/>
        </p:nvSpPr>
        <p:spPr>
          <a:xfrm>
            <a:off x="2322293" y="406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324</a:t>
            </a:r>
          </a:p>
        </p:txBody>
      </p:sp>
      <p:sp>
        <p:nvSpPr>
          <p:cNvPr id="59" name="gl-59"/>
          <p:cNvSpPr txBox="1"/>
          <p:nvPr/>
        </p:nvSpPr>
        <p:spPr>
          <a:xfrm>
            <a:off x="594360" y="429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Dapaong</a:t>
            </a:r>
          </a:p>
        </p:txBody>
      </p:sp>
      <p:sp>
        <p:nvSpPr>
          <p:cNvPr id="60" name="bar-60"/>
          <p:cNvSpPr/>
          <p:nvPr/>
        </p:nvSpPr>
        <p:spPr>
          <a:xfrm>
            <a:off x="1714360" y="4294600"/>
            <a:ext cx="524179" cy="170000"/>
          </a:xfrm>
          <a:prstGeom prst="rect">
            <a:avLst/>
          </a:prstGeom>
          <a:solidFill>
            <a:srgbClr val="2A78D6"/>
          </a:solidFill>
          <a:ln/>
        </p:spPr>
        <p:txBody>
          <a:bodyPr/>
          <a:lstStyle/>
          <a:p/>
        </p:txBody>
      </p:sp>
      <p:sp>
        <p:nvSpPr>
          <p:cNvPr id="61" name="gv-61"/>
          <p:cNvSpPr txBox="1"/>
          <p:nvPr/>
        </p:nvSpPr>
        <p:spPr>
          <a:xfrm>
            <a:off x="2318539" y="429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321</a:t>
            </a:r>
          </a:p>
        </p:txBody>
      </p:sp>
      <p:sp>
        <p:nvSpPr>
          <p:cNvPr id="62" name="gl-62"/>
          <p:cNvSpPr txBox="1"/>
          <p:nvPr/>
        </p:nvSpPr>
        <p:spPr>
          <a:xfrm>
            <a:off x="594360" y="4524600"/>
            <a:ext cx="1000000" cy="170000"/>
          </a:xfrm>
          <a:prstGeom prst="rect">
            <a:avLst/>
          </a:prstGeom>
          <a:noFill/>
          <a:ln/>
        </p:spPr>
        <p:txBody>
          <a:bodyPr wrap="square" lIns="0" tIns="0" rIns="0" bIns="0" anchor="ctr"/>
          <a:lstStyle/>
          <a:p>
            <a:pPr indent="0" marL="0" algn="r">
              <a:buNone/>
            </a:pPr>
            <a:r>
              <a:rPr lang="fr-FR" sz="1200" b="0" dirty="0">
                <a:solidFill>
                  <a:srgbClr val="1A1A1A"/>
                </a:solidFill>
              </a:rPr>
              <a:t>Aného</a:t>
            </a:r>
          </a:p>
        </p:txBody>
      </p:sp>
      <p:sp>
        <p:nvSpPr>
          <p:cNvPr id="63" name="bar-63"/>
          <p:cNvSpPr/>
          <p:nvPr/>
        </p:nvSpPr>
        <p:spPr>
          <a:xfrm>
            <a:off x="1714360" y="4524600"/>
            <a:ext cx="377141" cy="170000"/>
          </a:xfrm>
          <a:prstGeom prst="rect">
            <a:avLst/>
          </a:prstGeom>
          <a:solidFill>
            <a:srgbClr val="2A78D6"/>
          </a:solidFill>
          <a:ln/>
        </p:spPr>
        <p:txBody>
          <a:bodyPr/>
          <a:lstStyle/>
          <a:p/>
        </p:txBody>
      </p:sp>
      <p:sp>
        <p:nvSpPr>
          <p:cNvPr id="64" name="gv-64"/>
          <p:cNvSpPr txBox="1"/>
          <p:nvPr/>
        </p:nvSpPr>
        <p:spPr>
          <a:xfrm>
            <a:off x="2171501" y="4524600"/>
            <a:ext cx="800000" cy="170000"/>
          </a:xfrm>
          <a:prstGeom prst="rect">
            <a:avLst/>
          </a:prstGeom>
          <a:noFill/>
          <a:ln/>
        </p:spPr>
        <p:txBody>
          <a:bodyPr wrap="square" lIns="0" tIns="0" rIns="0" bIns="0" anchor="ctr"/>
          <a:lstStyle/>
          <a:p>
            <a:pPr indent="0" marL="0" algn="l">
              <a:buNone/>
            </a:pPr>
            <a:r>
              <a:rPr lang="fr-FR" sz="1200" b="1" dirty="0">
                <a:solidFill>
                  <a:srgbClr val="353430"/>
                </a:solidFill>
              </a:rPr>
              <a:t>231</a:t>
            </a:r>
          </a:p>
        </p:txBody>
      </p:sp>
      <p:sp>
        <p:nvSpPr>
          <p:cNvPr id="65" name="gt-65"/>
          <p:cNvSpPr txBox="1"/>
          <p:nvPr/>
        </p:nvSpPr>
        <p:spPr>
          <a:xfrm>
            <a:off x="6263640" y="2514600"/>
            <a:ext cx="5303520" cy="300000"/>
          </a:xfrm>
          <a:prstGeom prst="rect">
            <a:avLst/>
          </a:prstGeom>
          <a:noFill/>
          <a:ln/>
        </p:spPr>
        <p:txBody>
          <a:bodyPr wrap="square" lIns="0" tIns="0" rIns="0" bIns="0" anchor="ctr"/>
          <a:lstStyle/>
          <a:p>
            <a:pPr indent="0" marL="0" algn="l">
              <a:buNone/>
            </a:pPr>
            <a:r>
              <a:rPr lang="fr-FR" sz="1250" b="1" dirty="0">
                <a:solidFill>
                  <a:srgbClr val="1E2761"/>
                </a:solidFill>
              </a:rPr>
              <a:t>Top 10 des produits par chiffre d'affaires (millions de FCFA)</a:t>
            </a:r>
          </a:p>
        </p:txBody>
      </p:sp>
      <p:sp>
        <p:nvSpPr>
          <p:cNvPr id="66" name="gl-66"/>
          <p:cNvSpPr txBox="1"/>
          <p:nvPr/>
        </p:nvSpPr>
        <p:spPr>
          <a:xfrm>
            <a:off x="6263640" y="2914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Powerbank</a:t>
            </a:r>
          </a:p>
        </p:txBody>
      </p:sp>
      <p:sp>
        <p:nvSpPr>
          <p:cNvPr id="67" name="bar-67"/>
          <p:cNvSpPr/>
          <p:nvPr/>
        </p:nvSpPr>
        <p:spPr>
          <a:xfrm>
            <a:off x="7533640" y="2914600"/>
            <a:ext cx="2800000" cy="140000"/>
          </a:xfrm>
          <a:prstGeom prst="rect">
            <a:avLst/>
          </a:prstGeom>
          <a:solidFill>
            <a:srgbClr val="1E2761"/>
          </a:solidFill>
          <a:ln/>
        </p:spPr>
        <p:txBody>
          <a:bodyPr/>
          <a:lstStyle/>
          <a:p/>
        </p:txBody>
      </p:sp>
      <p:sp>
        <p:nvSpPr>
          <p:cNvPr id="68" name="gv-68"/>
          <p:cNvSpPr txBox="1"/>
          <p:nvPr/>
        </p:nvSpPr>
        <p:spPr>
          <a:xfrm>
            <a:off x="10413640" y="2914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888</a:t>
            </a:r>
          </a:p>
        </p:txBody>
      </p:sp>
      <p:sp>
        <p:nvSpPr>
          <p:cNvPr id="69" name="gl-69"/>
          <p:cNvSpPr txBox="1"/>
          <p:nvPr/>
        </p:nvSpPr>
        <p:spPr>
          <a:xfrm>
            <a:off x="6263640" y="3098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Souris</a:t>
            </a:r>
          </a:p>
        </p:txBody>
      </p:sp>
      <p:sp>
        <p:nvSpPr>
          <p:cNvPr id="70" name="bar-70"/>
          <p:cNvSpPr/>
          <p:nvPr/>
        </p:nvSpPr>
        <p:spPr>
          <a:xfrm>
            <a:off x="7533640" y="3098600"/>
            <a:ext cx="1839981" cy="140000"/>
          </a:xfrm>
          <a:prstGeom prst="rect">
            <a:avLst/>
          </a:prstGeom>
          <a:solidFill>
            <a:srgbClr val="1E2761"/>
          </a:solidFill>
          <a:ln/>
        </p:spPr>
        <p:txBody>
          <a:bodyPr/>
          <a:lstStyle/>
          <a:p/>
        </p:txBody>
      </p:sp>
      <p:sp>
        <p:nvSpPr>
          <p:cNvPr id="71" name="gv-71"/>
          <p:cNvSpPr txBox="1"/>
          <p:nvPr/>
        </p:nvSpPr>
        <p:spPr>
          <a:xfrm>
            <a:off x="9453621" y="3098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584</a:t>
            </a:r>
          </a:p>
        </p:txBody>
      </p:sp>
      <p:sp>
        <p:nvSpPr>
          <p:cNvPr id="72" name="gl-72"/>
          <p:cNvSpPr txBox="1"/>
          <p:nvPr/>
        </p:nvSpPr>
        <p:spPr>
          <a:xfrm>
            <a:off x="6263640" y="3282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Clé USB</a:t>
            </a:r>
          </a:p>
        </p:txBody>
      </p:sp>
      <p:sp>
        <p:nvSpPr>
          <p:cNvPr id="73" name="bar-73"/>
          <p:cNvSpPr/>
          <p:nvPr/>
        </p:nvSpPr>
        <p:spPr>
          <a:xfrm>
            <a:off x="7533640" y="3282600"/>
            <a:ext cx="1637325" cy="140000"/>
          </a:xfrm>
          <a:prstGeom prst="rect">
            <a:avLst/>
          </a:prstGeom>
          <a:solidFill>
            <a:srgbClr val="1E2761"/>
          </a:solidFill>
          <a:ln/>
        </p:spPr>
        <p:txBody>
          <a:bodyPr/>
          <a:lstStyle/>
          <a:p/>
        </p:txBody>
      </p:sp>
      <p:sp>
        <p:nvSpPr>
          <p:cNvPr id="74" name="gv-74"/>
          <p:cNvSpPr txBox="1"/>
          <p:nvPr/>
        </p:nvSpPr>
        <p:spPr>
          <a:xfrm>
            <a:off x="9250965" y="3282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520</a:t>
            </a:r>
          </a:p>
        </p:txBody>
      </p:sp>
      <p:sp>
        <p:nvSpPr>
          <p:cNvPr id="75" name="gl-75"/>
          <p:cNvSpPr txBox="1"/>
          <p:nvPr/>
        </p:nvSpPr>
        <p:spPr>
          <a:xfrm>
            <a:off x="6263640" y="3466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Écouteurs</a:t>
            </a:r>
          </a:p>
        </p:txBody>
      </p:sp>
      <p:sp>
        <p:nvSpPr>
          <p:cNvPr id="76" name="bar-76"/>
          <p:cNvSpPr/>
          <p:nvPr/>
        </p:nvSpPr>
        <p:spPr>
          <a:xfrm>
            <a:off x="7533640" y="3466600"/>
            <a:ext cx="1520396" cy="140000"/>
          </a:xfrm>
          <a:prstGeom prst="rect">
            <a:avLst/>
          </a:prstGeom>
          <a:solidFill>
            <a:srgbClr val="1E2761"/>
          </a:solidFill>
          <a:ln/>
        </p:spPr>
        <p:txBody>
          <a:bodyPr/>
          <a:lstStyle/>
          <a:p/>
        </p:txBody>
      </p:sp>
      <p:sp>
        <p:nvSpPr>
          <p:cNvPr id="77" name="gv-77"/>
          <p:cNvSpPr txBox="1"/>
          <p:nvPr/>
        </p:nvSpPr>
        <p:spPr>
          <a:xfrm>
            <a:off x="9134036" y="3466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482</a:t>
            </a:r>
          </a:p>
        </p:txBody>
      </p:sp>
      <p:sp>
        <p:nvSpPr>
          <p:cNvPr id="78" name="gl-78"/>
          <p:cNvSpPr txBox="1"/>
          <p:nvPr/>
        </p:nvSpPr>
        <p:spPr>
          <a:xfrm>
            <a:off x="6263640" y="3650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Riz 5 kg</a:t>
            </a:r>
          </a:p>
        </p:txBody>
      </p:sp>
      <p:sp>
        <p:nvSpPr>
          <p:cNvPr id="79" name="bar-79"/>
          <p:cNvSpPr/>
          <p:nvPr/>
        </p:nvSpPr>
        <p:spPr>
          <a:xfrm>
            <a:off x="7533640" y="3650600"/>
            <a:ext cx="1510310" cy="140000"/>
          </a:xfrm>
          <a:prstGeom prst="rect">
            <a:avLst/>
          </a:prstGeom>
          <a:solidFill>
            <a:srgbClr val="2A78D6"/>
          </a:solidFill>
          <a:ln/>
        </p:spPr>
        <p:txBody>
          <a:bodyPr/>
          <a:lstStyle/>
          <a:p/>
        </p:txBody>
      </p:sp>
      <p:sp>
        <p:nvSpPr>
          <p:cNvPr id="80" name="gv-80"/>
          <p:cNvSpPr txBox="1"/>
          <p:nvPr/>
        </p:nvSpPr>
        <p:spPr>
          <a:xfrm>
            <a:off x="9123950" y="3650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479</a:t>
            </a:r>
          </a:p>
        </p:txBody>
      </p:sp>
      <p:sp>
        <p:nvSpPr>
          <p:cNvPr id="81" name="gl-81"/>
          <p:cNvSpPr txBox="1"/>
          <p:nvPr/>
        </p:nvSpPr>
        <p:spPr>
          <a:xfrm>
            <a:off x="6263640" y="3834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Ramette A4</a:t>
            </a:r>
          </a:p>
        </p:txBody>
      </p:sp>
      <p:sp>
        <p:nvSpPr>
          <p:cNvPr id="82" name="bar-82"/>
          <p:cNvSpPr/>
          <p:nvPr/>
        </p:nvSpPr>
        <p:spPr>
          <a:xfrm>
            <a:off x="7533640" y="3834600"/>
            <a:ext cx="1052048" cy="140000"/>
          </a:xfrm>
          <a:prstGeom prst="rect">
            <a:avLst/>
          </a:prstGeom>
          <a:solidFill>
            <a:srgbClr val="2A78D6"/>
          </a:solidFill>
          <a:ln/>
        </p:spPr>
        <p:txBody>
          <a:bodyPr/>
          <a:lstStyle/>
          <a:p/>
        </p:txBody>
      </p:sp>
      <p:sp>
        <p:nvSpPr>
          <p:cNvPr id="83" name="gv-83"/>
          <p:cNvSpPr txBox="1"/>
          <p:nvPr/>
        </p:nvSpPr>
        <p:spPr>
          <a:xfrm>
            <a:off x="8665688" y="3834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334</a:t>
            </a:r>
          </a:p>
        </p:txBody>
      </p:sp>
      <p:sp>
        <p:nvSpPr>
          <p:cNvPr id="84" name="gl-84"/>
          <p:cNvSpPr txBox="1"/>
          <p:nvPr/>
        </p:nvSpPr>
        <p:spPr>
          <a:xfrm>
            <a:off x="6263640" y="4018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Café</a:t>
            </a:r>
          </a:p>
        </p:txBody>
      </p:sp>
      <p:sp>
        <p:nvSpPr>
          <p:cNvPr id="85" name="bar-85"/>
          <p:cNvSpPr/>
          <p:nvPr/>
        </p:nvSpPr>
        <p:spPr>
          <a:xfrm>
            <a:off x="7533640" y="4018600"/>
            <a:ext cx="577397" cy="140000"/>
          </a:xfrm>
          <a:prstGeom prst="rect">
            <a:avLst/>
          </a:prstGeom>
          <a:solidFill>
            <a:srgbClr val="2A78D6"/>
          </a:solidFill>
          <a:ln/>
        </p:spPr>
        <p:txBody>
          <a:bodyPr/>
          <a:lstStyle/>
          <a:p/>
        </p:txBody>
      </p:sp>
      <p:sp>
        <p:nvSpPr>
          <p:cNvPr id="86" name="gv-86"/>
          <p:cNvSpPr txBox="1"/>
          <p:nvPr/>
        </p:nvSpPr>
        <p:spPr>
          <a:xfrm>
            <a:off x="8191037" y="4018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183</a:t>
            </a:r>
          </a:p>
        </p:txBody>
      </p:sp>
      <p:sp>
        <p:nvSpPr>
          <p:cNvPr id="87" name="gl-87"/>
          <p:cNvSpPr txBox="1"/>
          <p:nvPr/>
        </p:nvSpPr>
        <p:spPr>
          <a:xfrm>
            <a:off x="6263640" y="4202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Shampooing</a:t>
            </a:r>
          </a:p>
        </p:txBody>
      </p:sp>
      <p:sp>
        <p:nvSpPr>
          <p:cNvPr id="88" name="bar-88"/>
          <p:cNvSpPr/>
          <p:nvPr/>
        </p:nvSpPr>
        <p:spPr>
          <a:xfrm>
            <a:off x="7533640" y="4202600"/>
            <a:ext cx="513102" cy="140000"/>
          </a:xfrm>
          <a:prstGeom prst="rect">
            <a:avLst/>
          </a:prstGeom>
          <a:solidFill>
            <a:srgbClr val="2A78D6"/>
          </a:solidFill>
          <a:ln/>
        </p:spPr>
        <p:txBody>
          <a:bodyPr/>
          <a:lstStyle/>
          <a:p/>
        </p:txBody>
      </p:sp>
      <p:sp>
        <p:nvSpPr>
          <p:cNvPr id="89" name="gv-89"/>
          <p:cNvSpPr txBox="1"/>
          <p:nvPr/>
        </p:nvSpPr>
        <p:spPr>
          <a:xfrm>
            <a:off x="8126742" y="4202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163</a:t>
            </a:r>
          </a:p>
        </p:txBody>
      </p:sp>
      <p:sp>
        <p:nvSpPr>
          <p:cNvPr id="90" name="gl-90"/>
          <p:cNvSpPr txBox="1"/>
          <p:nvPr/>
        </p:nvSpPr>
        <p:spPr>
          <a:xfrm>
            <a:off x="6263640" y="4386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Huile 1 L</a:t>
            </a:r>
          </a:p>
        </p:txBody>
      </p:sp>
      <p:sp>
        <p:nvSpPr>
          <p:cNvPr id="91" name="bar-91"/>
          <p:cNvSpPr/>
          <p:nvPr/>
        </p:nvSpPr>
        <p:spPr>
          <a:xfrm>
            <a:off x="7533640" y="4386600"/>
            <a:ext cx="420756" cy="140000"/>
          </a:xfrm>
          <a:prstGeom prst="rect">
            <a:avLst/>
          </a:prstGeom>
          <a:solidFill>
            <a:srgbClr val="2A78D6"/>
          </a:solidFill>
          <a:ln/>
        </p:spPr>
        <p:txBody>
          <a:bodyPr/>
          <a:lstStyle/>
          <a:p/>
        </p:txBody>
      </p:sp>
      <p:sp>
        <p:nvSpPr>
          <p:cNvPr id="92" name="gv-92"/>
          <p:cNvSpPr txBox="1"/>
          <p:nvPr/>
        </p:nvSpPr>
        <p:spPr>
          <a:xfrm>
            <a:off x="8034396" y="4386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134</a:t>
            </a:r>
          </a:p>
        </p:txBody>
      </p:sp>
      <p:sp>
        <p:nvSpPr>
          <p:cNvPr id="93" name="gl-93"/>
          <p:cNvSpPr txBox="1"/>
          <p:nvPr/>
        </p:nvSpPr>
        <p:spPr>
          <a:xfrm>
            <a:off x="6263640" y="4570600"/>
            <a:ext cx="1150000" cy="140000"/>
          </a:xfrm>
          <a:prstGeom prst="rect">
            <a:avLst/>
          </a:prstGeom>
          <a:noFill/>
          <a:ln/>
        </p:spPr>
        <p:txBody>
          <a:bodyPr wrap="square" lIns="0" tIns="0" rIns="0" bIns="0" anchor="ctr"/>
          <a:lstStyle/>
          <a:p>
            <a:pPr indent="0" marL="0" algn="r">
              <a:buNone/>
            </a:pPr>
            <a:r>
              <a:rPr lang="fr-FR" sz="1200" b="0" dirty="0">
                <a:solidFill>
                  <a:srgbClr val="1A1A1A"/>
                </a:solidFill>
              </a:rPr>
              <a:t>Lessive</a:t>
            </a:r>
          </a:p>
        </p:txBody>
      </p:sp>
      <p:sp>
        <p:nvSpPr>
          <p:cNvPr id="94" name="bar-94"/>
          <p:cNvSpPr/>
          <p:nvPr/>
        </p:nvSpPr>
        <p:spPr>
          <a:xfrm>
            <a:off x="7533640" y="4570600"/>
            <a:ext cx="416974" cy="140000"/>
          </a:xfrm>
          <a:prstGeom prst="rect">
            <a:avLst/>
          </a:prstGeom>
          <a:solidFill>
            <a:srgbClr val="2A78D6"/>
          </a:solidFill>
          <a:ln/>
        </p:spPr>
        <p:txBody>
          <a:bodyPr/>
          <a:lstStyle/>
          <a:p/>
        </p:txBody>
      </p:sp>
      <p:sp>
        <p:nvSpPr>
          <p:cNvPr id="95" name="gv-95"/>
          <p:cNvSpPr txBox="1"/>
          <p:nvPr/>
        </p:nvSpPr>
        <p:spPr>
          <a:xfrm>
            <a:off x="8030614" y="4570600"/>
            <a:ext cx="800000" cy="140000"/>
          </a:xfrm>
          <a:prstGeom prst="rect">
            <a:avLst/>
          </a:prstGeom>
          <a:noFill/>
          <a:ln/>
        </p:spPr>
        <p:txBody>
          <a:bodyPr wrap="square" lIns="0" tIns="0" rIns="0" bIns="0" anchor="ctr"/>
          <a:lstStyle/>
          <a:p>
            <a:pPr indent="0" marL="0" algn="l">
              <a:buNone/>
            </a:pPr>
            <a:r>
              <a:rPr lang="fr-FR" sz="1200" b="1" dirty="0">
                <a:solidFill>
                  <a:srgbClr val="353430"/>
                </a:solidFill>
              </a:rPr>
              <a:t>132</a:t>
            </a:r>
          </a:p>
        </p:txBody>
      </p:sp>
      <p:sp>
        <p:nvSpPr>
          <p:cNvPr id="13" name="Text 9"/>
          <p:cNvSpPr txBox="1"/>
          <p:nvPr/>
        </p:nvSpPr>
        <p:spPr>
          <a:xfrm>
            <a:off x="594360" y="4846320"/>
            <a:ext cx="10972800" cy="365760"/>
          </a:xfrm>
          <a:prstGeom prst="rect">
            <a:avLst/>
          </a:prstGeom>
          <a:noFill/>
          <a:ln/>
        </p:spPr>
        <p:txBody>
          <a:bodyPr wrap="square" lIns="0" tIns="0" rIns="0" bIns="0" rtlCol="0" anchor="ctr"/>
          <a:lstStyle/>
          <a:p>
            <a:pPr indent="0" marL="0">
              <a:buNone/>
            </a:pPr>
            <a:r>
              <a:rPr lang="en-US" sz="1400" i="1" dirty="0">
                <a:solidFill>
                  <a:srgbClr val="353430"/>
                </a:solidFill>
              </a:rPr>
              <a:t>Le panier moyen est d'une stabilité remarquable : les huit villes tiennent dans un intervalle de 0,7 %. En bleu foncé, les quatre produits d'électronique — ils occupent tout le haut du classement.</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15</a:t>
            </a:fld>
            <a:endParaRPr lang="en-US"/>
          </a:p>
        </p:txBody>
      </p:sp>
    </p:spTree>
  </p:cSld>
  <p:clrMapOvr>
    <a:masterClrMapping/>
  </p:clrMapOvr>
  <p:transition spd="med" advClick="1">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Trois lectures à ne pas faire</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Le jeu est synthétique. Nous avons lu le code du générateur, et trois de ses propriétés invalident des conclusions tentantes.</a:t>
            </a:r>
            <a:endParaRPr lang="en-US" sz="1500" dirty="0"/>
          </a:p>
        </p:txBody>
      </p:sp>
      <p:sp>
        <p:nvSpPr>
          <p:cNvPr id="4" name="carte-199"/>
          <p:cNvSpPr/>
          <p:nvPr/>
        </p:nvSpPr>
        <p:spPr>
          <a:xfrm>
            <a:off x="594360" y="1600200"/>
            <a:ext cx="10972800" cy="1051560"/>
          </a:xfrm>
          <a:prstGeom prst="roundRect">
            <a:avLst>
              <a:gd name="adj" fmla="val 8696"/>
            </a:avLst>
          </a:prstGeom>
          <a:solidFill>
            <a:srgbClr val="FFFFFF"/>
          </a:solidFill>
          <a:ln w="12700">
            <a:solidFill>
              <a:srgbClr val="E2E5EA"/>
            </a:solidFill>
            <a:prstDash val="solid"/>
          </a:ln>
        </p:spPr>
      </p:sp>
      <p:sp>
        <p:nvSpPr>
          <p:cNvPr id="5" name="pe-200"/>
          <p:cNvSpPr/>
          <p:nvPr/>
        </p:nvSpPr>
        <p:spPr>
          <a:xfrm>
            <a:off x="868680" y="1929384"/>
            <a:ext cx="384048" cy="384048"/>
          </a:xfrm>
          <a:prstGeom prst="ellipse">
            <a:avLst/>
          </a:prstGeom>
          <a:solidFill>
            <a:srgbClr val="EB6834"/>
          </a:solidFill>
          <a:ln w="12700">
            <a:solidFill>
              <a:srgbClr val="EB6834"/>
            </a:solidFill>
            <a:prstDash val="solid"/>
          </a:ln>
        </p:spPr>
      </p:sp>
      <p:sp>
        <p:nvSpPr>
          <p:cNvPr id="6" name="px-201"/>
          <p:cNvSpPr txBox="1"/>
          <p:nvPr/>
        </p:nvSpPr>
        <p:spPr>
          <a:xfrm>
            <a:off x="868680" y="192938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7" name="pt-202"/>
          <p:cNvSpPr txBox="1"/>
          <p:nvPr/>
        </p:nvSpPr>
        <p:spPr>
          <a:xfrm>
            <a:off x="1463040" y="1764792"/>
            <a:ext cx="9738360" cy="347472"/>
          </a:xfrm>
          <a:prstGeom prst="rect">
            <a:avLst/>
          </a:prstGeom>
          <a:noFill/>
          <a:ln/>
        </p:spPr>
        <p:txBody>
          <a:bodyPr wrap="square" lIns="0" tIns="0" rIns="0" bIns="0" rtlCol="0" anchor="ctr"/>
          <a:lstStyle/>
          <a:p>
            <a:pPr indent="0" marL="0">
              <a:buNone/>
            </a:pPr>
            <a:r>
              <a:rPr lang="en-US" sz="1550" b="1" dirty="0">
                <a:solidFill>
                  <a:srgbClr val="1E2761"/>
                </a:solidFill>
              </a:rPr>
              <a:t>Le Top 10 mesure les prix, pas la demande</a:t>
            </a:r>
            <a:endParaRPr lang="en-US" sz="1550" dirty="0"/>
          </a:p>
        </p:txBody>
      </p:sp>
      <p:sp>
        <p:nvSpPr>
          <p:cNvPr id="8" name="pd-203"/>
          <p:cNvSpPr txBox="1"/>
          <p:nvPr/>
        </p:nvSpPr>
        <p:spPr>
          <a:xfrm>
            <a:off x="1463040" y="2112264"/>
            <a:ext cx="9738360" cy="457200"/>
          </a:xfrm>
          <a:prstGeom prst="rect">
            <a:avLst/>
          </a:prstGeom>
          <a:noFill/>
          <a:ln/>
        </p:spPr>
        <p:txBody>
          <a:bodyPr wrap="square" lIns="0" tIns="0" rIns="0" bIns="0" rtlCol="0" anchor="t"/>
          <a:lstStyle/>
          <a:p>
            <a:pPr indent="0" marL="0">
              <a:lnSpc>
                <a:spcPct val="110000"/>
              </a:lnSpc>
              <a:buNone/>
            </a:pPr>
            <a:r>
              <a:rPr lang="en-US" sz="1400" dirty="0">
                <a:solidFill>
                  <a:srgbClr val="1A1A1A"/>
                </a:solidFill>
              </a:rPr>
              <a:t>Les 21 produits sont tirés uniformément : leurs quantités vendues tiennent dans 1,7 %. Si l'Électronique domine, c'est qu'un Powerbank coûte 12 000 FCFA et un stylo 250.</a:t>
            </a:r>
            <a:endParaRPr lang="en-US" sz="1400" dirty="0"/>
          </a:p>
        </p:txBody>
      </p:sp>
      <p:sp>
        <p:nvSpPr>
          <p:cNvPr id="9" name="carte-204"/>
          <p:cNvSpPr/>
          <p:nvPr/>
        </p:nvSpPr>
        <p:spPr>
          <a:xfrm>
            <a:off x="594360" y="2788920"/>
            <a:ext cx="10972800" cy="1051560"/>
          </a:xfrm>
          <a:prstGeom prst="roundRect">
            <a:avLst>
              <a:gd name="adj" fmla="val 8696"/>
            </a:avLst>
          </a:prstGeom>
          <a:solidFill>
            <a:srgbClr val="FFFFFF"/>
          </a:solidFill>
          <a:ln w="12700">
            <a:solidFill>
              <a:srgbClr val="E2E5EA"/>
            </a:solidFill>
            <a:prstDash val="solid"/>
          </a:ln>
        </p:spPr>
      </p:sp>
      <p:sp>
        <p:nvSpPr>
          <p:cNvPr id="10" name="pe-205"/>
          <p:cNvSpPr/>
          <p:nvPr/>
        </p:nvSpPr>
        <p:spPr>
          <a:xfrm>
            <a:off x="868680" y="3118104"/>
            <a:ext cx="384048" cy="384048"/>
          </a:xfrm>
          <a:prstGeom prst="ellipse">
            <a:avLst/>
          </a:prstGeom>
          <a:solidFill>
            <a:srgbClr val="EB6834"/>
          </a:solidFill>
          <a:ln w="12700">
            <a:solidFill>
              <a:srgbClr val="EB6834"/>
            </a:solidFill>
            <a:prstDash val="solid"/>
          </a:ln>
        </p:spPr>
      </p:sp>
      <p:sp>
        <p:nvSpPr>
          <p:cNvPr id="11" name="px-206"/>
          <p:cNvSpPr txBox="1"/>
          <p:nvPr/>
        </p:nvSpPr>
        <p:spPr>
          <a:xfrm>
            <a:off x="868680" y="31181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2" name="pt-207"/>
          <p:cNvSpPr txBox="1"/>
          <p:nvPr/>
        </p:nvSpPr>
        <p:spPr>
          <a:xfrm>
            <a:off x="1463040" y="2953512"/>
            <a:ext cx="9738360" cy="347472"/>
          </a:xfrm>
          <a:prstGeom prst="rect">
            <a:avLst/>
          </a:prstGeom>
          <a:noFill/>
          <a:ln/>
        </p:spPr>
        <p:txBody>
          <a:bodyPr wrap="square" lIns="0" tIns="0" rIns="0" bIns="0" rtlCol="0" anchor="ctr"/>
          <a:lstStyle/>
          <a:p>
            <a:pPr indent="0" marL="0">
              <a:buNone/>
            </a:pPr>
            <a:r>
              <a:rPr lang="en-US" sz="1550" b="1" dirty="0">
                <a:solidFill>
                  <a:srgbClr val="1E2761"/>
                </a:solidFill>
              </a:rPr>
              <a:t>Les promotions ne peuvent pas faire vendre plus</a:t>
            </a:r>
            <a:endParaRPr lang="en-US" sz="1550" dirty="0"/>
          </a:p>
        </p:txBody>
      </p:sp>
      <p:sp>
        <p:nvSpPr>
          <p:cNvPr id="13" name="pd-208"/>
          <p:cNvSpPr txBox="1"/>
          <p:nvPr/>
        </p:nvSpPr>
        <p:spPr>
          <a:xfrm>
            <a:off x="1463040" y="3300984"/>
            <a:ext cx="9738360" cy="457200"/>
          </a:xfrm>
          <a:prstGeom prst="rect">
            <a:avLst/>
          </a:prstGeom>
          <a:noFill/>
          <a:ln/>
        </p:spPr>
        <p:txBody>
          <a:bodyPr wrap="square" lIns="0" tIns="0" rIns="0" bIns="0" rtlCol="0" anchor="t"/>
          <a:lstStyle/>
          <a:p>
            <a:pPr indent="0" marL="0">
              <a:lnSpc>
                <a:spcPct val="110000"/>
              </a:lnSpc>
              <a:buNone/>
            </a:pPr>
            <a:r>
              <a:rPr lang="en-US" sz="1400" dirty="0">
                <a:solidFill>
                  <a:srgbClr val="1A1A1A"/>
                </a:solidFill>
              </a:rPr>
              <a:t>La quantité suit une loi de Poisson tirée indépendamment de la promotion. L'égalité mesurée — 3,201 contre 3,199, soit 0,06 % — vérifie le générateur, elle ne dit rien du commerce.</a:t>
            </a:r>
            <a:endParaRPr lang="en-US" sz="1400" dirty="0"/>
          </a:p>
        </p:txBody>
      </p:sp>
      <p:sp>
        <p:nvSpPr>
          <p:cNvPr id="14" name="carte-209"/>
          <p:cNvSpPr/>
          <p:nvPr/>
        </p:nvSpPr>
        <p:spPr>
          <a:xfrm>
            <a:off x="594360" y="3977640"/>
            <a:ext cx="10972800" cy="1051560"/>
          </a:xfrm>
          <a:prstGeom prst="roundRect">
            <a:avLst>
              <a:gd name="adj" fmla="val 8696"/>
            </a:avLst>
          </a:prstGeom>
          <a:solidFill>
            <a:srgbClr val="FFFFFF"/>
          </a:solidFill>
          <a:ln w="12700">
            <a:solidFill>
              <a:srgbClr val="E2E5EA"/>
            </a:solidFill>
            <a:prstDash val="solid"/>
          </a:ln>
        </p:spPr>
      </p:sp>
      <p:sp>
        <p:nvSpPr>
          <p:cNvPr id="15" name="pe-210"/>
          <p:cNvSpPr/>
          <p:nvPr/>
        </p:nvSpPr>
        <p:spPr>
          <a:xfrm>
            <a:off x="868680" y="4306824"/>
            <a:ext cx="384048" cy="384048"/>
          </a:xfrm>
          <a:prstGeom prst="ellipse">
            <a:avLst/>
          </a:prstGeom>
          <a:solidFill>
            <a:srgbClr val="EB6834"/>
          </a:solidFill>
          <a:ln w="12700">
            <a:solidFill>
              <a:srgbClr val="EB6834"/>
            </a:solidFill>
            <a:prstDash val="solid"/>
          </a:ln>
        </p:spPr>
      </p:sp>
      <p:sp>
        <p:nvSpPr>
          <p:cNvPr id="16" name="px-211"/>
          <p:cNvSpPr txBox="1"/>
          <p:nvPr/>
        </p:nvSpPr>
        <p:spPr>
          <a:xfrm>
            <a:off x="868680" y="430682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pt-212"/>
          <p:cNvSpPr txBox="1"/>
          <p:nvPr/>
        </p:nvSpPr>
        <p:spPr>
          <a:xfrm>
            <a:off x="1463040" y="4142232"/>
            <a:ext cx="9738360" cy="347472"/>
          </a:xfrm>
          <a:prstGeom prst="rect">
            <a:avLst/>
          </a:prstGeom>
          <a:noFill/>
          <a:ln/>
        </p:spPr>
        <p:txBody>
          <a:bodyPr wrap="square" lIns="0" tIns="0" rIns="0" bIns="0" rtlCol="0" anchor="ctr"/>
          <a:lstStyle/>
          <a:p>
            <a:pPr indent="0" marL="0">
              <a:buNone/>
            </a:pPr>
            <a:r>
              <a:rPr lang="en-US" sz="1550" b="1" dirty="0">
                <a:solidFill>
                  <a:srgbClr val="1E2761"/>
                </a:solidFill>
              </a:rPr>
              <a:t>Il n'y a aucune saisonnalité</a:t>
            </a:r>
            <a:endParaRPr lang="en-US" sz="1550" dirty="0"/>
          </a:p>
        </p:txBody>
      </p:sp>
      <p:sp>
        <p:nvSpPr>
          <p:cNvPr id="18" name="pd-213"/>
          <p:cNvSpPr txBox="1"/>
          <p:nvPr/>
        </p:nvSpPr>
        <p:spPr>
          <a:xfrm>
            <a:off x="1463040" y="4489704"/>
            <a:ext cx="9738360" cy="457200"/>
          </a:xfrm>
          <a:prstGeom prst="rect">
            <a:avLst/>
          </a:prstGeom>
          <a:noFill/>
          <a:ln/>
        </p:spPr>
        <p:txBody>
          <a:bodyPr wrap="square" lIns="0" tIns="0" rIns="0" bIns="0" rtlCol="0" anchor="t"/>
          <a:lstStyle/>
          <a:p>
            <a:pPr indent="0" marL="0">
              <a:lnSpc>
                <a:spcPct val="110000"/>
              </a:lnSpc>
              <a:buNone/>
            </a:pPr>
            <a:r>
              <a:rPr lang="en-US" sz="1400" dirty="0">
                <a:solidFill>
                  <a:srgbClr val="1A1A1A"/>
                </a:solidFill>
              </a:rPr>
              <a:t>Les 12 % d'écart entre mois tombent à 3,9 % une fois ramenés au jour calendaire, et la dispersion résiduelle (0,79 %) est au niveau du bruit de Poisson attendu (0,69 %).</a:t>
            </a:r>
            <a:endParaRPr lang="en-US" sz="1400" dirty="0"/>
          </a:p>
        </p:txBody>
      </p:sp>
      <p:sp>
        <p:nvSpPr>
          <p:cNvPr id="19" name="Text 17"/>
          <p:cNvSpPr txBox="1"/>
          <p:nvPr/>
        </p:nvSpPr>
        <p:spPr>
          <a:xfrm>
            <a:off x="594360" y="5257800"/>
            <a:ext cx="10972800" cy="320040"/>
          </a:xfrm>
          <a:prstGeom prst="rect">
            <a:avLst/>
          </a:prstGeom>
          <a:noFill/>
          <a:ln/>
        </p:spPr>
        <p:txBody>
          <a:bodyPr wrap="square" lIns="0" tIns="0" rIns="0" bIns="0" rtlCol="0" anchor="ctr"/>
          <a:lstStyle/>
          <a:p>
            <a:pPr indent="0" marL="0">
              <a:buNone/>
            </a:pPr>
            <a:r>
              <a:rPr lang="en-US" sz="1400" i="1" dirty="0">
                <a:solidFill>
                  <a:srgbClr val="353430"/>
                </a:solidFill>
              </a:rPr>
              <a:t>Ces trois points viennent de la lecture du générateur fourni, pas d'une intuition.</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16</a:t>
            </a:fld>
            <a:endParaRPr lang="en-US"/>
          </a:p>
        </p:txBody>
      </p:sp>
    </p:spTree>
  </p:cSld>
  <p:clrMapOvr>
    <a:masterClrMapping/>
  </p:clrMapOvr>
  <p:transition spd="med" advClick="1">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Quatre chemins, les mêmes nombres</a:t>
            </a:r>
            <a:endParaRPr lang="en-US" sz="2800" dirty="0"/>
          </a:p>
        </p:txBody>
      </p:sp>
      <p:sp>
        <p:nvSpPr>
          <p:cNvPr id="3" name="Text 1"/>
          <p:cNvSpPr txBox="1"/>
          <p:nvPr/>
        </p:nvSpPr>
        <p:spPr>
          <a:xfrm>
            <a:off x="594360" y="1143000"/>
            <a:ext cx="10972800" cy="320040"/>
          </a:xfrm>
          <a:prstGeom prst="rect">
            <a:avLst/>
          </a:prstGeom>
          <a:noFill/>
          <a:ln/>
        </p:spPr>
        <p:txBody>
          <a:bodyPr wrap="square" lIns="0" tIns="0" rIns="0" bIns="0" rtlCol="0" anchor="ctr"/>
          <a:lstStyle/>
          <a:p>
            <a:pPr indent="0" marL="0">
              <a:buNone/>
            </a:pPr>
            <a:r>
              <a:rPr lang="en-US" sz="1500" dirty="0">
                <a:solidFill>
                  <a:srgbClr val="353430"/>
                </a:solidFill>
              </a:rPr>
              <a:t>La consigne impose que toute valeur soit contrôlée par rapport à une autre technologie.</a:t>
            </a:r>
            <a:endParaRPr lang="en-US" sz="1500" dirty="0"/>
          </a:p>
        </p:txBody>
      </p:sp>
      <p:sp>
        <p:nvSpPr>
          <p:cNvPr id="4" name="carte-214"/>
          <p:cNvSpPr/>
          <p:nvPr/>
        </p:nvSpPr>
        <p:spPr>
          <a:xfrm>
            <a:off x="594360" y="1645920"/>
            <a:ext cx="3383280" cy="1371600"/>
          </a:xfrm>
          <a:prstGeom prst="roundRect">
            <a:avLst>
              <a:gd name="adj" fmla="val 6667"/>
            </a:avLst>
          </a:prstGeom>
          <a:solidFill>
            <a:srgbClr val="FFFFFF"/>
          </a:solidFill>
          <a:ln w="12700">
            <a:solidFill>
              <a:srgbClr val="FFFFFF"/>
            </a:solidFill>
            <a:prstDash val="solid"/>
          </a:ln>
        </p:spPr>
      </p:sp>
      <p:sp>
        <p:nvSpPr>
          <p:cNvPr id="5" name="mn-215"/>
          <p:cNvSpPr txBox="1"/>
          <p:nvPr/>
        </p:nvSpPr>
        <p:spPr>
          <a:xfrm>
            <a:off x="822960" y="1783080"/>
            <a:ext cx="2926080" cy="365760"/>
          </a:xfrm>
          <a:prstGeom prst="rect">
            <a:avLst/>
          </a:prstGeom>
          <a:noFill/>
          <a:ln/>
        </p:spPr>
        <p:txBody>
          <a:bodyPr wrap="square" lIns="0" tIns="0" rIns="0" bIns="0" rtlCol="0" anchor="ctr"/>
          <a:lstStyle/>
          <a:p>
            <a:pPr indent="0" marL="0">
              <a:buNone/>
            </a:pPr>
            <a:r>
              <a:rPr lang="en-US" sz="1700" b="1" dirty="0">
                <a:solidFill>
                  <a:srgbClr val="2A78D6"/>
                </a:solidFill>
              </a:rPr>
              <a:t>Hive</a:t>
            </a:r>
            <a:endParaRPr lang="en-US" sz="1700" dirty="0"/>
          </a:p>
        </p:txBody>
      </p:sp>
      <p:sp>
        <p:nvSpPr>
          <p:cNvPr id="6" name="mo-216"/>
          <p:cNvSpPr txBox="1"/>
          <p:nvPr/>
        </p:nvSpPr>
        <p:spPr>
          <a:xfrm>
            <a:off x="822960" y="2148840"/>
            <a:ext cx="2926080" cy="365760"/>
          </a:xfrm>
          <a:prstGeom prst="rect">
            <a:avLst/>
          </a:prstGeom>
          <a:noFill/>
          <a:ln/>
        </p:spPr>
        <p:txBody>
          <a:bodyPr wrap="square" lIns="0" tIns="0" rIns="0" bIns="0" rtlCol="0" anchor="t"/>
          <a:lstStyle/>
          <a:p>
            <a:pPr indent="0" marL="0">
              <a:buNone/>
            </a:pPr>
            <a:r>
              <a:rPr lang="en-US" sz="1250" dirty="0">
                <a:solidFill>
                  <a:srgbClr val="1A1A1A"/>
                </a:solidFill>
                <a:latin typeface="Courier New" pitchFamily="34" charset="0"/>
                <a:ea typeface="Courier New" pitchFamily="34" charset="-122"/>
                <a:cs typeface="Courier New" pitchFamily="34" charset="-120"/>
              </a:rPr>
              <a:t>HiveQL sur le cluster</a:t>
            </a:r>
            <a:endParaRPr lang="en-US" sz="1250" dirty="0"/>
          </a:p>
        </p:txBody>
      </p:sp>
      <p:sp>
        <p:nvSpPr>
          <p:cNvPr id="7" name="mr-217"/>
          <p:cNvSpPr txBox="1"/>
          <p:nvPr/>
        </p:nvSpPr>
        <p:spPr>
          <a:xfrm>
            <a:off x="822960" y="2542032"/>
            <a:ext cx="2926080" cy="320040"/>
          </a:xfrm>
          <a:prstGeom prst="rect">
            <a:avLst/>
          </a:prstGeom>
          <a:noFill/>
          <a:ln/>
        </p:spPr>
        <p:txBody>
          <a:bodyPr wrap="square" lIns="0" tIns="0" rIns="0" bIns="0" rtlCol="0" anchor="ctr"/>
          <a:lstStyle/>
          <a:p>
            <a:pPr indent="0" marL="0">
              <a:buNone/>
            </a:pPr>
            <a:r>
              <a:rPr lang="en-US" sz="1350" i="1" dirty="0">
                <a:solidFill>
                  <a:srgbClr val="353430"/>
                </a:solidFill>
              </a:rPr>
              <a:t>le livrable</a:t>
            </a:r>
            <a:endParaRPr lang="en-US" sz="1350" dirty="0"/>
          </a:p>
        </p:txBody>
      </p:sp>
      <p:sp>
        <p:nvSpPr>
          <p:cNvPr id="8" name="carte-218"/>
          <p:cNvSpPr/>
          <p:nvPr/>
        </p:nvSpPr>
        <p:spPr>
          <a:xfrm>
            <a:off x="4251960" y="1645920"/>
            <a:ext cx="3383280" cy="1371600"/>
          </a:xfrm>
          <a:prstGeom prst="roundRect">
            <a:avLst>
              <a:gd name="adj" fmla="val 6667"/>
            </a:avLst>
          </a:prstGeom>
          <a:solidFill>
            <a:srgbClr val="FFFFFF"/>
          </a:solidFill>
          <a:ln w="12700">
            <a:solidFill>
              <a:srgbClr val="FFFFFF"/>
            </a:solidFill>
            <a:prstDash val="solid"/>
          </a:ln>
        </p:spPr>
      </p:sp>
      <p:sp>
        <p:nvSpPr>
          <p:cNvPr id="9" name="mn-219"/>
          <p:cNvSpPr txBox="1"/>
          <p:nvPr/>
        </p:nvSpPr>
        <p:spPr>
          <a:xfrm>
            <a:off x="4480560" y="1783080"/>
            <a:ext cx="2926080" cy="365760"/>
          </a:xfrm>
          <a:prstGeom prst="rect">
            <a:avLst/>
          </a:prstGeom>
          <a:noFill/>
          <a:ln/>
        </p:spPr>
        <p:txBody>
          <a:bodyPr wrap="square" lIns="0" tIns="0" rIns="0" bIns="0" rtlCol="0" anchor="ctr"/>
          <a:lstStyle/>
          <a:p>
            <a:pPr indent="0" marL="0">
              <a:buNone/>
            </a:pPr>
            <a:r>
              <a:rPr lang="en-US" sz="1700" b="1" dirty="0">
                <a:solidFill>
                  <a:srgbClr val="2A78D6"/>
                </a:solidFill>
              </a:rPr>
              <a:t>DuckDB</a:t>
            </a:r>
            <a:endParaRPr lang="en-US" sz="1700" dirty="0"/>
          </a:p>
        </p:txBody>
      </p:sp>
      <p:sp>
        <p:nvSpPr>
          <p:cNvPr id="10" name="mo-220"/>
          <p:cNvSpPr txBox="1"/>
          <p:nvPr/>
        </p:nvSpPr>
        <p:spPr>
          <a:xfrm>
            <a:off x="4480560" y="2148840"/>
            <a:ext cx="2926080" cy="365760"/>
          </a:xfrm>
          <a:prstGeom prst="rect">
            <a:avLst/>
          </a:prstGeom>
          <a:noFill/>
          <a:ln/>
        </p:spPr>
        <p:txBody>
          <a:bodyPr wrap="square" lIns="0" tIns="0" rIns="0" bIns="0" rtlCol="0" anchor="t"/>
          <a:lstStyle/>
          <a:p>
            <a:pPr indent="0" marL="0">
              <a:buNone/>
            </a:pPr>
            <a:r>
              <a:rPr lang="en-US" sz="1250" dirty="0">
                <a:solidFill>
                  <a:srgbClr val="1A1A1A"/>
                </a:solidFill>
                <a:latin typeface="Courier New" pitchFamily="34" charset="0"/>
                <a:ea typeface="Courier New" pitchFamily="34" charset="-122"/>
                <a:cs typeface="Courier New" pitchFamily="34" charset="-120"/>
              </a:rPr>
              <a:t>mêmes requêtes sur le CSV brut</a:t>
            </a:r>
            <a:endParaRPr lang="en-US" sz="1250" dirty="0"/>
          </a:p>
        </p:txBody>
      </p:sp>
      <p:sp>
        <p:nvSpPr>
          <p:cNvPr id="11" name="mr-221"/>
          <p:cNvSpPr txBox="1"/>
          <p:nvPr/>
        </p:nvSpPr>
        <p:spPr>
          <a:xfrm>
            <a:off x="4480560" y="2542032"/>
            <a:ext cx="2926080" cy="320040"/>
          </a:xfrm>
          <a:prstGeom prst="rect">
            <a:avLst/>
          </a:prstGeom>
          <a:noFill/>
          <a:ln/>
        </p:spPr>
        <p:txBody>
          <a:bodyPr wrap="square" lIns="0" tIns="0" rIns="0" bIns="0" rtlCol="0" anchor="ctr"/>
          <a:lstStyle/>
          <a:p>
            <a:pPr indent="0" marL="0">
              <a:buNone/>
            </a:pPr>
            <a:r>
              <a:rPr lang="en-US" sz="1350" i="1" dirty="0">
                <a:solidFill>
                  <a:srgbClr val="353430"/>
                </a:solidFill>
              </a:rPr>
              <a:t>les résultats attendus</a:t>
            </a:r>
            <a:endParaRPr lang="en-US" sz="1350" dirty="0"/>
          </a:p>
        </p:txBody>
      </p:sp>
      <p:sp>
        <p:nvSpPr>
          <p:cNvPr id="12" name="carte-222"/>
          <p:cNvSpPr/>
          <p:nvPr/>
        </p:nvSpPr>
        <p:spPr>
          <a:xfrm>
            <a:off x="7909560" y="1645920"/>
            <a:ext cx="3383280" cy="1371600"/>
          </a:xfrm>
          <a:prstGeom prst="roundRect">
            <a:avLst>
              <a:gd name="adj" fmla="val 6667"/>
            </a:avLst>
          </a:prstGeom>
          <a:solidFill>
            <a:srgbClr val="FFFFFF"/>
          </a:solidFill>
          <a:ln w="12700">
            <a:solidFill>
              <a:srgbClr val="FFFFFF"/>
            </a:solidFill>
            <a:prstDash val="solid"/>
          </a:ln>
        </p:spPr>
      </p:sp>
      <p:sp>
        <p:nvSpPr>
          <p:cNvPr id="13" name="mn-223"/>
          <p:cNvSpPr txBox="1"/>
          <p:nvPr/>
        </p:nvSpPr>
        <p:spPr>
          <a:xfrm>
            <a:off x="8138160" y="1783080"/>
            <a:ext cx="2926080" cy="365760"/>
          </a:xfrm>
          <a:prstGeom prst="rect">
            <a:avLst/>
          </a:prstGeom>
          <a:noFill/>
          <a:ln/>
        </p:spPr>
        <p:txBody>
          <a:bodyPr wrap="square" lIns="0" tIns="0" rIns="0" bIns="0" rtlCol="0" anchor="ctr"/>
          <a:lstStyle/>
          <a:p>
            <a:pPr indent="0" marL="0">
              <a:buNone/>
            </a:pPr>
            <a:r>
              <a:rPr lang="en-US" sz="1700" b="1" dirty="0">
                <a:solidFill>
                  <a:srgbClr val="2A78D6"/>
                </a:solidFill>
              </a:rPr>
              <a:t>MapReduce</a:t>
            </a:r>
            <a:endParaRPr lang="en-US" sz="1700" dirty="0"/>
          </a:p>
        </p:txBody>
      </p:sp>
      <p:sp>
        <p:nvSpPr>
          <p:cNvPr id="14" name="mo-224"/>
          <p:cNvSpPr txBox="1"/>
          <p:nvPr/>
        </p:nvSpPr>
        <p:spPr>
          <a:xfrm>
            <a:off x="8138160" y="2148840"/>
            <a:ext cx="2926080" cy="365760"/>
          </a:xfrm>
          <a:prstGeom prst="rect">
            <a:avLst/>
          </a:prstGeom>
          <a:noFill/>
          <a:ln/>
        </p:spPr>
        <p:txBody>
          <a:bodyPr wrap="square" lIns="0" tIns="0" rIns="0" bIns="0" rtlCol="0" anchor="t"/>
          <a:lstStyle/>
          <a:p>
            <a:pPr indent="0" marL="0">
              <a:buNone/>
            </a:pPr>
            <a:r>
              <a:rPr lang="en-US" sz="1250" dirty="0">
                <a:solidFill>
                  <a:srgbClr val="1A1A1A"/>
                </a:solidFill>
                <a:latin typeface="Courier New" pitchFamily="34" charset="0"/>
                <a:ea typeface="Courier New" pitchFamily="34" charset="-122"/>
                <a:cs typeface="Courier New" pitchFamily="34" charset="-120"/>
              </a:rPr>
              <a:t>le nôtre, et celui du Groupe 5 sous YARN</a:t>
            </a:r>
            <a:endParaRPr lang="en-US" sz="1250" dirty="0"/>
          </a:p>
        </p:txBody>
      </p:sp>
      <p:sp>
        <p:nvSpPr>
          <p:cNvPr id="15" name="mr-225"/>
          <p:cNvSpPr txBox="1"/>
          <p:nvPr/>
        </p:nvSpPr>
        <p:spPr>
          <a:xfrm>
            <a:off x="8138160" y="2542032"/>
            <a:ext cx="2926080" cy="320040"/>
          </a:xfrm>
          <a:prstGeom prst="rect">
            <a:avLst/>
          </a:prstGeom>
          <a:noFill/>
          <a:ln/>
        </p:spPr>
        <p:txBody>
          <a:bodyPr wrap="square" lIns="0" tIns="0" rIns="0" bIns="0" rtlCol="0" anchor="ctr"/>
          <a:lstStyle/>
          <a:p>
            <a:pPr indent="0" marL="0">
              <a:buNone/>
            </a:pPr>
            <a:r>
              <a:rPr lang="en-US" sz="1350" i="1" dirty="0">
                <a:solidFill>
                  <a:srgbClr val="353430"/>
                </a:solidFill>
              </a:rPr>
              <a:t>la référence Map/Reduce</a:t>
            </a:r>
            <a:endParaRPr lang="en-US" sz="1350" dirty="0"/>
          </a:p>
        </p:txBody>
      </p:sp>
      <p:sp>
        <p:nvSpPr>
          <p:cNvPr id="16" name="carte-226"/>
          <p:cNvSpPr/>
          <p:nvPr/>
        </p:nvSpPr>
        <p:spPr>
          <a:xfrm>
            <a:off x="594360" y="3246120"/>
            <a:ext cx="10972800" cy="457200"/>
          </a:xfrm>
          <a:prstGeom prst="roundRect">
            <a:avLst>
              <a:gd name="adj" fmla="val 20000"/>
            </a:avLst>
          </a:prstGeom>
          <a:solidFill>
            <a:srgbClr val="FFFFFF"/>
          </a:solidFill>
          <a:ln w="12700">
            <a:solidFill>
              <a:srgbClr val="E2E5EA"/>
            </a:solidFill>
            <a:prstDash val="solid"/>
          </a:ln>
        </p:spPr>
      </p:sp>
      <p:sp>
        <p:nvSpPr>
          <p:cNvPr id="17" name="rn-227"/>
          <p:cNvSpPr txBox="1"/>
          <p:nvPr/>
        </p:nvSpPr>
        <p:spPr>
          <a:xfrm>
            <a:off x="868680" y="3246120"/>
            <a:ext cx="5029200" cy="457200"/>
          </a:xfrm>
          <a:prstGeom prst="rect">
            <a:avLst/>
          </a:prstGeom>
          <a:noFill/>
          <a:ln/>
        </p:spPr>
        <p:txBody>
          <a:bodyPr wrap="square" lIns="0" tIns="0" rIns="0" bIns="0" rtlCol="0" anchor="ctr"/>
          <a:lstStyle/>
          <a:p>
            <a:pPr indent="0" marL="0">
              <a:buNone/>
            </a:pPr>
            <a:r>
              <a:rPr lang="en-US" sz="1450" dirty="0">
                <a:solidFill>
                  <a:srgbClr val="1A1A1A"/>
                </a:solidFill>
              </a:rPr>
              <a:t>Hive contre DuckDB</a:t>
            </a:r>
            <a:endParaRPr lang="en-US" sz="1450" dirty="0"/>
          </a:p>
        </p:txBody>
      </p:sp>
      <p:sp>
        <p:nvSpPr>
          <p:cNvPr id="18" name="rv-228"/>
          <p:cNvSpPr txBox="1"/>
          <p:nvPr/>
        </p:nvSpPr>
        <p:spPr>
          <a:xfrm>
            <a:off x="6080760" y="3246120"/>
            <a:ext cx="1828800" cy="457200"/>
          </a:xfrm>
          <a:prstGeom prst="rect">
            <a:avLst/>
          </a:prstGeom>
          <a:noFill/>
          <a:ln/>
        </p:spPr>
        <p:txBody>
          <a:bodyPr wrap="square" lIns="0" tIns="0" rIns="0" bIns="0" rtlCol="0" anchor="ctr"/>
          <a:lstStyle/>
          <a:p>
            <a:pPr algn="ctr" indent="0" marL="0">
              <a:buNone/>
            </a:pPr>
            <a:r>
              <a:rPr lang="en-US" sz="1600" b="1" dirty="0">
                <a:solidFill>
                  <a:srgbClr val="1BAF7A"/>
                </a:solidFill>
              </a:rPr>
              <a:t>17 / 17</a:t>
            </a:r>
            <a:endParaRPr lang="en-US" sz="1600" dirty="0"/>
          </a:p>
        </p:txBody>
      </p:sp>
      <p:sp>
        <p:nvSpPr>
          <p:cNvPr id="19" name="re-229"/>
          <p:cNvSpPr txBox="1"/>
          <p:nvPr/>
        </p:nvSpPr>
        <p:spPr>
          <a:xfrm>
            <a:off x="8092440" y="3246120"/>
            <a:ext cx="3200400" cy="457200"/>
          </a:xfrm>
          <a:prstGeom prst="rect">
            <a:avLst/>
          </a:prstGeom>
          <a:noFill/>
          <a:ln/>
        </p:spPr>
        <p:txBody>
          <a:bodyPr wrap="square" lIns="0" tIns="0" rIns="0" bIns="0" rtlCol="0" anchor="ctr"/>
          <a:lstStyle/>
          <a:p>
            <a:pPr indent="0" marL="0">
              <a:buNone/>
            </a:pPr>
            <a:r>
              <a:rPr lang="en-US" sz="1400" dirty="0">
                <a:solidFill>
                  <a:srgbClr val="353430"/>
                </a:solidFill>
              </a:rPr>
              <a:t>écart maximal : 0</a:t>
            </a:r>
            <a:endParaRPr lang="en-US" sz="1400" dirty="0"/>
          </a:p>
        </p:txBody>
      </p:sp>
      <p:sp>
        <p:nvSpPr>
          <p:cNvPr id="20" name="carte-230"/>
          <p:cNvSpPr/>
          <p:nvPr/>
        </p:nvSpPr>
        <p:spPr>
          <a:xfrm>
            <a:off x="594360" y="3794760"/>
            <a:ext cx="10972800" cy="457200"/>
          </a:xfrm>
          <a:prstGeom prst="roundRect">
            <a:avLst>
              <a:gd name="adj" fmla="val 20000"/>
            </a:avLst>
          </a:prstGeom>
          <a:solidFill>
            <a:srgbClr val="FFFFFF"/>
          </a:solidFill>
          <a:ln w="12700">
            <a:solidFill>
              <a:srgbClr val="E2E5EA"/>
            </a:solidFill>
            <a:prstDash val="solid"/>
          </a:ln>
        </p:spPr>
      </p:sp>
      <p:sp>
        <p:nvSpPr>
          <p:cNvPr id="21" name="rn-231"/>
          <p:cNvSpPr txBox="1"/>
          <p:nvPr/>
        </p:nvSpPr>
        <p:spPr>
          <a:xfrm>
            <a:off x="868680" y="3794760"/>
            <a:ext cx="5029200" cy="457200"/>
          </a:xfrm>
          <a:prstGeom prst="rect">
            <a:avLst/>
          </a:prstGeom>
          <a:noFill/>
          <a:ln/>
        </p:spPr>
        <p:txBody>
          <a:bodyPr wrap="square" lIns="0" tIns="0" rIns="0" bIns="0" rtlCol="0" anchor="ctr"/>
          <a:lstStyle/>
          <a:p>
            <a:pPr indent="0" marL="0">
              <a:buNone/>
            </a:pPr>
            <a:r>
              <a:rPr lang="en-US" sz="1450" dirty="0">
                <a:solidFill>
                  <a:srgbClr val="1A1A1A"/>
                </a:solidFill>
              </a:rPr>
              <a:t>Hive contre MapReduce</a:t>
            </a:r>
            <a:endParaRPr lang="en-US" sz="1450" dirty="0"/>
          </a:p>
        </p:txBody>
      </p:sp>
      <p:sp>
        <p:nvSpPr>
          <p:cNvPr id="22" name="rv-232"/>
          <p:cNvSpPr txBox="1"/>
          <p:nvPr/>
        </p:nvSpPr>
        <p:spPr>
          <a:xfrm>
            <a:off x="6080760" y="3794760"/>
            <a:ext cx="1828800" cy="457200"/>
          </a:xfrm>
          <a:prstGeom prst="rect">
            <a:avLst/>
          </a:prstGeom>
          <a:noFill/>
          <a:ln/>
        </p:spPr>
        <p:txBody>
          <a:bodyPr wrap="square" lIns="0" tIns="0" rIns="0" bIns="0" rtlCol="0" anchor="ctr"/>
          <a:lstStyle/>
          <a:p>
            <a:pPr algn="ctr" indent="0" marL="0">
              <a:buNone/>
            </a:pPr>
            <a:r>
              <a:rPr lang="en-US" sz="1600" b="1" dirty="0">
                <a:solidFill>
                  <a:srgbClr val="1BAF7A"/>
                </a:solidFill>
              </a:rPr>
              <a:t>5 / 5</a:t>
            </a:r>
            <a:endParaRPr lang="en-US" sz="1600" dirty="0"/>
          </a:p>
        </p:txBody>
      </p:sp>
      <p:sp>
        <p:nvSpPr>
          <p:cNvPr id="23" name="re-233"/>
          <p:cNvSpPr txBox="1"/>
          <p:nvPr/>
        </p:nvSpPr>
        <p:spPr>
          <a:xfrm>
            <a:off x="8092440" y="3794760"/>
            <a:ext cx="3200400" cy="457200"/>
          </a:xfrm>
          <a:prstGeom prst="rect">
            <a:avLst/>
          </a:prstGeom>
          <a:noFill/>
          <a:ln/>
        </p:spPr>
        <p:txBody>
          <a:bodyPr wrap="square" lIns="0" tIns="0" rIns="0" bIns="0" rtlCol="0" anchor="ctr"/>
          <a:lstStyle/>
          <a:p>
            <a:pPr indent="0" marL="0">
              <a:buNone/>
            </a:pPr>
            <a:r>
              <a:rPr lang="en-US" sz="1400" dirty="0">
                <a:solidFill>
                  <a:srgbClr val="353430"/>
                </a:solidFill>
              </a:rPr>
              <a:t>écart maximal : 0</a:t>
            </a:r>
            <a:endParaRPr lang="en-US" sz="1400" dirty="0"/>
          </a:p>
        </p:txBody>
      </p:sp>
      <p:sp>
        <p:nvSpPr>
          <p:cNvPr id="24" name="carte-234"/>
          <p:cNvSpPr/>
          <p:nvPr/>
        </p:nvSpPr>
        <p:spPr>
          <a:xfrm>
            <a:off x="594360" y="4343400"/>
            <a:ext cx="10972800" cy="457200"/>
          </a:xfrm>
          <a:prstGeom prst="roundRect">
            <a:avLst>
              <a:gd name="adj" fmla="val 20000"/>
            </a:avLst>
          </a:prstGeom>
          <a:solidFill>
            <a:srgbClr val="FFFFFF"/>
          </a:solidFill>
          <a:ln w="12700">
            <a:solidFill>
              <a:srgbClr val="E2E5EA"/>
            </a:solidFill>
            <a:prstDash val="solid"/>
          </a:ln>
        </p:spPr>
      </p:sp>
      <p:sp>
        <p:nvSpPr>
          <p:cNvPr id="25" name="rn-235"/>
          <p:cNvSpPr txBox="1"/>
          <p:nvPr/>
        </p:nvSpPr>
        <p:spPr>
          <a:xfrm>
            <a:off x="868680" y="4343400"/>
            <a:ext cx="5029200" cy="457200"/>
          </a:xfrm>
          <a:prstGeom prst="rect">
            <a:avLst/>
          </a:prstGeom>
          <a:noFill/>
          <a:ln/>
        </p:spPr>
        <p:txBody>
          <a:bodyPr wrap="square" lIns="0" tIns="0" rIns="0" bIns="0" rtlCol="0" anchor="ctr"/>
          <a:lstStyle/>
          <a:p>
            <a:pPr indent="0" marL="0">
              <a:buNone/>
            </a:pPr>
            <a:r>
              <a:rPr lang="en-US" sz="1450" dirty="0">
                <a:solidFill>
                  <a:srgbClr val="1A1A1A"/>
                </a:solidFill>
              </a:rPr>
              <a:t>Hive contre le Groupe 5</a:t>
            </a:r>
            <a:endParaRPr lang="en-US" sz="1450" dirty="0"/>
          </a:p>
        </p:txBody>
      </p:sp>
      <p:sp>
        <p:nvSpPr>
          <p:cNvPr id="26" name="rv-236"/>
          <p:cNvSpPr txBox="1"/>
          <p:nvPr/>
        </p:nvSpPr>
        <p:spPr>
          <a:xfrm>
            <a:off x="6080760" y="4343400"/>
            <a:ext cx="1828800" cy="457200"/>
          </a:xfrm>
          <a:prstGeom prst="rect">
            <a:avLst/>
          </a:prstGeom>
          <a:noFill/>
          <a:ln/>
        </p:spPr>
        <p:txBody>
          <a:bodyPr wrap="square" lIns="0" tIns="0" rIns="0" bIns="0" rtlCol="0" anchor="ctr"/>
          <a:lstStyle/>
          <a:p>
            <a:pPr algn="ctr" indent="0" marL="0">
              <a:buNone/>
            </a:pPr>
            <a:r>
              <a:rPr lang="en-US" sz="1600" b="1" dirty="0">
                <a:solidFill>
                  <a:srgbClr val="1BAF7A"/>
                </a:solidFill>
              </a:rPr>
              <a:t>15 / 15</a:t>
            </a:r>
            <a:endParaRPr lang="en-US" sz="1600" dirty="0"/>
          </a:p>
        </p:txBody>
      </p:sp>
      <p:sp>
        <p:nvSpPr>
          <p:cNvPr id="27" name="re-237"/>
          <p:cNvSpPr txBox="1"/>
          <p:nvPr/>
        </p:nvSpPr>
        <p:spPr>
          <a:xfrm>
            <a:off x="8092440" y="4343400"/>
            <a:ext cx="3200400" cy="457200"/>
          </a:xfrm>
          <a:prstGeom prst="rect">
            <a:avLst/>
          </a:prstGeom>
          <a:noFill/>
          <a:ln/>
        </p:spPr>
        <p:txBody>
          <a:bodyPr wrap="square" lIns="0" tIns="0" rIns="0" bIns="0" rtlCol="0" anchor="ctr"/>
          <a:lstStyle/>
          <a:p>
            <a:pPr indent="0" marL="0">
              <a:buNone/>
            </a:pPr>
            <a:r>
              <a:rPr lang="en-US" sz="1400" dirty="0">
                <a:solidFill>
                  <a:srgbClr val="353430"/>
                </a:solidFill>
              </a:rPr>
              <a:t>écart maximal : 0</a:t>
            </a:r>
            <a:endParaRPr lang="en-US" sz="1400" dirty="0"/>
          </a:p>
        </p:txBody>
      </p:sp>
      <p:sp>
        <p:nvSpPr>
          <p:cNvPr id="28" name="Text 26"/>
          <p:cNvSpPr txBox="1"/>
          <p:nvPr/>
        </p:nvSpPr>
        <p:spPr>
          <a:xfrm>
            <a:off x="594360" y="4937760"/>
            <a:ext cx="10972800" cy="365760"/>
          </a:xfrm>
          <a:prstGeom prst="rect">
            <a:avLst/>
          </a:prstGeom>
          <a:noFill/>
          <a:ln/>
        </p:spPr>
        <p:txBody>
          <a:bodyPr wrap="square" lIns="0" tIns="0" rIns="0" bIns="0" rtlCol="0" anchor="ctr"/>
          <a:lstStyle/>
          <a:p>
            <a:pPr indent="0" marL="0">
              <a:buNone/>
            </a:pPr>
            <a:r>
              <a:rPr lang="en-US" sz="1400" i="1" dirty="0">
                <a:solidFill>
                  <a:srgbClr val="353430"/>
                </a:solidFill>
              </a:rPr>
              <a:t>Trente-sept comparaisons ci-dessus, et cinq de plus entre nos deux références internes : quarante-deux fichiers, écart rigoureusement nul.</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17</a:t>
            </a:fld>
            <a:endParaRPr lang="en-US"/>
          </a:p>
        </p:txBody>
      </p:sp>
    </p:spTree>
  </p:cSld>
  <p:clrMapOvr>
    <a:masterClrMapping/>
  </p:clrMapOvr>
  <p:transition spd="med" advClick="1">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hasCustomPrompt="1"/>
          </p:nvPr>
        </p:nvSpPr>
        <p:spPr>
          <a:xfrm>
            <a:off x="594360" y="411480"/>
            <a:ext cx="10972800" cy="73152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Ce que reçoit le Groupe 7</a:t>
            </a:r>
            <a:endParaRPr lang="en-US" sz="2800" dirty="0"/>
          </a:p>
        </p:txBody>
      </p:sp>
      <p:sp>
        <p:nvSpPr>
          <p:cNvPr id="3" name="carte-238"/>
          <p:cNvSpPr/>
          <p:nvPr/>
        </p:nvSpPr>
        <p:spPr>
          <a:xfrm>
            <a:off x="594360" y="1371600"/>
            <a:ext cx="5303520" cy="822960"/>
          </a:xfrm>
          <a:prstGeom prst="roundRect">
            <a:avLst>
              <a:gd name="adj" fmla="val 11111"/>
            </a:avLst>
          </a:prstGeom>
          <a:solidFill>
            <a:srgbClr val="FFFFFF"/>
          </a:solidFill>
          <a:ln w="12700">
            <a:solidFill>
              <a:srgbClr val="FFFFFF"/>
            </a:solidFill>
            <a:prstDash val="solid"/>
          </a:ln>
        </p:spPr>
      </p:sp>
      <p:sp>
        <p:nvSpPr>
          <p:cNvPr id="4" name="lt-239"/>
          <p:cNvSpPr txBox="1"/>
          <p:nvPr/>
        </p:nvSpPr>
        <p:spPr>
          <a:xfrm>
            <a:off x="868680" y="1481328"/>
            <a:ext cx="4754880" cy="347472"/>
          </a:xfrm>
          <a:prstGeom prst="rect">
            <a:avLst/>
          </a:prstGeom>
          <a:noFill/>
          <a:ln/>
        </p:spPr>
        <p:txBody>
          <a:bodyPr wrap="square" lIns="0" tIns="0" rIns="0" bIns="0" rtlCol="0" anchor="ctr"/>
          <a:lstStyle/>
          <a:p>
            <a:pPr indent="0" marL="0">
              <a:buNone/>
            </a:pPr>
            <a:r>
              <a:rPr lang="en-US" sz="1550" b="1" dirty="0">
                <a:solidFill>
                  <a:srgbClr val="1E2761"/>
                </a:solidFill>
              </a:rPr>
              <a:t>4 tables de données</a:t>
            </a:r>
            <a:endParaRPr lang="en-US" sz="1550" dirty="0"/>
          </a:p>
        </p:txBody>
      </p:sp>
      <p:sp>
        <p:nvSpPr>
          <p:cNvPr id="5" name="ld-240"/>
          <p:cNvSpPr txBox="1"/>
          <p:nvPr/>
        </p:nvSpPr>
        <p:spPr>
          <a:xfrm>
            <a:off x="868680" y="1810512"/>
            <a:ext cx="4754880" cy="320040"/>
          </a:xfrm>
          <a:prstGeom prst="rect">
            <a:avLst/>
          </a:prstGeom>
          <a:noFill/>
          <a:ln/>
        </p:spPr>
        <p:txBody>
          <a:bodyPr wrap="square" lIns="0" tIns="0" rIns="0" bIns="0" rtlCol="0" anchor="t"/>
          <a:lstStyle/>
          <a:p>
            <a:pPr indent="0" marL="0">
              <a:buNone/>
            </a:pPr>
            <a:r>
              <a:rPr lang="en-US" sz="1250" dirty="0">
                <a:solidFill>
                  <a:srgbClr val="353430"/>
                </a:solidFill>
                <a:latin typeface="Courier New" pitchFamily="34" charset="0"/>
                <a:ea typeface="Courier New" pitchFamily="34" charset="-122"/>
                <a:cs typeface="Courier New" pitchFamily="34" charset="-120"/>
              </a:rPr>
              <a:t>transactions, _small, _big, _part</a:t>
            </a:r>
            <a:endParaRPr lang="en-US" sz="1250" dirty="0"/>
          </a:p>
        </p:txBody>
      </p:sp>
      <p:sp>
        <p:nvSpPr>
          <p:cNvPr id="6" name="carte-241"/>
          <p:cNvSpPr/>
          <p:nvPr/>
        </p:nvSpPr>
        <p:spPr>
          <a:xfrm>
            <a:off x="6172200" y="1371600"/>
            <a:ext cx="5303520" cy="822960"/>
          </a:xfrm>
          <a:prstGeom prst="roundRect">
            <a:avLst>
              <a:gd name="adj" fmla="val 11111"/>
            </a:avLst>
          </a:prstGeom>
          <a:solidFill>
            <a:srgbClr val="FFFFFF"/>
          </a:solidFill>
          <a:ln w="12700">
            <a:solidFill>
              <a:srgbClr val="FFFFFF"/>
            </a:solidFill>
            <a:prstDash val="solid"/>
          </a:ln>
        </p:spPr>
      </p:sp>
      <p:sp>
        <p:nvSpPr>
          <p:cNvPr id="7" name="lt-242"/>
          <p:cNvSpPr txBox="1"/>
          <p:nvPr/>
        </p:nvSpPr>
        <p:spPr>
          <a:xfrm>
            <a:off x="6446520" y="1481328"/>
            <a:ext cx="4754880" cy="347472"/>
          </a:xfrm>
          <a:prstGeom prst="rect">
            <a:avLst/>
          </a:prstGeom>
          <a:noFill/>
          <a:ln/>
        </p:spPr>
        <p:txBody>
          <a:bodyPr wrap="square" lIns="0" tIns="0" rIns="0" bIns="0" rtlCol="0" anchor="ctr"/>
          <a:lstStyle/>
          <a:p>
            <a:pPr indent="0" marL="0">
              <a:buNone/>
            </a:pPr>
            <a:r>
              <a:rPr lang="en-US" sz="1550" b="1" dirty="0">
                <a:solidFill>
                  <a:srgbClr val="1E2761"/>
                </a:solidFill>
              </a:rPr>
              <a:t>12 tables de résultats</a:t>
            </a:r>
            <a:endParaRPr lang="en-US" sz="1550" dirty="0"/>
          </a:p>
        </p:txBody>
      </p:sp>
      <p:sp>
        <p:nvSpPr>
          <p:cNvPr id="8" name="ld-243"/>
          <p:cNvSpPr txBox="1"/>
          <p:nvPr/>
        </p:nvSpPr>
        <p:spPr>
          <a:xfrm>
            <a:off x="6446520" y="1810512"/>
            <a:ext cx="4754880" cy="320040"/>
          </a:xfrm>
          <a:prstGeom prst="rect">
            <a:avLst/>
          </a:prstGeom>
          <a:noFill/>
          <a:ln/>
        </p:spPr>
        <p:txBody>
          <a:bodyPr wrap="square" lIns="0" tIns="0" rIns="0" bIns="0" rtlCol="0" anchor="t"/>
          <a:lstStyle/>
          <a:p>
            <a:pPr indent="0" marL="0">
              <a:buNone/>
            </a:pPr>
            <a:r>
              <a:rPr lang="en-US" sz="1250" dirty="0">
                <a:solidFill>
                  <a:srgbClr val="353430"/>
                </a:solidFill>
                <a:latin typeface="Courier New" pitchFamily="34" charset="0"/>
                <a:ea typeface="Courier New" pitchFamily="34" charset="-122"/>
                <a:cs typeface="Courier New" pitchFamily="34" charset="-120"/>
              </a:rPr>
              <a:t>res_q1a_ca_mensuel ... res_q7_*</a:t>
            </a:r>
            <a:endParaRPr lang="en-US" sz="1250" dirty="0"/>
          </a:p>
        </p:txBody>
      </p:sp>
      <p:sp>
        <p:nvSpPr>
          <p:cNvPr id="9" name="carte-244"/>
          <p:cNvSpPr/>
          <p:nvPr/>
        </p:nvSpPr>
        <p:spPr>
          <a:xfrm>
            <a:off x="594360" y="2331720"/>
            <a:ext cx="5303520" cy="822960"/>
          </a:xfrm>
          <a:prstGeom prst="roundRect">
            <a:avLst>
              <a:gd name="adj" fmla="val 11111"/>
            </a:avLst>
          </a:prstGeom>
          <a:solidFill>
            <a:srgbClr val="FFFFFF"/>
          </a:solidFill>
          <a:ln w="12700">
            <a:solidFill>
              <a:srgbClr val="FFFFFF"/>
            </a:solidFill>
            <a:prstDash val="solid"/>
          </a:ln>
        </p:spPr>
      </p:sp>
      <p:sp>
        <p:nvSpPr>
          <p:cNvPr id="10" name="lt-245"/>
          <p:cNvSpPr txBox="1"/>
          <p:nvPr/>
        </p:nvSpPr>
        <p:spPr>
          <a:xfrm>
            <a:off x="868680" y="2441448"/>
            <a:ext cx="4754880" cy="347472"/>
          </a:xfrm>
          <a:prstGeom prst="rect">
            <a:avLst/>
          </a:prstGeom>
          <a:noFill/>
          <a:ln/>
        </p:spPr>
        <p:txBody>
          <a:bodyPr wrap="square" lIns="0" tIns="0" rIns="0" bIns="0" rtlCol="0" anchor="ctr"/>
          <a:lstStyle/>
          <a:p>
            <a:pPr indent="0" marL="0">
              <a:buNone/>
            </a:pPr>
            <a:r>
              <a:rPr lang="en-US" sz="1550" b="1" dirty="0">
                <a:solidFill>
                  <a:srgbClr val="1E2761"/>
                </a:solidFill>
              </a:rPr>
              <a:t>12 fichiers CSV</a:t>
            </a:r>
            <a:endParaRPr lang="en-US" sz="1550" dirty="0"/>
          </a:p>
        </p:txBody>
      </p:sp>
      <p:sp>
        <p:nvSpPr>
          <p:cNvPr id="11" name="ld-246"/>
          <p:cNvSpPr txBox="1"/>
          <p:nvPr/>
        </p:nvSpPr>
        <p:spPr>
          <a:xfrm>
            <a:off x="868680" y="2770632"/>
            <a:ext cx="4754880" cy="320040"/>
          </a:xfrm>
          <a:prstGeom prst="rect">
            <a:avLst/>
          </a:prstGeom>
          <a:noFill/>
          <a:ln/>
        </p:spPr>
        <p:txBody>
          <a:bodyPr wrap="square" lIns="0" tIns="0" rIns="0" bIns="0" rtlCol="0" anchor="t"/>
          <a:lstStyle/>
          <a:p>
            <a:pPr indent="0" marL="0">
              <a:buNone/>
            </a:pPr>
            <a:r>
              <a:rPr lang="en-US" sz="1250" dirty="0">
                <a:solidFill>
                  <a:srgbClr val="353430"/>
                </a:solidFill>
                <a:latin typeface="Courier New" pitchFamily="34" charset="0"/>
                <a:ea typeface="Courier New" pitchFamily="34" charset="-122"/>
                <a:cs typeface="Courier New" pitchFamily="34" charset="-120"/>
              </a:rPr>
              <a:t>/datalake/results/hive/</a:t>
            </a:r>
            <a:endParaRPr lang="en-US" sz="1250" dirty="0"/>
          </a:p>
        </p:txBody>
      </p:sp>
      <p:sp>
        <p:nvSpPr>
          <p:cNvPr id="12" name="carte-247"/>
          <p:cNvSpPr/>
          <p:nvPr/>
        </p:nvSpPr>
        <p:spPr>
          <a:xfrm>
            <a:off x="6172200" y="2331720"/>
            <a:ext cx="5303520" cy="822960"/>
          </a:xfrm>
          <a:prstGeom prst="roundRect">
            <a:avLst>
              <a:gd name="adj" fmla="val 11111"/>
            </a:avLst>
          </a:prstGeom>
          <a:solidFill>
            <a:srgbClr val="FFFFFF"/>
          </a:solidFill>
          <a:ln w="12700">
            <a:solidFill>
              <a:srgbClr val="FFFFFF"/>
            </a:solidFill>
            <a:prstDash val="solid"/>
          </a:ln>
        </p:spPr>
      </p:sp>
      <p:sp>
        <p:nvSpPr>
          <p:cNvPr id="13" name="lt-248"/>
          <p:cNvSpPr txBox="1"/>
          <p:nvPr/>
        </p:nvSpPr>
        <p:spPr>
          <a:xfrm>
            <a:off x="6446520" y="2441448"/>
            <a:ext cx="4754880" cy="347472"/>
          </a:xfrm>
          <a:prstGeom prst="rect">
            <a:avLst/>
          </a:prstGeom>
          <a:noFill/>
          <a:ln/>
        </p:spPr>
        <p:txBody>
          <a:bodyPr wrap="square" lIns="0" tIns="0" rIns="0" bIns="0" rtlCol="0" anchor="ctr"/>
          <a:lstStyle/>
          <a:p>
            <a:pPr indent="0" marL="0">
              <a:buNone/>
            </a:pPr>
            <a:r>
              <a:rPr lang="en-US" sz="1550" b="1" dirty="0">
                <a:solidFill>
                  <a:srgbClr val="1E2761"/>
                </a:solidFill>
              </a:rPr>
              <a:t>1 dictionnaire</a:t>
            </a:r>
            <a:endParaRPr lang="en-US" sz="1550" dirty="0"/>
          </a:p>
        </p:txBody>
      </p:sp>
      <p:sp>
        <p:nvSpPr>
          <p:cNvPr id="14" name="ld-249"/>
          <p:cNvSpPr txBox="1"/>
          <p:nvPr/>
        </p:nvSpPr>
        <p:spPr>
          <a:xfrm>
            <a:off x="6446520" y="2770632"/>
            <a:ext cx="4754880" cy="320040"/>
          </a:xfrm>
          <a:prstGeom prst="rect">
            <a:avLst/>
          </a:prstGeom>
          <a:noFill/>
          <a:ln/>
        </p:spPr>
        <p:txBody>
          <a:bodyPr wrap="square" lIns="0" tIns="0" rIns="0" bIns="0" rtlCol="0" anchor="t"/>
          <a:lstStyle/>
          <a:p>
            <a:pPr indent="0" marL="0">
              <a:buNone/>
            </a:pPr>
            <a:r>
              <a:rPr lang="en-US" sz="1250" dirty="0">
                <a:solidFill>
                  <a:srgbClr val="353430"/>
                </a:solidFill>
                <a:latin typeface="Courier New" pitchFamily="34" charset="0"/>
                <a:ea typeface="Courier New" pitchFamily="34" charset="-122"/>
                <a:cs typeface="Courier New" pitchFamily="34" charset="-120"/>
              </a:rPr>
              <a:t>colonnes, types, conventions de calcul</a:t>
            </a:r>
            <a:endParaRPr lang="en-US" sz="1250" dirty="0"/>
          </a:p>
        </p:txBody>
      </p:sp>
      <p:sp>
        <p:nvSpPr>
          <p:cNvPr id="15" name="Text 13"/>
          <p:cNvSpPr txBox="1"/>
          <p:nvPr/>
        </p:nvSpPr>
        <p:spPr>
          <a:xfrm>
            <a:off x="594360" y="3429000"/>
            <a:ext cx="10972800" cy="320040"/>
          </a:xfrm>
          <a:prstGeom prst="rect">
            <a:avLst/>
          </a:prstGeom>
          <a:noFill/>
          <a:ln/>
        </p:spPr>
        <p:txBody>
          <a:bodyPr wrap="square" lIns="0" tIns="0" rIns="0" bIns="0" rtlCol="0" anchor="ctr"/>
          <a:lstStyle/>
          <a:p>
            <a:pPr indent="0" marL="0">
              <a:buNone/>
            </a:pPr>
            <a:r>
              <a:rPr lang="en-US" sz="1500" b="1" dirty="0">
                <a:solidFill>
                  <a:srgbClr val="1E2761"/>
                </a:solidFill>
              </a:rPr>
              <a:t>La source recommandée pour PySpark</a:t>
            </a:r>
            <a:endParaRPr lang="en-US" sz="1500" dirty="0"/>
          </a:p>
        </p:txBody>
      </p:sp>
      <p:sp>
        <p:nvSpPr>
          <p:cNvPr id="16" name="bloc-250"/>
          <p:cNvSpPr/>
          <p:nvPr/>
        </p:nvSpPr>
        <p:spPr>
          <a:xfrm>
            <a:off x="594360" y="3794760"/>
            <a:ext cx="10972800" cy="914400"/>
          </a:xfrm>
          <a:prstGeom prst="roundRect">
            <a:avLst>
              <a:gd name="adj" fmla="val 6000"/>
            </a:avLst>
          </a:prstGeom>
          <a:solidFill>
            <a:srgbClr val="F5F6F8"/>
          </a:solidFill>
          <a:ln w="12700">
            <a:solidFill>
              <a:srgbClr val="E2E5EA"/>
            </a:solidFill>
            <a:prstDash val="solid"/>
          </a:ln>
        </p:spPr>
      </p:sp>
      <p:sp>
        <p:nvSpPr>
          <p:cNvPr id="17" name="code-251"/>
          <p:cNvSpPr txBox="1"/>
          <p:nvPr/>
        </p:nvSpPr>
        <p:spPr>
          <a:xfrm>
            <a:off x="758952" y="3904488"/>
            <a:ext cx="10643616" cy="694944"/>
          </a:xfrm>
          <a:prstGeom prst="rect">
            <a:avLst/>
          </a:prstGeom>
          <a:noFill/>
          <a:ln/>
        </p:spPr>
        <p:txBody>
          <a:bodyPr wrap="square" lIns="0" tIns="0" rIns="0" bIns="0" rtlCol="0" anchor="t"/>
          <a:lstStyle/>
          <a:p>
            <a:pPr algn="l" indent="0" marL="0">
              <a:buNone/>
            </a:pPr>
            <a:r>
              <a:rPr lang="en-US" sz="1400" dirty="0">
                <a:solidFill>
                  <a:srgbClr val="1A1A1A"/>
                </a:solidFill>
                <a:latin typeface="Courier New" pitchFamily="34" charset="0"/>
                <a:ea typeface="Courier New" pitchFamily="34" charset="-122"/>
                <a:cs typeface="Courier New" pitchFamily="34" charset="-120"/>
              </a:rPr>
              <a:t>df = spark.table("datawarehouse.transactions_part")</a:t>
            </a:r>
            <a:endParaRPr lang="en-US" sz="1400" dirty="0"/>
          </a:p>
          <a:p>
            <a:pPr algn="l" indent="0" marL="0">
              <a:buNone/>
            </a:pPr>
            <a:r>
              <a:rPr lang="en-US" sz="1400" dirty="0">
                <a:solidFill>
                  <a:srgbClr val="1A1A1A"/>
                </a:solidFill>
                <a:latin typeface="Courier New" pitchFamily="34" charset="0"/>
                <a:ea typeface="Courier New" pitchFamily="34" charset="-122"/>
                <a:cs typeface="Courier New" pitchFamily="34" charset="-120"/>
              </a:rPr>
              <a:t>mars = df.filter((df.annee == 2025) &amp; (df.mois == 3))   # une seule partition lue</a:t>
            </a:r>
            <a:endParaRPr lang="en-US" sz="1400" dirty="0"/>
          </a:p>
        </p:txBody>
      </p:sp>
      <p:sp>
        <p:nvSpPr>
          <p:cNvPr id="18" name="Text 16"/>
          <p:cNvSpPr txBox="1"/>
          <p:nvPr/>
        </p:nvSpPr>
        <p:spPr>
          <a:xfrm>
            <a:off x="594360" y="4892040"/>
            <a:ext cx="10972800" cy="365760"/>
          </a:xfrm>
          <a:prstGeom prst="rect">
            <a:avLst/>
          </a:prstGeom>
          <a:noFill/>
          <a:ln/>
        </p:spPr>
        <p:txBody>
          <a:bodyPr wrap="square" lIns="0" tIns="0" rIns="0" bIns="0" rtlCol="0" anchor="ctr"/>
          <a:lstStyle/>
          <a:p>
            <a:pPr indent="0" marL="0">
              <a:buNone/>
            </a:pPr>
            <a:r>
              <a:rPr lang="en-US" sz="1400" i="1" dirty="0">
                <a:solidFill>
                  <a:srgbClr val="353430"/>
                </a:solidFill>
              </a:rPr>
              <a:t>Le Groupe 7 hérite du partitionnement sans rien refaire : l'information est dans le nom des dossiers, et Spark sait la lire.</a:t>
            </a:r>
            <a:endParaRPr lang="en-US" sz="1400" dirty="0"/>
          </a:p>
        </p:txBody>
      </p:sp>
      <p:sp>
        <p:nvSpPr>
          <p:cNvPr id="25" name="Slide Number Placeholder 0"/>
          <p:cNvSpPr>
            <a:spLocks noGrp="1"/>
          </p:cNvSpPr>
          <p:nvPr>
            <p:ph type="sldNum" sz="quarter" idx="4294967295"/>
          </p:nvPr>
        </p:nvSpPr>
        <p:spPr>
          <a:xfrm>
            <a:off x="5852160" y="644652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53430"/>
                </a:solidFill>
              </a:defRPr>
            </a:lvl1pPr>
          </a:lstStyle>
          <a:p>
            <a:pPr algn="ctr"/>
            <a:fld id="{F7021451-1387-4CA6-816F-3879F97B5CBC}" type="slidenum">
              <a:rPr b="0" lang="en-US"/>
              <a:t>18</a:t>
            </a:fld>
            <a:endParaRPr lang="en-US"/>
          </a:p>
        </p:txBody>
      </p:sp>
    </p:spTree>
  </p:cSld>
  <p:clrMapOvr>
    <a:masterClrMapping/>
  </p:clrMapOvr>
  <p:transition spd="med" advClick="1">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hasCustomPrompt="1"/>
          </p:nvPr>
        </p:nvSpPr>
        <p:spPr>
          <a:xfrm>
            <a:off x="594360" y="548640"/>
            <a:ext cx="1097280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Ce que nous retenons</a:t>
            </a:r>
            <a:endParaRPr lang="en-US" sz="2800" dirty="0"/>
          </a:p>
        </p:txBody>
      </p:sp>
      <p:sp>
        <p:nvSpPr>
          <p:cNvPr id="3" name="cf-252"/>
          <p:cNvSpPr/>
          <p:nvPr/>
        </p:nvSpPr>
        <p:spPr>
          <a:xfrm>
            <a:off x="594360" y="1600200"/>
            <a:ext cx="10972800" cy="914400"/>
          </a:xfrm>
          <a:prstGeom prst="roundRect">
            <a:avLst>
              <a:gd name="adj" fmla="val 10000"/>
            </a:avLst>
          </a:prstGeom>
          <a:solidFill>
            <a:srgbClr val="2A3A74"/>
          </a:solidFill>
          <a:ln w="12700">
            <a:solidFill>
              <a:srgbClr val="2A3A74"/>
            </a:solidFill>
            <a:prstDash val="solid"/>
          </a:ln>
        </p:spPr>
      </p:sp>
      <p:sp>
        <p:nvSpPr>
          <p:cNvPr id="4" name="pastille-253"/>
          <p:cNvSpPr/>
          <p:nvPr/>
        </p:nvSpPr>
        <p:spPr>
          <a:xfrm>
            <a:off x="868680" y="1865376"/>
            <a:ext cx="384048" cy="384048"/>
          </a:xfrm>
          <a:prstGeom prst="ellipse">
            <a:avLst/>
          </a:prstGeom>
          <a:solidFill>
            <a:srgbClr val="2A78D6"/>
          </a:solidFill>
          <a:ln w="12700">
            <a:solidFill>
              <a:srgbClr val="2A78D6"/>
            </a:solidFill>
            <a:prstDash val="solid"/>
          </a:ln>
        </p:spPr>
      </p:sp>
      <p:sp>
        <p:nvSpPr>
          <p:cNvPr id="5" name="pastilletxt-254"/>
          <p:cNvSpPr txBox="1"/>
          <p:nvPr/>
        </p:nvSpPr>
        <p:spPr>
          <a:xfrm>
            <a:off x="868680" y="1865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ct-255"/>
          <p:cNvSpPr txBox="1"/>
          <p:nvPr/>
        </p:nvSpPr>
        <p:spPr>
          <a:xfrm>
            <a:off x="1463040" y="1709928"/>
            <a:ext cx="9738360" cy="365760"/>
          </a:xfrm>
          <a:prstGeom prst="rect">
            <a:avLst/>
          </a:prstGeom>
          <a:noFill/>
          <a:ln/>
        </p:spPr>
        <p:txBody>
          <a:bodyPr wrap="square" lIns="0" tIns="0" rIns="0" bIns="0" rtlCol="0" anchor="ctr"/>
          <a:lstStyle/>
          <a:p>
            <a:pPr indent="0" marL="0">
              <a:buNone/>
            </a:pPr>
            <a:r>
              <a:rPr lang="en-US" sz="1600" b="1" dirty="0">
                <a:solidFill>
                  <a:srgbClr val="FFFFFF"/>
                </a:solidFill>
              </a:rPr>
              <a:t>Le partitionnement ne vaut que s'il est exploité</a:t>
            </a:r>
            <a:endParaRPr lang="en-US" sz="1600" dirty="0"/>
          </a:p>
        </p:txBody>
      </p:sp>
      <p:sp>
        <p:nvSpPr>
          <p:cNvPr id="7" name="cd-256"/>
          <p:cNvSpPr txBox="1"/>
          <p:nvPr/>
        </p:nvSpPr>
        <p:spPr>
          <a:xfrm>
            <a:off x="1463040" y="2057400"/>
            <a:ext cx="9738360" cy="384048"/>
          </a:xfrm>
          <a:prstGeom prst="rect">
            <a:avLst/>
          </a:prstGeom>
          <a:noFill/>
          <a:ln/>
        </p:spPr>
        <p:txBody>
          <a:bodyPr wrap="square" lIns="0" tIns="0" rIns="0" bIns="0" rtlCol="0" anchor="t"/>
          <a:lstStyle/>
          <a:p>
            <a:pPr indent="0" marL="0">
              <a:buNone/>
            </a:pPr>
            <a:r>
              <a:rPr lang="en-US" sz="1400" dirty="0">
                <a:solidFill>
                  <a:srgbClr val="CADCFC"/>
                </a:solidFill>
              </a:rPr>
              <a:t>Une requête qui balaie tout n'en tire aucun bénéfice. Nous l'avons mesuré plutôt que supposé.</a:t>
            </a:r>
            <a:endParaRPr lang="en-US" sz="1400" dirty="0"/>
          </a:p>
        </p:txBody>
      </p:sp>
      <p:sp>
        <p:nvSpPr>
          <p:cNvPr id="8" name="cf-257"/>
          <p:cNvSpPr/>
          <p:nvPr/>
        </p:nvSpPr>
        <p:spPr>
          <a:xfrm>
            <a:off x="594360" y="2651760"/>
            <a:ext cx="10972800" cy="914400"/>
          </a:xfrm>
          <a:prstGeom prst="roundRect">
            <a:avLst>
              <a:gd name="adj" fmla="val 10000"/>
            </a:avLst>
          </a:prstGeom>
          <a:solidFill>
            <a:srgbClr val="2A3A74"/>
          </a:solidFill>
          <a:ln w="12700">
            <a:solidFill>
              <a:srgbClr val="2A3A74"/>
            </a:solidFill>
            <a:prstDash val="solid"/>
          </a:ln>
        </p:spPr>
      </p:sp>
      <p:sp>
        <p:nvSpPr>
          <p:cNvPr id="9" name="pastille-258"/>
          <p:cNvSpPr/>
          <p:nvPr/>
        </p:nvSpPr>
        <p:spPr>
          <a:xfrm>
            <a:off x="868680" y="2916936"/>
            <a:ext cx="384048" cy="384048"/>
          </a:xfrm>
          <a:prstGeom prst="ellipse">
            <a:avLst/>
          </a:prstGeom>
          <a:solidFill>
            <a:srgbClr val="2A78D6"/>
          </a:solidFill>
          <a:ln w="12700">
            <a:solidFill>
              <a:srgbClr val="2A78D6"/>
            </a:solidFill>
            <a:prstDash val="solid"/>
          </a:ln>
        </p:spPr>
      </p:sp>
      <p:sp>
        <p:nvSpPr>
          <p:cNvPr id="10" name="pastilletxt-259"/>
          <p:cNvSpPr txBox="1"/>
          <p:nvPr/>
        </p:nvSpPr>
        <p:spPr>
          <a:xfrm>
            <a:off x="868680" y="2916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ct-260"/>
          <p:cNvSpPr txBox="1"/>
          <p:nvPr/>
        </p:nvSpPr>
        <p:spPr>
          <a:xfrm>
            <a:off x="1463040" y="2761488"/>
            <a:ext cx="9738360" cy="365760"/>
          </a:xfrm>
          <a:prstGeom prst="rect">
            <a:avLst/>
          </a:prstGeom>
          <a:noFill/>
          <a:ln/>
        </p:spPr>
        <p:txBody>
          <a:bodyPr wrap="square" lIns="0" tIns="0" rIns="0" bIns="0" rtlCol="0" anchor="ctr"/>
          <a:lstStyle/>
          <a:p>
            <a:pPr indent="0" marL="0">
              <a:buNone/>
            </a:pPr>
            <a:r>
              <a:rPr lang="en-US" sz="1600" b="1" dirty="0">
                <a:solidFill>
                  <a:srgbClr val="FFFFFF"/>
                </a:solidFill>
              </a:rPr>
              <a:t>Un fichier gzip bride le parallélisme</a:t>
            </a:r>
            <a:endParaRPr lang="en-US" sz="1600" dirty="0"/>
          </a:p>
        </p:txBody>
      </p:sp>
      <p:sp>
        <p:nvSpPr>
          <p:cNvPr id="12" name="cd-261"/>
          <p:cNvSpPr txBox="1"/>
          <p:nvPr/>
        </p:nvSpPr>
        <p:spPr>
          <a:xfrm>
            <a:off x="1463040" y="3108960"/>
            <a:ext cx="9738360" cy="384048"/>
          </a:xfrm>
          <a:prstGeom prst="rect">
            <a:avLst/>
          </a:prstGeom>
          <a:noFill/>
          <a:ln/>
        </p:spPr>
        <p:txBody>
          <a:bodyPr wrap="square" lIns="0" tIns="0" rIns="0" bIns="0" rtlCol="0" anchor="t"/>
          <a:lstStyle/>
          <a:p>
            <a:pPr indent="0" marL="0">
              <a:buNone/>
            </a:pPr>
            <a:r>
              <a:rPr lang="en-US" sz="1400" dirty="0">
                <a:solidFill>
                  <a:srgbClr val="CADCFC"/>
                </a:solidFill>
              </a:rPr>
              <a:t>Non splittable : un seul mapper pour 5 millions de lignes. C'est l'argument décisif en faveur d'ORC.</a:t>
            </a:r>
            <a:endParaRPr lang="en-US" sz="1400" dirty="0"/>
          </a:p>
        </p:txBody>
      </p:sp>
      <p:sp>
        <p:nvSpPr>
          <p:cNvPr id="13" name="cf-262"/>
          <p:cNvSpPr/>
          <p:nvPr/>
        </p:nvSpPr>
        <p:spPr>
          <a:xfrm>
            <a:off x="594360" y="3703320"/>
            <a:ext cx="10972800" cy="914400"/>
          </a:xfrm>
          <a:prstGeom prst="roundRect">
            <a:avLst>
              <a:gd name="adj" fmla="val 10000"/>
            </a:avLst>
          </a:prstGeom>
          <a:solidFill>
            <a:srgbClr val="2A3A74"/>
          </a:solidFill>
          <a:ln w="12700">
            <a:solidFill>
              <a:srgbClr val="2A3A74"/>
            </a:solidFill>
            <a:prstDash val="solid"/>
          </a:ln>
        </p:spPr>
      </p:sp>
      <p:sp>
        <p:nvSpPr>
          <p:cNvPr id="14" name="pastille-263"/>
          <p:cNvSpPr/>
          <p:nvPr/>
        </p:nvSpPr>
        <p:spPr>
          <a:xfrm>
            <a:off x="868680" y="3968496"/>
            <a:ext cx="384048" cy="384048"/>
          </a:xfrm>
          <a:prstGeom prst="ellipse">
            <a:avLst/>
          </a:prstGeom>
          <a:solidFill>
            <a:srgbClr val="2A78D6"/>
          </a:solidFill>
          <a:ln w="12700">
            <a:solidFill>
              <a:srgbClr val="2A78D6"/>
            </a:solidFill>
            <a:prstDash val="solid"/>
          </a:ln>
        </p:spPr>
      </p:sp>
      <p:sp>
        <p:nvSpPr>
          <p:cNvPr id="15" name="pastilletxt-264"/>
          <p:cNvSpPr txBox="1"/>
          <p:nvPr/>
        </p:nvSpPr>
        <p:spPr>
          <a:xfrm>
            <a:off x="868680" y="3968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ct-265"/>
          <p:cNvSpPr txBox="1"/>
          <p:nvPr/>
        </p:nvSpPr>
        <p:spPr>
          <a:xfrm>
            <a:off x="1463040" y="3813048"/>
            <a:ext cx="9738360" cy="365760"/>
          </a:xfrm>
          <a:prstGeom prst="rect">
            <a:avLst/>
          </a:prstGeom>
          <a:noFill/>
          <a:ln/>
        </p:spPr>
        <p:txBody>
          <a:bodyPr wrap="square" lIns="0" tIns="0" rIns="0" bIns="0" rtlCol="0" anchor="ctr"/>
          <a:lstStyle/>
          <a:p>
            <a:pPr indent="0" marL="0">
              <a:buNone/>
            </a:pPr>
            <a:r>
              <a:rPr lang="en-US" sz="1600" b="1" dirty="0">
                <a:solidFill>
                  <a:srgbClr val="FFFFFF"/>
                </a:solidFill>
              </a:rPr>
              <a:t>Un résultat doit être contrôlé, pas seulement produit</a:t>
            </a:r>
            <a:endParaRPr lang="en-US" sz="1600" dirty="0"/>
          </a:p>
        </p:txBody>
      </p:sp>
      <p:sp>
        <p:nvSpPr>
          <p:cNvPr id="17" name="cd-266"/>
          <p:cNvSpPr txBox="1"/>
          <p:nvPr/>
        </p:nvSpPr>
        <p:spPr>
          <a:xfrm>
            <a:off x="1463040" y="4160520"/>
            <a:ext cx="9738360" cy="384048"/>
          </a:xfrm>
          <a:prstGeom prst="rect">
            <a:avLst/>
          </a:prstGeom>
          <a:noFill/>
          <a:ln/>
        </p:spPr>
        <p:txBody>
          <a:bodyPr wrap="square" lIns="0" tIns="0" rIns="0" bIns="0" rtlCol="0" anchor="t"/>
          <a:lstStyle/>
          <a:p>
            <a:pPr indent="0" marL="0">
              <a:buNone/>
            </a:pPr>
            <a:r>
              <a:rPr lang="en-US" sz="1400" dirty="0">
                <a:solidFill>
                  <a:srgbClr val="CADCFC"/>
                </a:solidFill>
              </a:rPr>
              <a:t>Quatre chemins indépendants, quarante-deux comparaisons, écart nul.</a:t>
            </a:r>
            <a:endParaRPr lang="en-US" sz="1400" dirty="0"/>
          </a:p>
        </p:txBody>
      </p:sp>
      <p:sp>
        <p:nvSpPr>
          <p:cNvPr id="18" name="Text 16"/>
          <p:cNvSpPr txBox="1"/>
          <p:nvPr/>
        </p:nvSpPr>
        <p:spPr>
          <a:xfrm>
            <a:off x="594360" y="4846320"/>
            <a:ext cx="10972800" cy="731520"/>
          </a:xfrm>
          <a:prstGeom prst="rect">
            <a:avLst/>
          </a:prstGeom>
          <a:noFill/>
          <a:ln/>
        </p:spPr>
        <p:txBody>
          <a:bodyPr wrap="square" lIns="0" tIns="0" rIns="0" bIns="0" rtlCol="0" anchor="ctr"/>
          <a:lstStyle/>
          <a:p>
            <a:pPr indent="0" marL="0">
              <a:lnSpc>
                <a:spcPct val="115000"/>
              </a:lnSpc>
              <a:buNone/>
            </a:pPr>
            <a:r>
              <a:rPr lang="en-US" sz="1400" i="1" dirty="0">
                <a:solidFill>
                  <a:srgbClr val="CADCFC"/>
                </a:solidFill>
              </a:rPr>
              <a:t>Les limites : un seul DataNode, donc réplication à 1 et aucune résilience démontrée. Un jeu synthétique, donc aucune conclusion commerciale. Et une vérification croisée appuyée sur un travail — celui du Groupe 5 — qui n'est pas encore passé devant le jury.</a:t>
            </a:r>
            <a:endParaRPr lang="en-US" sz="1400" dirty="0"/>
          </a:p>
        </p:txBody>
      </p:sp>
      <p:sp>
        <p:nvSpPr>
          <p:cNvPr id="19" name="Text 17"/>
          <p:cNvSpPr txBox="1"/>
          <p:nvPr/>
        </p:nvSpPr>
        <p:spPr>
          <a:xfrm>
            <a:off x="594360" y="5760720"/>
            <a:ext cx="10972800" cy="457200"/>
          </a:xfrm>
          <a:prstGeom prst="rect">
            <a:avLst/>
          </a:prstGeom>
          <a:noFill/>
          <a:ln/>
        </p:spPr>
        <p:txBody>
          <a:bodyPr wrap="square" lIns="0" tIns="0" rIns="0" bIns="0" rtlCol="0" anchor="ctr"/>
          <a:lstStyle/>
          <a:p>
            <a:pPr indent="0" marL="0">
              <a:buNone/>
            </a:pPr>
            <a:r>
              <a:rPr lang="en-US" sz="1800" b="1" dirty="0">
                <a:solidFill>
                  <a:srgbClr val="FFFFFF"/>
                </a:solidFill>
              </a:rPr>
              <a:t>Merci de votre attention</a:t>
            </a:r>
            <a:endParaRPr lang="en-US" sz="1800" dirty="0"/>
          </a:p>
        </p:txBody>
      </p:sp>
    </p:spTree>
  </p:cSld>
  <p:clrMapOvr>
    <a:masterClrMapping/>
  </p:clrMapOvr>
  <p:transition spd="med" advClick="1">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label"/>
          <p:cNvSpPr txBox="1"/>
          <p:nvPr/>
        </p:nvSpPr>
        <p:spPr>
          <a:xfrm>
            <a:off x="594360" y="2560320"/>
            <a:ext cx="6400800" cy="320040"/>
          </a:xfrm>
          <a:prstGeom prst="rect">
            <a:avLst/>
          </a:prstGeom>
          <a:noFill/>
          <a:ln/>
        </p:spPr>
        <p:txBody>
          <a:bodyPr wrap="square" lIns="0" tIns="0" rIns="0" bIns="0" rtlCol="0" anchor="ctr"/>
          <a:lstStyle/>
          <a:p>
            <a:pPr indent="0" marL="0">
              <a:buNone/>
            </a:pPr>
            <a:r>
              <a:rPr lang="fr-FR" sz="1500" b="1" dirty="0">
                <a:solidFill>
                  <a:srgbClr val="EB6834"/>
                </a:solidFill>
              </a:rPr>
              <a:t>PARTIE 3 SUR 4</a:t>
            </a:r>
          </a:p>
        </p:txBody>
      </p:sp>
      <p:sp>
        <p:nvSpPr>
          <p:cNvPr id="3" name="section-titre"/>
          <p:cNvSpPr txBox="1"/>
          <p:nvPr/>
        </p:nvSpPr>
        <p:spPr>
          <a:xfrm>
            <a:off x="594360" y="2971800"/>
            <a:ext cx="10972800" cy="1005840"/>
          </a:xfrm>
          <a:prstGeom prst="rect">
            <a:avLst/>
          </a:prstGeom>
          <a:noFill/>
          <a:ln/>
        </p:spPr>
        <p:txBody>
          <a:bodyPr wrap="square" lIns="0" tIns="0" rIns="0" bIns="0" rtlCol="0" anchor="ctr"/>
          <a:lstStyle/>
          <a:p>
            <a:pPr indent="0" marL="0">
              <a:buNone/>
            </a:pPr>
            <a:r>
              <a:rPr lang="fr-FR" sz="4400" b="1" dirty="0">
                <a:solidFill>
                  <a:srgbClr val="FFFFFF"/>
                </a:solidFill>
                <a:latin typeface="+mj-lt"/>
              </a:rPr>
              <a:t>Les preuves</a:t>
            </a:r>
          </a:p>
        </p:txBody>
      </p:sp>
      <p:sp>
        <p:nvSpPr>
          <p:cNvPr id="4" name="section-soustitre"/>
          <p:cNvSpPr txBox="1"/>
          <p:nvPr/>
        </p:nvSpPr>
        <p:spPr>
          <a:xfrm>
            <a:off x="594360" y="4114800"/>
            <a:ext cx="9144000" cy="548640"/>
          </a:xfrm>
          <a:prstGeom prst="rect">
            <a:avLst/>
          </a:prstGeom>
          <a:noFill/>
          <a:ln/>
        </p:spPr>
        <p:txBody>
          <a:bodyPr wrap="square" lIns="0" tIns="0" rIns="0" bIns="0" rtlCol="0" anchor="ctr"/>
          <a:lstStyle/>
          <a:p>
            <a:pPr indent="0" marL="0">
              <a:buNone/>
            </a:pPr>
            <a:r>
              <a:rPr lang="fr-FR" sz="1600" b="0" dirty="0">
                <a:solidFill>
                  <a:srgbClr val="CADCFC"/>
                </a:solidFill>
              </a:rPr>
              <a:t>Ce que nous avons mesuré — et ce que ces mesures ne permettent pas de conclure</a:t>
            </a:r>
          </a:p>
        </p:txBody>
      </p:sp>
    </p:spTree>
  </p:cSld>
  <p:clrMapOvr>
    <a:masterClrMapping/>
  </p:clrMapOvr>
  <p:transition spd="med" advClick="1">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label"/>
          <p:cNvSpPr txBox="1"/>
          <p:nvPr/>
        </p:nvSpPr>
        <p:spPr>
          <a:xfrm>
            <a:off x="594360" y="2560320"/>
            <a:ext cx="6400800" cy="320040"/>
          </a:xfrm>
          <a:prstGeom prst="rect">
            <a:avLst/>
          </a:prstGeom>
          <a:noFill/>
          <a:ln/>
        </p:spPr>
        <p:txBody>
          <a:bodyPr wrap="square" lIns="0" tIns="0" rIns="0" bIns="0" rtlCol="0" anchor="ctr"/>
          <a:lstStyle/>
          <a:p>
            <a:pPr indent="0" marL="0">
              <a:buNone/>
            </a:pPr>
            <a:r>
              <a:rPr lang="fr-FR" sz="1500" b="1" dirty="0">
                <a:solidFill>
                  <a:srgbClr val="EB6834"/>
                </a:solidFill>
              </a:rPr>
              <a:t>PARTIE 1 SUR 4</a:t>
            </a:r>
          </a:p>
        </p:txBody>
      </p:sp>
      <p:sp>
        <p:nvSpPr>
          <p:cNvPr id="3" name="section-titre"/>
          <p:cNvSpPr txBox="1"/>
          <p:nvPr/>
        </p:nvSpPr>
        <p:spPr>
          <a:xfrm>
            <a:off x="594360" y="2971800"/>
            <a:ext cx="10972800" cy="1005840"/>
          </a:xfrm>
          <a:prstGeom prst="rect">
            <a:avLst/>
          </a:prstGeom>
          <a:noFill/>
          <a:ln/>
        </p:spPr>
        <p:txBody>
          <a:bodyPr wrap="square" lIns="0" tIns="0" rIns="0" bIns="0" rtlCol="0" anchor="ctr"/>
          <a:lstStyle/>
          <a:p>
            <a:pPr indent="0" marL="0">
              <a:buNone/>
            </a:pPr>
            <a:r>
              <a:rPr lang="fr-FR" sz="4400" b="1" dirty="0">
                <a:solidFill>
                  <a:srgbClr val="FFFFFF"/>
                </a:solidFill>
                <a:latin typeface="+mj-lt"/>
              </a:rPr>
              <a:t>Mise en place</a:t>
            </a:r>
          </a:p>
        </p:txBody>
      </p:sp>
      <p:sp>
        <p:nvSpPr>
          <p:cNvPr id="4" name="section-soustitre"/>
          <p:cNvSpPr txBox="1"/>
          <p:nvPr/>
        </p:nvSpPr>
        <p:spPr>
          <a:xfrm>
            <a:off x="594360" y="4114800"/>
            <a:ext cx="9144000" cy="548640"/>
          </a:xfrm>
          <a:prstGeom prst="rect">
            <a:avLst/>
          </a:prstGeom>
          <a:noFill/>
          <a:ln/>
        </p:spPr>
        <p:txBody>
          <a:bodyPr wrap="square" lIns="0" tIns="0" rIns="0" bIns="0" rtlCol="0" anchor="ctr"/>
          <a:lstStyle/>
          <a:p>
            <a:pPr indent="0" marL="0">
              <a:buNone/>
            </a:pPr>
            <a:r>
              <a:rPr lang="fr-FR" sz="1600" b="0" dirty="0">
                <a:solidFill>
                  <a:srgbClr val="CADCFC"/>
                </a:solidFill>
              </a:rPr>
              <a:t>Le jeu de données, le cluster, le Data Lake — et ce que Hive n'est pas</a:t>
            </a:r>
          </a:p>
        </p:txBody>
      </p:sp>
    </p:spTree>
  </p:cSld>
  <p:clrMapOvr>
    <a:masterClrMapping/>
  </p:clrMapOvr>
  <p:transition spd="med" advClick="1">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label"/>
          <p:cNvSpPr txBox="1"/>
          <p:nvPr/>
        </p:nvSpPr>
        <p:spPr>
          <a:xfrm>
            <a:off x="594360" y="2560320"/>
            <a:ext cx="6400800" cy="320040"/>
          </a:xfrm>
          <a:prstGeom prst="rect">
            <a:avLst/>
          </a:prstGeom>
          <a:noFill/>
          <a:ln/>
        </p:spPr>
        <p:txBody>
          <a:bodyPr wrap="square" lIns="0" tIns="0" rIns="0" bIns="0" rtlCol="0" anchor="ctr"/>
          <a:lstStyle/>
          <a:p>
            <a:pPr indent="0" marL="0">
              <a:buNone/>
            </a:pPr>
            <a:r>
              <a:rPr lang="fr-FR" sz="1500" b="1" dirty="0">
                <a:solidFill>
                  <a:srgbClr val="EB6834"/>
                </a:solidFill>
              </a:rPr>
              <a:t>PARTIE 2 SUR 4</a:t>
            </a:r>
          </a:p>
        </p:txBody>
      </p:sp>
      <p:sp>
        <p:nvSpPr>
          <p:cNvPr id="3" name="section-titre"/>
          <p:cNvSpPr txBox="1"/>
          <p:nvPr/>
        </p:nvSpPr>
        <p:spPr>
          <a:xfrm>
            <a:off x="594360" y="2971800"/>
            <a:ext cx="10972800" cy="1005840"/>
          </a:xfrm>
          <a:prstGeom prst="rect">
            <a:avLst/>
          </a:prstGeom>
          <a:noFill/>
          <a:ln/>
        </p:spPr>
        <p:txBody>
          <a:bodyPr wrap="square" lIns="0" tIns="0" rIns="0" bIns="0" rtlCol="0" anchor="ctr"/>
          <a:lstStyle/>
          <a:p>
            <a:pPr indent="0" marL="0">
              <a:buNone/>
            </a:pPr>
            <a:r>
              <a:rPr lang="fr-FR" sz="4400" b="1" dirty="0">
                <a:solidFill>
                  <a:srgbClr val="FFFFFF"/>
                </a:solidFill>
                <a:latin typeface="+mj-lt"/>
              </a:rPr>
              <a:t>Le travail</a:t>
            </a:r>
          </a:p>
        </p:txBody>
      </p:sp>
      <p:sp>
        <p:nvSpPr>
          <p:cNvPr id="4" name="section-soustitre"/>
          <p:cNvSpPr txBox="1"/>
          <p:nvPr/>
        </p:nvSpPr>
        <p:spPr>
          <a:xfrm>
            <a:off x="594360" y="4114800"/>
            <a:ext cx="9144000" cy="548640"/>
          </a:xfrm>
          <a:prstGeom prst="rect">
            <a:avLst/>
          </a:prstGeom>
          <a:noFill/>
          <a:ln/>
        </p:spPr>
        <p:txBody>
          <a:bodyPr wrap="square" lIns="0" tIns="0" rIns="0" bIns="0" rtlCol="0" anchor="ctr"/>
          <a:lstStyle/>
          <a:p>
            <a:pPr indent="0" marL="0">
              <a:buNone/>
            </a:pPr>
            <a:r>
              <a:rPr lang="fr-FR" sz="1600" b="0" dirty="0">
                <a:solidFill>
                  <a:srgbClr val="CADCFC"/>
                </a:solidFill>
              </a:rPr>
              <a:t>Décrire les fichiers à Hive, contrôler, partitionner, convertir en ORC</a:t>
            </a:r>
          </a:p>
        </p:txBody>
      </p:sp>
    </p:spTree>
  </p:cSld>
  <p:clrMapOvr>
    <a:masterClrMapping/>
  </p:clrMapOvr>
  <p:transition spd="med" advClick="1">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label"/>
          <p:cNvSpPr txBox="1"/>
          <p:nvPr/>
        </p:nvSpPr>
        <p:spPr>
          <a:xfrm>
            <a:off x="594360" y="2560320"/>
            <a:ext cx="6400800" cy="320040"/>
          </a:xfrm>
          <a:prstGeom prst="rect">
            <a:avLst/>
          </a:prstGeom>
          <a:noFill/>
          <a:ln/>
        </p:spPr>
        <p:txBody>
          <a:bodyPr wrap="square" lIns="0" tIns="0" rIns="0" bIns="0" rtlCol="0" anchor="ctr"/>
          <a:lstStyle/>
          <a:p>
            <a:pPr indent="0" marL="0">
              <a:buNone/>
            </a:pPr>
            <a:r>
              <a:rPr lang="fr-FR" sz="1500" b="1" dirty="0">
                <a:solidFill>
                  <a:srgbClr val="EB6834"/>
                </a:solidFill>
              </a:rPr>
              <a:t>PARTIE 4 SUR 4</a:t>
            </a:r>
          </a:p>
        </p:txBody>
      </p:sp>
      <p:sp>
        <p:nvSpPr>
          <p:cNvPr id="3" name="section-titre"/>
          <p:cNvSpPr txBox="1"/>
          <p:nvPr/>
        </p:nvSpPr>
        <p:spPr>
          <a:xfrm>
            <a:off x="594360" y="2971800"/>
            <a:ext cx="10972800" cy="1005840"/>
          </a:xfrm>
          <a:prstGeom prst="rect">
            <a:avLst/>
          </a:prstGeom>
          <a:noFill/>
          <a:ln/>
        </p:spPr>
        <p:txBody>
          <a:bodyPr wrap="square" lIns="0" tIns="0" rIns="0" bIns="0" rtlCol="0" anchor="ctr"/>
          <a:lstStyle/>
          <a:p>
            <a:pPr indent="0" marL="0">
              <a:buNone/>
            </a:pPr>
            <a:r>
              <a:rPr lang="fr-FR" sz="4400" b="1" dirty="0">
                <a:solidFill>
                  <a:srgbClr val="FFFFFF"/>
                </a:solidFill>
                <a:latin typeface="+mj-lt"/>
              </a:rPr>
              <a:t>Clôture</a:t>
            </a:r>
          </a:p>
        </p:txBody>
      </p:sp>
      <p:sp>
        <p:nvSpPr>
          <p:cNvPr id="4" name="section-soustitre"/>
          <p:cNvSpPr txBox="1"/>
          <p:nvPr/>
        </p:nvSpPr>
        <p:spPr>
          <a:xfrm>
            <a:off x="594360" y="4114800"/>
            <a:ext cx="9144000" cy="548640"/>
          </a:xfrm>
          <a:prstGeom prst="rect">
            <a:avLst/>
          </a:prstGeom>
          <a:noFill/>
          <a:ln/>
        </p:spPr>
        <p:txBody>
          <a:bodyPr wrap="square" lIns="0" tIns="0" rIns="0" bIns="0" rtlCol="0" anchor="ctr"/>
          <a:lstStyle/>
          <a:p>
            <a:pPr indent="0" marL="0">
              <a:buNone/>
            </a:pPr>
            <a:r>
              <a:rPr lang="fr-FR" sz="1600" b="0" dirty="0">
                <a:solidFill>
                  <a:srgbClr val="CADCFC"/>
                </a:solidFill>
              </a:rPr>
              <a:t>Les contrôles croisés, ce que reçoit le Groupe 7, et nos limites</a:t>
            </a:r>
          </a:p>
        </p:txBody>
      </p:sp>
    </p:spTree>
  </p:cSld>
  <p:clrMapOvr>
    <a:masterClrMapping/>
  </p:clrMapOvr>
  <p:transition spd="med" advClick="1">
    <p:fade/>
  </p:transition>
</p:sld>
</file>

<file path=ppt/theme/theme1.xml><?xml version="1.0" encoding="utf-8"?>
<a:theme xmlns:a="http://schemas.openxmlformats.org/drawingml/2006/main" name="TP6 Hive Groupe 6">
  <a:themeElements>
    <a:clrScheme name="TP6 Hive Groupe 6">
      <a:dk1>
        <a:srgbClr val="1A1A1A"/>
      </a:dk1>
      <a:lt1>
        <a:srgbClr val="FFFFFF"/>
      </a:lt1>
      <a:dk2>
        <a:srgbClr val="1E2761"/>
      </a:dk2>
      <a:lt2>
        <a:srgbClr val="F2F5FC"/>
      </a:lt2>
      <a:accent1>
        <a:srgbClr val="2A78D6"/>
      </a:accent1>
      <a:accent2>
        <a:srgbClr val="CADCFC"/>
      </a:accent2>
      <a:accent3>
        <a:srgbClr val="1BAF7A"/>
      </a:accent3>
      <a:accent4>
        <a:srgbClr val="EB6834"/>
      </a:accent4>
      <a:accent5>
        <a:srgbClr val="1E2761"/>
      </a:accent5>
      <a:accent6>
        <a:srgbClr val="52514E"/>
      </a:accent6>
      <a:hlink>
        <a:srgbClr val="2A78D6"/>
      </a:hlink>
      <a:folHlink>
        <a:srgbClr val="6250D6"/>
      </a:folHlink>
    </a:clrScheme>
    <a:fontScheme name="TP6 Hive Groupe 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Hive et Data Warehouse distribue</dc:title>
  <dc:subject>Expose 6 — Big Data, Hadoop et applications Python</dc:subject>
  <dc:creator>Groupe 6 — M1 Big Data, UCAO-UUT</dc:creator>
  <cp:lastModifiedBy>Groupe 6 — M1 Big Data, UCAO-UUT</cp:lastModifiedBy>
  <cp:revision>1</cp:revision>
  <dcterms:created xsi:type="dcterms:W3CDTF">2026-10-17T19:31:09Z</dcterms:created>
  <dcterms:modified xsi:type="dcterms:W3CDTF">2026-10-17T19:31:09Z</dcterms:modified>
</cp:coreProperties>
</file>